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開場：FleetMind 用陽明 15 艘同型船 5 年正午報表，依 ISO 19030 (k=FOC/STW³) 偵測船體污損造成的 Speed Loss，做節能決策支援。最嚴重的 S11 有 21.8% Speed Loss（539 有效日）。這份簡報聚焦 AWS 架構：現行已在帳號 516665228894 / us-east-1 上線，並比較五種上雲方案的取捨。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這頁一次看懂：上方命題、中間現行五個核心服務、下方五種方案的定位。A 現行強化最穩、B Serverless 最雲原生、C App Runner 受帳號權限阻擋、D EC2 最省最保底、E 資料分析管線是企業級願景藍圖。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現行架構 Day1 已實測上線：Spring Boot 單服務同時服務 vanilla-JS 看板與 REST API，資料 build 時烤進映像，跑在 ECS Fargate(ARM64)，前置 ALB 給穩定 URL，Bedrock 出 AI 簡報並過 guardrail，SNS 發告警。選它的理由是 3 天黑客松下 demo 風險最低、可交付性最高。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A 是現行架構的正式化：把 demo 臨時做法收斂為 ECS Service 常駐 + 健檢自動重拉。它與已上線一致、可靠度最高，是安全出賽的基準線。代價是非資料驅動、無 BI、創新分普通。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B 最雲原生：拆成 API Gateway + Lambda + DynamoDB + S3 + EventBridge，天生資料驅動、零閒置成本，擴展敘事最強。但 3 天拆分工作量大、Java Lambda 冷啟風險、本機難重現，適合有餘力衝技術分時。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C 架構上最省心：同一顆映像交給 App Runner 全託管，免碰 ALB/VPC。但本 workshop 帳號實測 App Runner 被 AccessDenied，是決定性阻斷，故只能列為對照 / 賽後方案。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D 是保底路線：一台 EC2 + Docker + Elastic IP，最省最可控，且帳號 EC2 已實測可用，是 ALB/App Runner 都受阻時一定跑得起來的後手。代價是自管 OS、單點故障、HTTPS 要自己配。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E 是企業級願景藍圖：S3 data lake + Glue ETL + Athena/Timestream + QuickSight BI + Bedrock/SageMaker 預測 + 未來 IoT Core 遙測。它不宜當 Day3 實跑主線，但作為架構故事線與企業資料應用說明極具說服力。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資安採縱深防禦：① 邊緣 Shield 擋 DDoS + WAF 過濾 L7；② VPC 隔離 — ALB 放公有子網當唯一入口、ECS 放私有子網無公網 IP；③ 帳號級 GuardDuty 威脅偵測 + CloudTrail 稽核；④ 機密與加密 — Secrets Manager 託管憑證、KMS 金鑰加密、IAM 最小權限。逐層收斂攻擊面，任一層被突破下一層仍在。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多區域 Active-Active：不同國家船務端經 Route 53 地理/延遲路由就近接入，兩個區域（A ap-northeast-1 東京、B us-east-1 維吉尼亞）皆 active，各自 ALB→ECS + DynamoDB + S3。DynamoDB Global Tables 雙向複製、S3 跨區複製 CRR 備份、EventBridge 跨區匯總即時告警 → SNS/SES。任一區健康檢查失敗，Route 53 自動 failover 切換到健康區，資料已雙向同步 (RPO≈0)、不丟、服務不中斷。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比較表沿六個維度（運算 / 入口 / 閒置成本 / 維運 / 冷啟 / 黑客松適配）排列五案，highlight 現行方案 A。結論：A 為主線、D 為保底、B/E 為演進方向、C 受阻。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路線圖：Phase 0 現行 15 艘 demo；Phase 1 補資料驅動三扇門（系統介接 ingest API、檔案上傳 CSV/xlsx、後台設定門檻/通道/燃料對應）；Phase 2 擴到全艦隊 + Serverless + QuickSight/Athena BI；Phase 3 IoT Core 即時遙測 + SageMaker 預測，走向近即時偵測。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決策級聯把架構連到產品輸出：Speed Loss 相對可調門檻分三態 — 正常(綠,持續監測) / 注意(黃,進 review 佇列+Bedrock 證據簡報) / 行動(紅,SNS 告警+人安排清洗)。例子用真實資料：S23 8.9%(n=506,HIGH) 屬注意；S11 21.8%(539 有效日,691 天未清,priority 1) 屬行動。門檻與通道皆可調，最後一步留給人。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現場導覽：三個入口都掛在同一顆 Fargate 容器 / 同一個 ALB 靜態網域。/ 首頁講命題與方法、/dashboard.html 是 15 艘決策看板（Speed Loss 排序 + 證據 + AI 簡報 + 可調門檻）、/architecture.html 是架構互動版。task 重啟不換 IP，現場可安心直接打開。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收尾：現行 Fargate + ALB 是穩定出賽基準線；EC2 保底、Serverless 與資料分析管線是未來營運藍圖。Live URL 可現場打開。一句話願景：讓數字站得住、決策留給人。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hero-daw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4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4480560"/>
            <a:ext cx="12191695" cy="2377440"/>
          </a:xfrm>
          <a:prstGeom prst="rect">
            <a:avLst/>
          </a:prstGeom>
          <a:solidFill>
            <a:srgbClr val="0A2540">
              <a:alpha val="82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457200" y="868680"/>
            <a:ext cx="7132320" cy="3703320"/>
          </a:xfrm>
          <a:prstGeom prst="roundRect">
            <a:avLst>
              <a:gd name="adj" fmla="val 2963"/>
            </a:avLst>
          </a:prstGeom>
          <a:solidFill>
            <a:srgbClr val="0A2540">
              <a:alpha val="82000"/>
            </a:srgbClr>
          </a:solidFill>
          <a:ln/>
          <a:effectLst>
            <a:outerShdw sx="100000" sy="100000" kx="0" ky="0" algn="bl" rotWithShape="0" blurRad="177800" dist="50800" dir="5400000">
              <a:srgbClr val="04101B">
                <a:alpha val="5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0" y="1097280"/>
            <a:ext cx="2468880" cy="2468880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748065" y="1615745"/>
            <a:ext cx="1431950" cy="1431950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217152" y="2084832"/>
            <a:ext cx="493776" cy="493776"/>
          </a:xfrm>
          <a:prstGeom prst="ellipse">
            <a:avLst/>
          </a:prstGeom>
          <a:solidFill>
            <a:srgbClr val="1B4D74"/>
          </a:solidFill>
          <a:ln/>
        </p:spPr>
      </p:sp>
      <p:sp>
        <p:nvSpPr>
          <p:cNvPr id="9" name="Shape 6"/>
          <p:cNvSpPr/>
          <p:nvPr/>
        </p:nvSpPr>
        <p:spPr>
          <a:xfrm>
            <a:off x="8641080" y="1508760"/>
            <a:ext cx="1645920" cy="1645920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986723" y="1854403"/>
            <a:ext cx="954634" cy="954634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299448" y="2167128"/>
            <a:ext cx="329184" cy="329184"/>
          </a:xfrm>
          <a:prstGeom prst="ellipse">
            <a:avLst/>
          </a:prstGeom>
          <a:solidFill>
            <a:srgbClr val="1B4D74"/>
          </a:solidFill>
          <a:ln/>
        </p:spPr>
      </p:sp>
      <p:sp>
        <p:nvSpPr>
          <p:cNvPr id="12" name="Shape 9"/>
          <p:cNvSpPr/>
          <p:nvPr/>
        </p:nvSpPr>
        <p:spPr>
          <a:xfrm>
            <a:off x="7635240" y="1371600"/>
            <a:ext cx="3703320" cy="2331720"/>
          </a:xfrm>
          <a:prstGeom prst="roundRect">
            <a:avLst>
              <a:gd name="adj" fmla="val 4706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52400" dist="50800" dir="5400000">
              <a:srgbClr val="05121F">
                <a:alpha val="5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818120" y="137160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k =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8823960" y="1645920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FOC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8915400" y="2331720"/>
            <a:ext cx="210312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823960" y="2395728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STW³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7726680" y="32004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ISO 19030 · 船體效能指標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105156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4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FLEETMIND · AWS ARCHITECTURE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640080" y="1463040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AWS 架構藍圖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與五種上雲路徑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0080" y="31546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一套船舶效能決策系統 — 從已上線的 Fargate demo 到全艦隊營運平台</a:t>
            </a:r>
            <a:endParaRPr lang="en-US" sz="1550" dirty="0"/>
          </a:p>
        </p:txBody>
      </p:sp>
      <p:sp>
        <p:nvSpPr>
          <p:cNvPr id="21" name="Text 18"/>
          <p:cNvSpPr/>
          <p:nvPr/>
        </p:nvSpPr>
        <p:spPr>
          <a:xfrm>
            <a:off x="640080" y="39776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數字來自計算　語言來自 AI　決策留給人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40080" y="4709160"/>
            <a:ext cx="10911535" cy="1097280"/>
          </a:xfrm>
          <a:prstGeom prst="roundRect">
            <a:avLst>
              <a:gd name="adj" fmla="val 8333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932688" y="4873752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 艘 × 5 年</a:t>
            </a:r>
            <a:endParaRPr lang="en-US" sz="3300" dirty="0"/>
          </a:p>
        </p:txBody>
      </p:sp>
      <p:sp>
        <p:nvSpPr>
          <p:cNvPr id="24" name="Text 21"/>
          <p:cNvSpPr/>
          <p:nvPr/>
        </p:nvSpPr>
        <p:spPr>
          <a:xfrm>
            <a:off x="932688" y="537667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同型船 · 2021–2025 正午報表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4389120" y="4873752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21.8%</a:t>
            </a:r>
            <a:endParaRPr lang="en-US" sz="3300" dirty="0"/>
          </a:p>
        </p:txBody>
      </p:sp>
      <p:sp>
        <p:nvSpPr>
          <p:cNvPr id="26" name="Text 23"/>
          <p:cNvSpPr/>
          <p:nvPr/>
        </p:nvSpPr>
        <p:spPr>
          <a:xfrm>
            <a:off x="4389120" y="537667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S11 最嚴重 Speed Loss · 539 有效日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7845552" y="4873752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Day1 上線</a:t>
            </a:r>
            <a:endParaRPr lang="en-US" sz="3300" dirty="0"/>
          </a:p>
        </p:txBody>
      </p:sp>
      <p:sp>
        <p:nvSpPr>
          <p:cNvPr id="28" name="Text 25"/>
          <p:cNvSpPr/>
          <p:nvPr/>
        </p:nvSpPr>
        <p:spPr>
          <a:xfrm>
            <a:off x="7845552" y="537667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帳號 516665228894 · us-east-1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4261104" y="4919472"/>
            <a:ext cx="0" cy="713232"/>
          </a:xfrm>
          <a:prstGeom prst="line">
            <a:avLst/>
          </a:prstGeom>
          <a:noFill/>
          <a:ln w="12700">
            <a:solidFill>
              <a:srgbClr val="1B4D7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717536" y="4919472"/>
            <a:ext cx="0" cy="713232"/>
          </a:xfrm>
          <a:prstGeom prst="line">
            <a:avLst/>
          </a:prstGeom>
          <a:noFill/>
          <a:ln w="12700">
            <a:solidFill>
              <a:srgbClr val="1B4D7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40080" y="5870448"/>
            <a:ext cx="10911535" cy="530352"/>
          </a:xfrm>
          <a:prstGeom prst="roundRect">
            <a:avLst>
              <a:gd name="adj" fmla="val 13793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14400" y="5870448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Live　</a:t>
            </a:r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http://fleetmind-alb-330672315.us-east-1.elb.amazonaws.com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globe-networ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76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76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02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ONE-PAGER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一頁看懂：一個命題、一套現行架構、五種方案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640080" y="1481328"/>
            <a:ext cx="10911535" cy="987552"/>
          </a:xfrm>
          <a:prstGeom prst="roundRect">
            <a:avLst>
              <a:gd name="adj" fmla="val 8333"/>
            </a:avLst>
          </a:prstGeom>
          <a:solidFill>
            <a:srgbClr val="0A2540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960120" y="1481328"/>
            <a:ext cx="1027145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命題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 艘同型船、5 年正午報表，依 ISO 19030 以 k=FOC/STW³ 偵測船體污損 Speed Loss，把「何時清、值不值、省多少」變成可計算、可解釋、人可拍板的決策支援。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40080" y="2670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現行架構（已部署）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40080" y="3017520"/>
            <a:ext cx="1977481" cy="777240"/>
          </a:xfrm>
          <a:prstGeom prst="roundRect">
            <a:avLst>
              <a:gd name="adj" fmla="val 9412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464229" y="3127248"/>
            <a:ext cx="329184" cy="329184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464229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85800" y="3474720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 Fargate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85800" y="3621024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ARM64 容器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2644993" y="3406140"/>
            <a:ext cx="201168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2873593" y="3017520"/>
            <a:ext cx="1977481" cy="777240"/>
          </a:xfrm>
          <a:prstGeom prst="roundRect">
            <a:avLst>
              <a:gd name="adj" fmla="val 9412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3697742" y="3127248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697742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2919313" y="3474720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2919313" y="3621024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靜態 URL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4878507" y="3406140"/>
            <a:ext cx="201168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5107107" y="3017520"/>
            <a:ext cx="1977481" cy="777240"/>
          </a:xfrm>
          <a:prstGeom prst="roundRect">
            <a:avLst>
              <a:gd name="adj" fmla="val 9412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5931256" y="3127248"/>
            <a:ext cx="329184" cy="329184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931256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5152827" y="3474720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152827" y="3621024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映像倉庫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112020" y="3406140"/>
            <a:ext cx="201168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7340620" y="3017520"/>
            <a:ext cx="1977481" cy="777240"/>
          </a:xfrm>
          <a:prstGeom prst="roundRect">
            <a:avLst>
              <a:gd name="adj" fmla="val 9412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8164769" y="3127248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164769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386340" y="3474720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386340" y="3621024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 Haiku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9345534" y="3406140"/>
            <a:ext cx="201168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9574134" y="3017520"/>
            <a:ext cx="1977481" cy="777240"/>
          </a:xfrm>
          <a:prstGeom prst="roundRect">
            <a:avLst>
              <a:gd name="adj" fmla="val 9412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10398282" y="3127248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10398282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9619854" y="3474720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9619854" y="3621024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告警扇出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640080" y="40416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五種上雲方案</a:t>
            </a:r>
            <a:endParaRPr lang="en-US" sz="1500" dirty="0"/>
          </a:p>
        </p:txBody>
      </p:sp>
      <p:sp>
        <p:nvSpPr>
          <p:cNvPr id="45" name="Shape 42"/>
          <p:cNvSpPr/>
          <p:nvPr/>
        </p:nvSpPr>
        <p:spPr>
          <a:xfrm>
            <a:off x="640080" y="4407408"/>
            <a:ext cx="1962851" cy="1371600"/>
          </a:xfrm>
          <a:prstGeom prst="roundRect">
            <a:avLst>
              <a:gd name="adj" fmla="val 6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1347186" y="4544568"/>
            <a:ext cx="548640" cy="548640"/>
          </a:xfrm>
          <a:prstGeom prst="ellipse">
            <a:avLst/>
          </a:prstGeom>
          <a:solidFill>
            <a:srgbClr val="2A9D8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1347186" y="4544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</a:t>
            </a:r>
            <a:endParaRPr lang="en-US" sz="2400" dirty="0"/>
          </a:p>
        </p:txBody>
      </p:sp>
      <p:sp>
        <p:nvSpPr>
          <p:cNvPr id="48" name="Text 45"/>
          <p:cNvSpPr/>
          <p:nvPr/>
        </p:nvSpPr>
        <p:spPr>
          <a:xfrm>
            <a:off x="685800" y="5175504"/>
            <a:ext cx="187141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現行強化</a:t>
            </a:r>
            <a:endParaRPr lang="en-US" sz="1250" dirty="0"/>
          </a:p>
        </p:txBody>
      </p:sp>
      <p:sp>
        <p:nvSpPr>
          <p:cNvPr id="49" name="Text 46"/>
          <p:cNvSpPr/>
          <p:nvPr/>
        </p:nvSpPr>
        <p:spPr>
          <a:xfrm>
            <a:off x="685800" y="5477256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Fargate + ALB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2877251" y="4407408"/>
            <a:ext cx="1962851" cy="1371600"/>
          </a:xfrm>
          <a:prstGeom prst="roundRect">
            <a:avLst>
              <a:gd name="adj" fmla="val 6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584357" y="4544568"/>
            <a:ext cx="548640" cy="548640"/>
          </a:xfrm>
          <a:prstGeom prst="ellipse">
            <a:avLst/>
          </a:prstGeom>
          <a:solidFill>
            <a:srgbClr val="1C729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3584357" y="4544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</a:t>
            </a:r>
            <a:endParaRPr lang="en-US" sz="2400" dirty="0"/>
          </a:p>
        </p:txBody>
      </p:sp>
      <p:sp>
        <p:nvSpPr>
          <p:cNvPr id="53" name="Text 50"/>
          <p:cNvSpPr/>
          <p:nvPr/>
        </p:nvSpPr>
        <p:spPr>
          <a:xfrm>
            <a:off x="2922971" y="5175504"/>
            <a:ext cx="187141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 Serverless</a:t>
            </a:r>
            <a:endParaRPr lang="en-US" sz="1250" dirty="0"/>
          </a:p>
        </p:txBody>
      </p:sp>
      <p:sp>
        <p:nvSpPr>
          <p:cNvPr id="54" name="Text 51"/>
          <p:cNvSpPr/>
          <p:nvPr/>
        </p:nvSpPr>
        <p:spPr>
          <a:xfrm>
            <a:off x="2922971" y="5477256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APIGW + Lambda</a:t>
            </a:r>
            <a:endParaRPr lang="en-US" sz="1000" dirty="0"/>
          </a:p>
        </p:txBody>
      </p:sp>
      <p:sp>
        <p:nvSpPr>
          <p:cNvPr id="55" name="Shape 52"/>
          <p:cNvSpPr/>
          <p:nvPr/>
        </p:nvSpPr>
        <p:spPr>
          <a:xfrm>
            <a:off x="5114422" y="4407408"/>
            <a:ext cx="1962851" cy="1371600"/>
          </a:xfrm>
          <a:prstGeom prst="roundRect">
            <a:avLst>
              <a:gd name="adj" fmla="val 6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56" name="Shape 53"/>
          <p:cNvSpPr/>
          <p:nvPr/>
        </p:nvSpPr>
        <p:spPr>
          <a:xfrm>
            <a:off x="5821528" y="4544568"/>
            <a:ext cx="548640" cy="548640"/>
          </a:xfrm>
          <a:prstGeom prst="ellipse">
            <a:avLst/>
          </a:prstGeom>
          <a:solidFill>
            <a:srgbClr val="5A6B7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5821528" y="4544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</a:t>
            </a:r>
            <a:endParaRPr lang="en-US" sz="2400" dirty="0"/>
          </a:p>
        </p:txBody>
      </p:sp>
      <p:sp>
        <p:nvSpPr>
          <p:cNvPr id="58" name="Text 55"/>
          <p:cNvSpPr/>
          <p:nvPr/>
        </p:nvSpPr>
        <p:spPr>
          <a:xfrm>
            <a:off x="5160142" y="5175504"/>
            <a:ext cx="187141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App Runner</a:t>
            </a:r>
            <a:endParaRPr lang="en-US" sz="1250" dirty="0"/>
          </a:p>
        </p:txBody>
      </p:sp>
      <p:sp>
        <p:nvSpPr>
          <p:cNvPr id="59" name="Text 56"/>
          <p:cNvSpPr/>
          <p:nvPr/>
        </p:nvSpPr>
        <p:spPr>
          <a:xfrm>
            <a:off x="5160142" y="5477256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零 infra（受阻）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7351593" y="4407408"/>
            <a:ext cx="1962851" cy="1371600"/>
          </a:xfrm>
          <a:prstGeom prst="roundRect">
            <a:avLst>
              <a:gd name="adj" fmla="val 6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058699" y="4544568"/>
            <a:ext cx="548640" cy="548640"/>
          </a:xfrm>
          <a:prstGeom prst="ellipse">
            <a:avLst/>
          </a:prstGeom>
          <a:solidFill>
            <a:srgbClr val="2F6E9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8058699" y="4544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</a:t>
            </a:r>
            <a:endParaRPr lang="en-US" sz="2400" dirty="0"/>
          </a:p>
        </p:txBody>
      </p:sp>
      <p:sp>
        <p:nvSpPr>
          <p:cNvPr id="63" name="Text 60"/>
          <p:cNvSpPr/>
          <p:nvPr/>
        </p:nvSpPr>
        <p:spPr>
          <a:xfrm>
            <a:off x="7397313" y="5175504"/>
            <a:ext cx="187141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EC2 + Docker</a:t>
            </a:r>
            <a:endParaRPr lang="en-US" sz="1250" dirty="0"/>
          </a:p>
        </p:txBody>
      </p:sp>
      <p:sp>
        <p:nvSpPr>
          <p:cNvPr id="64" name="Text 61"/>
          <p:cNvSpPr/>
          <p:nvPr/>
        </p:nvSpPr>
        <p:spPr>
          <a:xfrm>
            <a:off x="7397313" y="5477256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最省保底</a:t>
            </a:r>
            <a:endParaRPr lang="en-US" sz="1000" dirty="0"/>
          </a:p>
        </p:txBody>
      </p:sp>
      <p:sp>
        <p:nvSpPr>
          <p:cNvPr id="65" name="Shape 62"/>
          <p:cNvSpPr/>
          <p:nvPr/>
        </p:nvSpPr>
        <p:spPr>
          <a:xfrm>
            <a:off x="9588764" y="4407408"/>
            <a:ext cx="1962851" cy="1371600"/>
          </a:xfrm>
          <a:prstGeom prst="roundRect">
            <a:avLst>
              <a:gd name="adj" fmla="val 6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6" name="Shape 63"/>
          <p:cNvSpPr/>
          <p:nvPr/>
        </p:nvSpPr>
        <p:spPr>
          <a:xfrm>
            <a:off x="10295870" y="4544568"/>
            <a:ext cx="548640" cy="548640"/>
          </a:xfrm>
          <a:prstGeom prst="ellipse">
            <a:avLst/>
          </a:prstGeom>
          <a:solidFill>
            <a:srgbClr val="F4A7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10295870" y="4544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</a:t>
            </a:r>
            <a:endParaRPr lang="en-US" sz="2400" dirty="0"/>
          </a:p>
        </p:txBody>
      </p:sp>
      <p:sp>
        <p:nvSpPr>
          <p:cNvPr id="68" name="Text 65"/>
          <p:cNvSpPr/>
          <p:nvPr/>
        </p:nvSpPr>
        <p:spPr>
          <a:xfrm>
            <a:off x="9634484" y="5175504"/>
            <a:ext cx="187141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資料分析管線</a:t>
            </a:r>
            <a:endParaRPr lang="en-US" sz="1250" dirty="0"/>
          </a:p>
        </p:txBody>
      </p:sp>
      <p:sp>
        <p:nvSpPr>
          <p:cNvPr id="69" name="Text 66"/>
          <p:cNvSpPr/>
          <p:nvPr/>
        </p:nvSpPr>
        <p:spPr>
          <a:xfrm>
            <a:off x="9634484" y="5477256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 + BI + ML 未來式</a:t>
            </a:r>
            <a:endParaRPr lang="en-US" sz="1000" dirty="0"/>
          </a:p>
        </p:txBody>
      </p:sp>
      <p:sp>
        <p:nvSpPr>
          <p:cNvPr id="70" name="Text 67"/>
          <p:cNvSpPr/>
          <p:nvPr/>
        </p:nvSpPr>
        <p:spPr>
          <a:xfrm>
            <a:off x="640080" y="59436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 是已上線基準線；E 是全艦隊願景路線圖；B / C / D 是中間的取捨光譜。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server-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7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8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8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03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DEPLOYED · DAY1 實測上線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現行架構：ECS Fargate + ALB 單服務容器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13" name="Text 10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成本 低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15" name="Text 12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黑客松 ★ 最高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1481328"/>
            <a:ext cx="1965960" cy="1965960"/>
          </a:xfrm>
          <a:prstGeom prst="roundRect">
            <a:avLst>
              <a:gd name="adj" fmla="val 4651"/>
            </a:avLst>
          </a:prstGeom>
          <a:solidFill>
            <a:srgbClr val="0A2540">
              <a:alpha val="70000"/>
            </a:srgbClr>
          </a:solidFill>
          <a:ln w="12700">
            <a:solidFill>
              <a:srgbClr val="C7D6E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3232" y="1527048"/>
            <a:ext cx="18196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存取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2807208" y="1481328"/>
            <a:ext cx="1783080" cy="1965960"/>
          </a:xfrm>
          <a:prstGeom prst="roundRect">
            <a:avLst>
              <a:gd name="adj" fmla="val 5128"/>
            </a:avLst>
          </a:prstGeom>
          <a:solidFill>
            <a:srgbClr val="0A2540">
              <a:alpha val="70000"/>
            </a:srgbClr>
          </a:solidFill>
          <a:ln w="12700">
            <a:solidFill>
              <a:srgbClr val="C7D6E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880360" y="1527048"/>
            <a:ext cx="1636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入口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791456" y="1481328"/>
            <a:ext cx="2514600" cy="1965960"/>
          </a:xfrm>
          <a:prstGeom prst="roundRect">
            <a:avLst>
              <a:gd name="adj" fmla="val 4651"/>
            </a:avLst>
          </a:prstGeom>
          <a:solidFill>
            <a:srgbClr val="0A2540">
              <a:alpha val="70000"/>
            </a:srgbClr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864608" y="1527048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執行 · 映像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7507224" y="1481328"/>
            <a:ext cx="4044391" cy="1965960"/>
          </a:xfrm>
          <a:prstGeom prst="roundRect">
            <a:avLst>
              <a:gd name="adj" fmla="val 4651"/>
            </a:avLst>
          </a:prstGeom>
          <a:solidFill>
            <a:srgbClr val="0A2540">
              <a:alpha val="70000"/>
            </a:srgbClr>
          </a:solidFill>
          <a:ln w="12700">
            <a:solidFill>
              <a:srgbClr val="F4A72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580376" y="1527048"/>
            <a:ext cx="389808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· 通知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77240" y="2185416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914400" y="2382012"/>
            <a:ext cx="384048" cy="384048"/>
          </a:xfrm>
          <a:prstGeom prst="ellipse">
            <a:avLst/>
          </a:prstGeom>
          <a:solidFill>
            <a:srgbClr val="8FA8BD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4400" y="23728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GET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1399032" y="2231136"/>
            <a:ext cx="978408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評審 / 瀏覽器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1399032" y="2631186"/>
            <a:ext cx="97840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 請求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2916936" y="2185416"/>
            <a:ext cx="1563624" cy="777240"/>
          </a:xfrm>
          <a:prstGeom prst="roundRect">
            <a:avLst>
              <a:gd name="adj" fmla="val 9412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3054096" y="2382012"/>
            <a:ext cx="384048" cy="384048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054096" y="23728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3538728" y="2231136"/>
            <a:ext cx="850392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3538728" y="2631186"/>
            <a:ext cx="850392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靜態 URL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4928616" y="1865376"/>
            <a:ext cx="2240280" cy="731520"/>
          </a:xfrm>
          <a:prstGeom prst="roundRect">
            <a:avLst>
              <a:gd name="adj" fmla="val 10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5065776" y="2039112"/>
            <a:ext cx="384048" cy="384048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065776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5550408" y="1911096"/>
            <a:ext cx="1527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 Fargate</a:t>
            </a:r>
            <a:endParaRPr lang="en-US" sz="1150" dirty="0"/>
          </a:p>
        </p:txBody>
      </p:sp>
      <p:sp>
        <p:nvSpPr>
          <p:cNvPr id="38" name="Text 35"/>
          <p:cNvSpPr/>
          <p:nvPr/>
        </p:nvSpPr>
        <p:spPr>
          <a:xfrm>
            <a:off x="5550408" y="2286000"/>
            <a:ext cx="15270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ARM64 · :8080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928616" y="2779776"/>
            <a:ext cx="2240280" cy="566928"/>
          </a:xfrm>
          <a:prstGeom prst="roundRect">
            <a:avLst>
              <a:gd name="adj" fmla="val 12903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5065776" y="2871216"/>
            <a:ext cx="384048" cy="384048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5065776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5550408" y="2825496"/>
            <a:ext cx="1527048" cy="2569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5550408" y="3109874"/>
            <a:ext cx="152704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映像 · 資料烤入</a:t>
            </a:r>
            <a:endParaRPr lang="en-US" sz="850" dirty="0"/>
          </a:p>
        </p:txBody>
      </p:sp>
      <p:sp>
        <p:nvSpPr>
          <p:cNvPr id="44" name="Shape 41"/>
          <p:cNvSpPr/>
          <p:nvPr/>
        </p:nvSpPr>
        <p:spPr>
          <a:xfrm>
            <a:off x="7616952" y="1865376"/>
            <a:ext cx="3824935" cy="658368"/>
          </a:xfrm>
          <a:prstGeom prst="roundRect">
            <a:avLst>
              <a:gd name="adj" fmla="val 11111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7754112" y="2002536"/>
            <a:ext cx="384048" cy="384048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7754112" y="1993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</a:t>
            </a:r>
            <a:endParaRPr lang="en-US" sz="950" dirty="0"/>
          </a:p>
        </p:txBody>
      </p:sp>
      <p:sp>
        <p:nvSpPr>
          <p:cNvPr id="47" name="Text 44"/>
          <p:cNvSpPr/>
          <p:nvPr/>
        </p:nvSpPr>
        <p:spPr>
          <a:xfrm>
            <a:off x="8238744" y="1911096"/>
            <a:ext cx="3111703" cy="30723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 · Claude Haiku</a:t>
            </a:r>
            <a:endParaRPr lang="en-US" sz="1200" dirty="0"/>
          </a:p>
        </p:txBody>
      </p:sp>
      <p:sp>
        <p:nvSpPr>
          <p:cNvPr id="48" name="Text 45"/>
          <p:cNvSpPr/>
          <p:nvPr/>
        </p:nvSpPr>
        <p:spPr>
          <a:xfrm>
            <a:off x="8238744" y="2245766"/>
            <a:ext cx="3111703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Converse · guardrail 驗 cited 數值</a:t>
            </a:r>
            <a:endParaRPr lang="en-US" sz="850" dirty="0"/>
          </a:p>
        </p:txBody>
      </p:sp>
      <p:sp>
        <p:nvSpPr>
          <p:cNvPr id="49" name="Shape 46"/>
          <p:cNvSpPr/>
          <p:nvPr/>
        </p:nvSpPr>
        <p:spPr>
          <a:xfrm>
            <a:off x="7616952" y="2688336"/>
            <a:ext cx="3824935" cy="658368"/>
          </a:xfrm>
          <a:prstGeom prst="roundRect">
            <a:avLst>
              <a:gd name="adj" fmla="val 11111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0" name="Shape 47"/>
          <p:cNvSpPr/>
          <p:nvPr/>
        </p:nvSpPr>
        <p:spPr>
          <a:xfrm>
            <a:off x="7754112" y="2825496"/>
            <a:ext cx="384048" cy="384048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754112" y="2816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8238744" y="2734056"/>
            <a:ext cx="3111703" cy="30723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 · fleetmind-alerts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238744" y="3068726"/>
            <a:ext cx="3111703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告警扇出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2487168" y="2578608"/>
            <a:ext cx="36576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5" name="Shape 52"/>
          <p:cNvSpPr/>
          <p:nvPr/>
        </p:nvSpPr>
        <p:spPr>
          <a:xfrm>
            <a:off x="4498848" y="2578608"/>
            <a:ext cx="36576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6" name="Shape 53"/>
          <p:cNvSpPr/>
          <p:nvPr/>
        </p:nvSpPr>
        <p:spPr>
          <a:xfrm>
            <a:off x="6048756" y="2761488"/>
            <a:ext cx="0" cy="-146304"/>
          </a:xfrm>
          <a:prstGeom prst="line">
            <a:avLst/>
          </a:prstGeom>
          <a:noFill/>
          <a:ln w="22225">
            <a:solidFill>
              <a:srgbClr val="F4A72B"/>
            </a:solidFill>
            <a:prstDash val="solid"/>
            <a:tailEnd type="triangle"/>
          </a:ln>
        </p:spPr>
      </p:sp>
      <p:sp>
        <p:nvSpPr>
          <p:cNvPr id="57" name="Shape 54"/>
          <p:cNvSpPr/>
          <p:nvPr/>
        </p:nvSpPr>
        <p:spPr>
          <a:xfrm>
            <a:off x="7187184" y="2231136"/>
            <a:ext cx="36576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8" name="Shape 55"/>
          <p:cNvSpPr/>
          <p:nvPr/>
        </p:nvSpPr>
        <p:spPr>
          <a:xfrm>
            <a:off x="7187184" y="2962656"/>
            <a:ext cx="36576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9" name="Shape 56"/>
          <p:cNvSpPr/>
          <p:nvPr/>
        </p:nvSpPr>
        <p:spPr>
          <a:xfrm>
            <a:off x="640080" y="3675888"/>
            <a:ext cx="5349240" cy="365760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60" name="Text 57"/>
          <p:cNvSpPr/>
          <p:nvPr/>
        </p:nvSpPr>
        <p:spPr>
          <a:xfrm>
            <a:off x="640080" y="367588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IAM　exec role 拉 ECR · task role 授 Bedrock + SNS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6172200" y="3675888"/>
            <a:ext cx="5379415" cy="365760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62" name="Text 59"/>
          <p:cNvSpPr/>
          <p:nvPr/>
        </p:nvSpPr>
        <p:spPr>
          <a:xfrm>
            <a:off x="6172200" y="3675888"/>
            <a:ext cx="5379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CloudWatch Logs　/fleetmind/api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640080" y="4224528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4" name="Text 61"/>
          <p:cNvSpPr/>
          <p:nvPr/>
        </p:nvSpPr>
        <p:spPr>
          <a:xfrm>
            <a:off x="868680" y="4370832"/>
            <a:ext cx="4769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資料流</a:t>
            </a:r>
            <a:endParaRPr lang="en-US" sz="1400" dirty="0"/>
          </a:p>
        </p:txBody>
      </p:sp>
      <p:sp>
        <p:nvSpPr>
          <p:cNvPr id="65" name="Text 62"/>
          <p:cNvSpPr/>
          <p:nvPr/>
        </p:nvSpPr>
        <p:spPr>
          <a:xfrm>
            <a:off x="868680" y="4700016"/>
            <a:ext cx="48156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離線　core-calc 讀 15 船 2021–2025 正午報表，跑 ISO 19030 k 與品質旗標 → MetricsExportCli 產 real-metrics.json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Build　Dockerfile COPY real-metrics.json 一起打包 jar → 推 ECR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Runtime　評審 → ALB → Fargate 回決策看板 + REST：/fleet/summary、/vessels/{id}/decision、/config/threshold…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簡報　/ai-brief → Bedrock Converse → guardrail 驗 cited 數值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告警　門檻跨越 → /alerts/notify → SNS Publish</a:t>
            </a:r>
            <a:endParaRPr lang="en-US" sz="1050" dirty="0"/>
          </a:p>
        </p:txBody>
      </p:sp>
      <p:sp>
        <p:nvSpPr>
          <p:cNvPr id="66" name="Shape 63"/>
          <p:cNvSpPr/>
          <p:nvPr/>
        </p:nvSpPr>
        <p:spPr>
          <a:xfrm>
            <a:off x="6324448" y="4224528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7" name="Text 64"/>
          <p:cNvSpPr/>
          <p:nvPr/>
        </p:nvSpPr>
        <p:spPr>
          <a:xfrm>
            <a:off x="6553048" y="4370832"/>
            <a:ext cx="4769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為什麼是它 — demo 風險最低</a:t>
            </a:r>
            <a:endParaRPr lang="en-US" sz="1400" dirty="0"/>
          </a:p>
        </p:txBody>
      </p:sp>
      <p:sp>
        <p:nvSpPr>
          <p:cNvPr id="68" name="Text 65"/>
          <p:cNvSpPr/>
          <p:nvPr/>
        </p:nvSpPr>
        <p:spPr>
          <a:xfrm>
            <a:off x="6553048" y="4700016"/>
            <a:ext cx="48156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單一部署單元、單一 codebase，3 天內最好 debug 與彩排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資料烤進映像＝零外部資料相依，冷啟即有真資料（repo 不含企業資料）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 給穩定 URL，task 重啟換 IP 不會讓 live demo 連結失效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 + SNS 已實測打通，Email 告警與可調門檻需求已滿足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ARM64 Fargate 成本低、免管 EC2 / OS patch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ship-dus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76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76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04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方案 A · 現行強化版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維持 Fargate + ALB + Bedrock + SNS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13" name="Text 10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成本 低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15" name="Text 12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黑客松 ★ 最高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1481328"/>
            <a:ext cx="10911535" cy="566928"/>
          </a:xfrm>
          <a:prstGeom prst="roundRect">
            <a:avLst>
              <a:gd name="adj" fmla="val 11290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1481328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沿用現行單服務容器，把 demo 臨時做法收斂為正式 ECS Service（desiredCount 維持、健檢失敗自動重拉）。評審計分板上可交付性最高、demo 風險最低的基準線。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21214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服務組成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40080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1300963" y="2542032"/>
            <a:ext cx="329184" cy="329184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300963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85800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 Service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+ Fargate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85800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常駐 · 自動重拉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2318461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2492197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53080" y="2542032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153080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2537917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2537917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靜態 URL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170578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4344314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005197" y="2542032"/>
            <a:ext cx="329184" cy="329184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005197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4390034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4390034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arm64 映像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6022696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6196432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857314" y="2542032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857314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6242152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6242152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 Haiku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7874813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3" name="Shape 40"/>
          <p:cNvSpPr/>
          <p:nvPr/>
        </p:nvSpPr>
        <p:spPr>
          <a:xfrm>
            <a:off x="8048549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8709431" y="2542032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709431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8094269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8094269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告警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9726930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9" name="Shape 46"/>
          <p:cNvSpPr/>
          <p:nvPr/>
        </p:nvSpPr>
        <p:spPr>
          <a:xfrm>
            <a:off x="9900666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0" name="Shape 47"/>
          <p:cNvSpPr/>
          <p:nvPr/>
        </p:nvSpPr>
        <p:spPr>
          <a:xfrm>
            <a:off x="10561549" y="2542032"/>
            <a:ext cx="329184" cy="329184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10561549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CW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9946386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CloudWatch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Alarms</a:t>
            </a:r>
            <a:endParaRPr lang="en-US" sz="1050" dirty="0"/>
          </a:p>
        </p:txBody>
      </p:sp>
      <p:sp>
        <p:nvSpPr>
          <p:cNvPr id="53" name="Text 50"/>
          <p:cNvSpPr/>
          <p:nvPr/>
        </p:nvSpPr>
        <p:spPr>
          <a:xfrm>
            <a:off x="9946386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日誌 + 健康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640080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55" name="Shape 52"/>
          <p:cNvSpPr/>
          <p:nvPr/>
        </p:nvSpPr>
        <p:spPr>
          <a:xfrm>
            <a:off x="640080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2A9D8F"/>
          </a:solidFill>
          <a:ln/>
        </p:spPr>
      </p:sp>
      <p:sp>
        <p:nvSpPr>
          <p:cNvPr id="56" name="Shape 53"/>
          <p:cNvSpPr/>
          <p:nvPr/>
        </p:nvSpPr>
        <p:spPr>
          <a:xfrm>
            <a:off x="640080" y="3831336"/>
            <a:ext cx="5227168" cy="1920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7" name="Text 54"/>
          <p:cNvSpPr/>
          <p:nvPr/>
        </p:nvSpPr>
        <p:spPr>
          <a:xfrm>
            <a:off x="804672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● 優勢</a:t>
            </a:r>
            <a:endParaRPr lang="en-US" sz="1200" dirty="0"/>
          </a:p>
        </p:txBody>
      </p:sp>
      <p:sp>
        <p:nvSpPr>
          <p:cNvPr id="58" name="Text 55"/>
          <p:cNvSpPr/>
          <p:nvPr/>
        </p:nvSpPr>
        <p:spPr>
          <a:xfrm>
            <a:off x="804672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與已上線架構一致，Day3 重跑成本最低、最可靠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單 codebase 好維護、好彩排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 靜態 URL 解決臨時 IP 問題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 / SNS 已實測，Email + 門檻需求即刻滿足</a:t>
            </a:r>
            <a:endParaRPr lang="en-US" sz="1150" dirty="0"/>
          </a:p>
        </p:txBody>
      </p:sp>
      <p:sp>
        <p:nvSpPr>
          <p:cNvPr id="59" name="Shape 56"/>
          <p:cNvSpPr/>
          <p:nvPr/>
        </p:nvSpPr>
        <p:spPr>
          <a:xfrm>
            <a:off x="6324448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0" name="Shape 57"/>
          <p:cNvSpPr/>
          <p:nvPr/>
        </p:nvSpPr>
        <p:spPr>
          <a:xfrm>
            <a:off x="6324448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E76F51"/>
          </a:solidFill>
          <a:ln/>
        </p:spPr>
      </p:sp>
      <p:sp>
        <p:nvSpPr>
          <p:cNvPr id="61" name="Shape 58"/>
          <p:cNvSpPr/>
          <p:nvPr/>
        </p:nvSpPr>
        <p:spPr>
          <a:xfrm>
            <a:off x="6324448" y="3831336"/>
            <a:ext cx="5227168" cy="192024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62" name="Text 59"/>
          <p:cNvSpPr/>
          <p:nvPr/>
        </p:nvSpPr>
        <p:spPr>
          <a:xfrm>
            <a:off x="6489040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▲ 取捨 / 風險</a:t>
            </a:r>
            <a:endParaRPr lang="en-US" sz="1200" dirty="0"/>
          </a:p>
        </p:txBody>
      </p:sp>
      <p:sp>
        <p:nvSpPr>
          <p:cNvPr id="63" name="Text 60"/>
          <p:cNvSpPr/>
          <p:nvPr/>
        </p:nvSpPr>
        <p:spPr>
          <a:xfrm>
            <a:off x="6489040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非資料驅動，更新資料要重 build / 重部署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 BI 自助分析層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VPC / ALB / 雙 IAM 設定較多，臨時憑證到期需重跑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架構創新度普通，技術 / 創意分不突出</a:t>
            </a:r>
            <a:endParaRPr lang="en-US" sz="1150" dirty="0"/>
          </a:p>
        </p:txBody>
      </p:sp>
      <p:sp>
        <p:nvSpPr>
          <p:cNvPr id="64" name="Shape 61"/>
          <p:cNvSpPr/>
          <p:nvPr/>
        </p:nvSpPr>
        <p:spPr>
          <a:xfrm>
            <a:off x="640080" y="5897880"/>
            <a:ext cx="10911535" cy="548640"/>
          </a:xfrm>
          <a:prstGeom prst="roundRect">
            <a:avLst>
              <a:gd name="adj" fmla="val 13333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896112" y="5897880"/>
            <a:ext cx="10454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何時選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首要目標是穩穩 demo、時間有限、要把工程師的 Email／告警／可調門檻需求確定交付時的預設選擇。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cloud-abstrac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78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78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05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方案 B · 全 SERVERLESS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66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API Gateway + Lambda + DynamoDB（資料驅動）</a:t>
            </a:r>
            <a:endParaRPr lang="en-US" sz="3066" dirty="0"/>
          </a:p>
        </p:txBody>
      </p:sp>
      <p:sp>
        <p:nvSpPr>
          <p:cNvPr id="12" name="Shape 9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13" name="Text 10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成本 極低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BE7C2"/>
          </a:solidFill>
          <a:ln/>
        </p:spPr>
      </p:sp>
      <p:sp>
        <p:nvSpPr>
          <p:cNvPr id="15" name="Text 12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黑客松 中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1481328"/>
            <a:ext cx="10911535" cy="566928"/>
          </a:xfrm>
          <a:prstGeom prst="roundRect">
            <a:avLst>
              <a:gd name="adj" fmla="val 11290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1481328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把單服務拆成 API Gateway + Lambda 後端、S3 托管前端與原始報表、DynamoDB 存 metrics 與門檻、EventBridge 排程重算。零常駐、按呼叫計費、天生資料驅動。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21214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服務組成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40080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1168669" y="2542032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168669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API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85800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API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Gateway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85800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 API 入口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2053873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2227609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2756198" y="2542032"/>
            <a:ext cx="329184" cy="329184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756198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λ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2273329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Lambda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Java 21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2273329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無狀態運算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3641402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3815138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4343727" y="2542032"/>
            <a:ext cx="329184" cy="329184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343727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3860858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3860858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靜態站 + raw 報表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5228931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5402667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5931256" y="2542032"/>
            <a:ext cx="329184" cy="329184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931256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DB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5448387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DynamoDB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5448387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metrics / 門檻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6816460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3" name="Shape 40"/>
          <p:cNvSpPr/>
          <p:nvPr/>
        </p:nvSpPr>
        <p:spPr>
          <a:xfrm>
            <a:off x="6990196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7518785" y="2542032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518785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EVT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7035916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EventBridge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7035916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排程重算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8403989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9" name="Shape 46"/>
          <p:cNvSpPr/>
          <p:nvPr/>
        </p:nvSpPr>
        <p:spPr>
          <a:xfrm>
            <a:off x="8577725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0" name="Shape 47"/>
          <p:cNvSpPr/>
          <p:nvPr/>
        </p:nvSpPr>
        <p:spPr>
          <a:xfrm>
            <a:off x="9106314" y="2542032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9106314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8623445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8623445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簡報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9991518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5" name="Shape 52"/>
          <p:cNvSpPr/>
          <p:nvPr/>
        </p:nvSpPr>
        <p:spPr>
          <a:xfrm>
            <a:off x="10165254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6" name="Shape 53"/>
          <p:cNvSpPr/>
          <p:nvPr/>
        </p:nvSpPr>
        <p:spPr>
          <a:xfrm>
            <a:off x="10693843" y="2542032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10693843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SES</a:t>
            </a:r>
            <a:endParaRPr lang="en-US" sz="800" dirty="0"/>
          </a:p>
        </p:txBody>
      </p:sp>
      <p:sp>
        <p:nvSpPr>
          <p:cNvPr id="58" name="Text 55"/>
          <p:cNvSpPr/>
          <p:nvPr/>
        </p:nvSpPr>
        <p:spPr>
          <a:xfrm>
            <a:off x="10210974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SES / SNS</a:t>
            </a:r>
            <a:endParaRPr lang="en-US" sz="1100" dirty="0"/>
          </a:p>
        </p:txBody>
      </p:sp>
      <p:sp>
        <p:nvSpPr>
          <p:cNvPr id="59" name="Text 56"/>
          <p:cNvSpPr/>
          <p:nvPr/>
        </p:nvSpPr>
        <p:spPr>
          <a:xfrm>
            <a:off x="10210974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Email 告警</a:t>
            </a:r>
            <a:endParaRPr lang="en-US" sz="800" dirty="0"/>
          </a:p>
        </p:txBody>
      </p:sp>
      <p:sp>
        <p:nvSpPr>
          <p:cNvPr id="60" name="Shape 57"/>
          <p:cNvSpPr/>
          <p:nvPr/>
        </p:nvSpPr>
        <p:spPr>
          <a:xfrm>
            <a:off x="640080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640080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2A9D8F"/>
          </a:solidFill>
          <a:ln/>
        </p:spPr>
      </p:sp>
      <p:sp>
        <p:nvSpPr>
          <p:cNvPr id="62" name="Shape 59"/>
          <p:cNvSpPr/>
          <p:nvPr/>
        </p:nvSpPr>
        <p:spPr>
          <a:xfrm>
            <a:off x="640080" y="3831336"/>
            <a:ext cx="5227168" cy="1920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3" name="Text 60"/>
          <p:cNvSpPr/>
          <p:nvPr/>
        </p:nvSpPr>
        <p:spPr>
          <a:xfrm>
            <a:off x="804672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● 優勢</a:t>
            </a:r>
            <a:endParaRPr lang="en-US" sz="1200" dirty="0"/>
          </a:p>
        </p:txBody>
      </p:sp>
      <p:sp>
        <p:nvSpPr>
          <p:cNvPr id="64" name="Text 61"/>
          <p:cNvSpPr/>
          <p:nvPr/>
        </p:nvSpPr>
        <p:spPr>
          <a:xfrm>
            <a:off x="804672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天生資料驅動：新報表進 S3 自動重算，命中 15→97 艘敘事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按呼叫計費、零閒置成本、自動擴縮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EventBridge 排程 + SES Email 直接命中告警需求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各 handler 解耦，單點改動不動全局</a:t>
            </a:r>
            <a:endParaRPr lang="en-US" sz="1150" dirty="0"/>
          </a:p>
        </p:txBody>
      </p:sp>
      <p:sp>
        <p:nvSpPr>
          <p:cNvPr id="65" name="Shape 62"/>
          <p:cNvSpPr/>
          <p:nvPr/>
        </p:nvSpPr>
        <p:spPr>
          <a:xfrm>
            <a:off x="6324448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6" name="Shape 63"/>
          <p:cNvSpPr/>
          <p:nvPr/>
        </p:nvSpPr>
        <p:spPr>
          <a:xfrm>
            <a:off x="6324448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E76F51"/>
          </a:solidFill>
          <a:ln/>
        </p:spPr>
      </p:sp>
      <p:sp>
        <p:nvSpPr>
          <p:cNvPr id="67" name="Shape 64"/>
          <p:cNvSpPr/>
          <p:nvPr/>
        </p:nvSpPr>
        <p:spPr>
          <a:xfrm>
            <a:off x="6324448" y="3831336"/>
            <a:ext cx="5227168" cy="192024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68" name="Text 65"/>
          <p:cNvSpPr/>
          <p:nvPr/>
        </p:nvSpPr>
        <p:spPr>
          <a:xfrm>
            <a:off x="6489040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▲ 取捨 / 風險</a:t>
            </a:r>
            <a:endParaRPr lang="en-US" sz="1200" dirty="0"/>
          </a:p>
        </p:txBody>
      </p:sp>
      <p:sp>
        <p:nvSpPr>
          <p:cNvPr id="69" name="Text 66"/>
          <p:cNvSpPr/>
          <p:nvPr/>
        </p:nvSpPr>
        <p:spPr>
          <a:xfrm>
            <a:off x="6489040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monolith 拆多 Lambda + IaC，3 天工作量與整合風險大增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Java Lambda 冷啟延遲可能拖慢 demo 首打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本機難完整重現 APIGW+Lambda+DynamoDB，除錯較難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元件變多，臨時憑證下佈署面更廣、易出錯</a:t>
            </a:r>
            <a:endParaRPr lang="en-US" sz="1150" dirty="0"/>
          </a:p>
        </p:txBody>
      </p:sp>
      <p:sp>
        <p:nvSpPr>
          <p:cNvPr id="70" name="Shape 67"/>
          <p:cNvSpPr/>
          <p:nvPr/>
        </p:nvSpPr>
        <p:spPr>
          <a:xfrm>
            <a:off x="640080" y="5897880"/>
            <a:ext cx="10911535" cy="548640"/>
          </a:xfrm>
          <a:prstGeom prst="roundRect">
            <a:avLst>
              <a:gd name="adj" fmla="val 13333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896112" y="5897880"/>
            <a:ext cx="10454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何時選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要強調資料驅動、自動擴縮與『15→97 艘同架構』，且團隊有把握在時限內完成拆分與整合時。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network-gri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06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方案 C · APP RUNNER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6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全託管容器，零 infra（本次受帳號權限阻擋）</a:t>
            </a:r>
            <a:endParaRPr lang="en-US" sz="3560" dirty="0"/>
          </a:p>
        </p:txBody>
      </p:sp>
      <p:sp>
        <p:nvSpPr>
          <p:cNvPr id="12" name="Shape 9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13" name="Text 10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成本 低-中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7DAD1"/>
          </a:solidFill>
          <a:ln/>
        </p:spPr>
      </p:sp>
      <p:sp>
        <p:nvSpPr>
          <p:cNvPr id="15" name="Text 12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黑客松 低 · 受阻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1481328"/>
            <a:ext cx="10911535" cy="566928"/>
          </a:xfrm>
          <a:prstGeom prst="roundRect">
            <a:avLst>
              <a:gd name="adj" fmla="val 11290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1481328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同一顆 Spring Boot 映像改由 App Runner 從 ECR 拉起，AWS 全託管 HTTPS / 負載平衡 / 自動擴縮，免自建 ALB/VPC/SG。惟本 workshop 帳號 App Runner 實測 AccessDenied，只能列對照。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21214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服務組成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40080" y="2432304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1456914" y="2542032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456914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AR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85800" y="2889504"/>
            <a:ext cx="187141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App Runner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85800" y="3172968"/>
            <a:ext cx="18714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全託管 · HTTPS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2630363" y="2889504"/>
            <a:ext cx="219456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2877251" y="2432304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694085" y="2542032"/>
            <a:ext cx="329184" cy="329184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694085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2922971" y="2889504"/>
            <a:ext cx="187141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2922971" y="3172968"/>
            <a:ext cx="18714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同一顆 arm64 映像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867534" y="2889504"/>
            <a:ext cx="219456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5114422" y="2432304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931256" y="2542032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931256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5160142" y="2889504"/>
            <a:ext cx="187141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5160142" y="3172968"/>
            <a:ext cx="18714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簡報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7104705" y="2889504"/>
            <a:ext cx="219456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7351593" y="2432304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8168427" y="2542032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168427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7397313" y="2889504"/>
            <a:ext cx="187141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7397313" y="3172968"/>
            <a:ext cx="18714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告警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9341876" y="2889504"/>
            <a:ext cx="219456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3" name="Shape 40"/>
          <p:cNvSpPr/>
          <p:nvPr/>
        </p:nvSpPr>
        <p:spPr>
          <a:xfrm>
            <a:off x="9588764" y="2432304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10405598" y="2542032"/>
            <a:ext cx="329184" cy="329184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10405598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IAM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9634484" y="2889504"/>
            <a:ext cx="187141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IAM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9634484" y="3172968"/>
            <a:ext cx="18714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access / instance role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640080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640080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2A9D8F"/>
          </a:solidFill>
          <a:ln/>
        </p:spPr>
      </p:sp>
      <p:sp>
        <p:nvSpPr>
          <p:cNvPr id="50" name="Shape 47"/>
          <p:cNvSpPr/>
          <p:nvPr/>
        </p:nvSpPr>
        <p:spPr>
          <a:xfrm>
            <a:off x="640080" y="3831336"/>
            <a:ext cx="5227168" cy="1920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1" name="Text 48"/>
          <p:cNvSpPr/>
          <p:nvPr/>
        </p:nvSpPr>
        <p:spPr>
          <a:xfrm>
            <a:off x="804672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● 優勢</a:t>
            </a:r>
            <a:endParaRPr lang="en-US" sz="1200" dirty="0"/>
          </a:p>
        </p:txBody>
      </p:sp>
      <p:sp>
        <p:nvSpPr>
          <p:cNvPr id="52" name="Text 49"/>
          <p:cNvSpPr/>
          <p:nvPr/>
        </p:nvSpPr>
        <p:spPr>
          <a:xfrm>
            <a:off x="804672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管理面最少：免 ALB/VPC/SG/target group，設定步驟最短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沿用同一映像與 codebase，遷移成本近零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內建 HTTPS + 穩定網域 + 自動擴縮，demo URL 天生穩定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維持單服務好除錯特性</a:t>
            </a:r>
            <a:endParaRPr lang="en-US" sz="1150" dirty="0"/>
          </a:p>
        </p:txBody>
      </p:sp>
      <p:sp>
        <p:nvSpPr>
          <p:cNvPr id="53" name="Shape 50"/>
          <p:cNvSpPr/>
          <p:nvPr/>
        </p:nvSpPr>
        <p:spPr>
          <a:xfrm>
            <a:off x="6324448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54" name="Shape 51"/>
          <p:cNvSpPr/>
          <p:nvPr/>
        </p:nvSpPr>
        <p:spPr>
          <a:xfrm>
            <a:off x="6324448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E76F51"/>
          </a:solidFill>
          <a:ln/>
        </p:spPr>
      </p:sp>
      <p:sp>
        <p:nvSpPr>
          <p:cNvPr id="55" name="Shape 52"/>
          <p:cNvSpPr/>
          <p:nvPr/>
        </p:nvSpPr>
        <p:spPr>
          <a:xfrm>
            <a:off x="6324448" y="3831336"/>
            <a:ext cx="5227168" cy="192024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56" name="Text 53"/>
          <p:cNvSpPr/>
          <p:nvPr/>
        </p:nvSpPr>
        <p:spPr>
          <a:xfrm>
            <a:off x="6489040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▲ 取捨 / 風險</a:t>
            </a:r>
            <a:endParaRPr lang="en-US" sz="1200" dirty="0"/>
          </a:p>
        </p:txBody>
      </p:sp>
      <p:sp>
        <p:nvSpPr>
          <p:cNvPr id="57" name="Text 54"/>
          <p:cNvSpPr/>
          <p:nvPr/>
        </p:nvSpPr>
        <p:spPr>
          <a:xfrm>
            <a:off x="6489040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 workshop 帳號 App Runner AccessDenied → 決定性阻斷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與 Fargate 一樣非資料驅動、更新要重 build 映像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客製網路 / 私有子網彈性不如 ECS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區域 / 映像限制較多，遇權限問題無替代路徑</a:t>
            </a:r>
            <a:endParaRPr lang="en-US" sz="1150" dirty="0"/>
          </a:p>
        </p:txBody>
      </p:sp>
      <p:sp>
        <p:nvSpPr>
          <p:cNvPr id="58" name="Shape 55"/>
          <p:cNvSpPr/>
          <p:nvPr/>
        </p:nvSpPr>
        <p:spPr>
          <a:xfrm>
            <a:off x="640080" y="5897880"/>
            <a:ext cx="10911535" cy="548640"/>
          </a:xfrm>
          <a:prstGeom prst="roundRect">
            <a:avLst>
              <a:gd name="adj" fmla="val 13333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896112" y="5897880"/>
            <a:ext cx="10454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何時選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帳號放行 App Runner、想用最少 infra 步驟托管同一顆容器、不想碰 ALB/VPC 時（本次因 AccessDenied 不建議作主線）。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server-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7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8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8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07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方案 D · EC2 + DOCKER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44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單台虛機 docker run，最省最可控的保底路線</a:t>
            </a:r>
            <a:endParaRPr lang="en-US" sz="3544" dirty="0"/>
          </a:p>
        </p:txBody>
      </p:sp>
      <p:sp>
        <p:nvSpPr>
          <p:cNvPr id="12" name="Shape 9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13" name="Text 10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成本 最低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BE7C2"/>
          </a:solidFill>
          <a:ln/>
        </p:spPr>
      </p:sp>
      <p:sp>
        <p:nvSpPr>
          <p:cNvPr id="15" name="Text 12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黑客松 中 · 保底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1481328"/>
            <a:ext cx="10911535" cy="566928"/>
          </a:xfrm>
          <a:prstGeom prst="roundRect">
            <a:avLst>
              <a:gd name="adj" fmla="val 11290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1481328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開一台 EC2（Graviton t4g / x86），docker run 同一顆映像，綁 Elastic IP 得固定位址，安全群組開 8080/443。完全掌控 OS / 網路 / 生命週期，成本壓到最低，無託管服務依賴。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21214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服務組成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40080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1300963" y="2542032"/>
            <a:ext cx="329184" cy="329184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300963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EC2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85800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EC2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Graviton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85800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docker run 容器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2318461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2492197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53080" y="2542032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153080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IP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2537917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Elastic IP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2537917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固定公網位址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170578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4344314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005197" y="2542032"/>
            <a:ext cx="329184" cy="329184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005197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4390034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 /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本機映像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4390034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pull 或 docker load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6022696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6196432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857314" y="2542032"/>
            <a:ext cx="329184" cy="329184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857314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SG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6242152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Security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Group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6242152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開 8080/443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7874813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3" name="Shape 40"/>
          <p:cNvSpPr/>
          <p:nvPr/>
        </p:nvSpPr>
        <p:spPr>
          <a:xfrm>
            <a:off x="8048549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8709431" y="2542032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709431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8094269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8094269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instance role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9726930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9" name="Shape 46"/>
          <p:cNvSpPr/>
          <p:nvPr/>
        </p:nvSpPr>
        <p:spPr>
          <a:xfrm>
            <a:off x="9900666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0" name="Shape 47"/>
          <p:cNvSpPr/>
          <p:nvPr/>
        </p:nvSpPr>
        <p:spPr>
          <a:xfrm>
            <a:off x="10561549" y="2542032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10561549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9946386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9946386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告警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640080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55" name="Shape 52"/>
          <p:cNvSpPr/>
          <p:nvPr/>
        </p:nvSpPr>
        <p:spPr>
          <a:xfrm>
            <a:off x="640080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2A9D8F"/>
          </a:solidFill>
          <a:ln/>
        </p:spPr>
      </p:sp>
      <p:sp>
        <p:nvSpPr>
          <p:cNvPr id="56" name="Shape 53"/>
          <p:cNvSpPr/>
          <p:nvPr/>
        </p:nvSpPr>
        <p:spPr>
          <a:xfrm>
            <a:off x="640080" y="3831336"/>
            <a:ext cx="5227168" cy="1920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7" name="Text 54"/>
          <p:cNvSpPr/>
          <p:nvPr/>
        </p:nvSpPr>
        <p:spPr>
          <a:xfrm>
            <a:off x="804672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● 優勢</a:t>
            </a:r>
            <a:endParaRPr lang="en-US" sz="1200" dirty="0"/>
          </a:p>
        </p:txBody>
      </p:sp>
      <p:sp>
        <p:nvSpPr>
          <p:cNvPr id="58" name="Text 55"/>
          <p:cNvSpPr/>
          <p:nvPr/>
        </p:nvSpPr>
        <p:spPr>
          <a:xfrm>
            <a:off x="804672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成本最低、最可控：一台機器全包，無託管服務加價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Elastic IP 給固定位址，重啟不換 IP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本機 docker 行為與 EC2 幾乎一致，除錯最直覺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 App Runner/ALB 權限依賴，帳號 EC2 已實測可用</a:t>
            </a:r>
            <a:endParaRPr lang="en-US" sz="1150" dirty="0"/>
          </a:p>
        </p:txBody>
      </p:sp>
      <p:sp>
        <p:nvSpPr>
          <p:cNvPr id="59" name="Shape 56"/>
          <p:cNvSpPr/>
          <p:nvPr/>
        </p:nvSpPr>
        <p:spPr>
          <a:xfrm>
            <a:off x="6324448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0" name="Shape 57"/>
          <p:cNvSpPr/>
          <p:nvPr/>
        </p:nvSpPr>
        <p:spPr>
          <a:xfrm>
            <a:off x="6324448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E76F51"/>
          </a:solidFill>
          <a:ln/>
        </p:spPr>
      </p:sp>
      <p:sp>
        <p:nvSpPr>
          <p:cNvPr id="61" name="Shape 58"/>
          <p:cNvSpPr/>
          <p:nvPr/>
        </p:nvSpPr>
        <p:spPr>
          <a:xfrm>
            <a:off x="6324448" y="3831336"/>
            <a:ext cx="5227168" cy="192024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62" name="Text 59"/>
          <p:cNvSpPr/>
          <p:nvPr/>
        </p:nvSpPr>
        <p:spPr>
          <a:xfrm>
            <a:off x="6489040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▲ 取捨 / 風險</a:t>
            </a:r>
            <a:endParaRPr lang="en-US" sz="1200" dirty="0"/>
          </a:p>
        </p:txBody>
      </p:sp>
      <p:sp>
        <p:nvSpPr>
          <p:cNvPr id="63" name="Text 60"/>
          <p:cNvSpPr/>
          <p:nvPr/>
        </p:nvSpPr>
        <p:spPr>
          <a:xfrm>
            <a:off x="6489040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要自管 OS patch / Docker / 重啟 / 健康監控，無自動復原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單台＝單點故障，掛了 demo 就斷（需手動重拉）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HTTPS 要自己配（反代 / 憑證），比 ALB 麻煩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非資料驅動、無自動擴縮，擴展敘事最弱</a:t>
            </a:r>
            <a:endParaRPr lang="en-US" sz="1150" dirty="0"/>
          </a:p>
        </p:txBody>
      </p:sp>
      <p:sp>
        <p:nvSpPr>
          <p:cNvPr id="64" name="Shape 61"/>
          <p:cNvSpPr/>
          <p:nvPr/>
        </p:nvSpPr>
        <p:spPr>
          <a:xfrm>
            <a:off x="640080" y="5897880"/>
            <a:ext cx="10911535" cy="548640"/>
          </a:xfrm>
          <a:prstGeom prst="roundRect">
            <a:avLst>
              <a:gd name="adj" fmla="val 13333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896112" y="5897880"/>
            <a:ext cx="10454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何時選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要極致省成本、完全掌控，或托管服務權限受阻時，需要一條一定跑得起來的保底部署。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data-flow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08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方案 E · 完整資料分析管線（未來式）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45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 Lake → ETL → Athena/Timestream → App + BI + ML</a:t>
            </a:r>
            <a:endParaRPr lang="en-US" sz="2545" dirty="0"/>
          </a:p>
        </p:txBody>
      </p:sp>
      <p:sp>
        <p:nvSpPr>
          <p:cNvPr id="12" name="Shape 9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13" name="Text 10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成本 中高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BE7C2"/>
          </a:solidFill>
          <a:ln/>
        </p:spPr>
      </p:sp>
      <p:sp>
        <p:nvSpPr>
          <p:cNvPr id="15" name="Text 12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黑客松 低 · 藍圖高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1481328"/>
            <a:ext cx="10911535" cy="566928"/>
          </a:xfrm>
          <a:prstGeom prst="roundRect">
            <a:avLst>
              <a:gd name="adj" fmla="val 11290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1481328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企業級藍圖：正午報表落 S3 data lake，Glue/Lambda ETL 清洗換算，Athena（批量）/ Timestream（時序）查詢，App 供決策看板，QuickSight 自助 BI，Bedrock/SageMaker 預測，未來接 IoT Core 收船端遙測。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21214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服務組成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40080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1168669" y="2542032"/>
            <a:ext cx="329184" cy="329184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168669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85800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Data Lake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85800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raw / curated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2053873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2227609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2756198" y="2542032"/>
            <a:ext cx="329184" cy="329184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756198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ETL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2273329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Glue /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Lambda ETL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2273329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ISO 19030 換算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3641402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3815138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4343727" y="2542032"/>
            <a:ext cx="329184" cy="329184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343727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SQL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3860858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Athena /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Timestream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860858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SQL / 時序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5228931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5402667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5931256" y="2542032"/>
            <a:ext cx="329184" cy="329184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931256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APP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5448387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Spring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Boot App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5448387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決策看板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6816460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3" name="Shape 40"/>
          <p:cNvSpPr/>
          <p:nvPr/>
        </p:nvSpPr>
        <p:spPr>
          <a:xfrm>
            <a:off x="6990196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7518785" y="2542032"/>
            <a:ext cx="329184" cy="329184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518785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BI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7035916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QuickSight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7035916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自助 BI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8403989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9" name="Shape 46"/>
          <p:cNvSpPr/>
          <p:nvPr/>
        </p:nvSpPr>
        <p:spPr>
          <a:xfrm>
            <a:off x="8577725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0" name="Shape 47"/>
          <p:cNvSpPr/>
          <p:nvPr/>
        </p:nvSpPr>
        <p:spPr>
          <a:xfrm>
            <a:off x="9106314" y="2542032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9106314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ML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8623445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 /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SageMaker</a:t>
            </a:r>
            <a:endParaRPr lang="en-US" sz="1050" dirty="0"/>
          </a:p>
        </p:txBody>
      </p:sp>
      <p:sp>
        <p:nvSpPr>
          <p:cNvPr id="53" name="Text 50"/>
          <p:cNvSpPr/>
          <p:nvPr/>
        </p:nvSpPr>
        <p:spPr>
          <a:xfrm>
            <a:off x="8623445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簡報 + 預測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9991518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5" name="Shape 52"/>
          <p:cNvSpPr/>
          <p:nvPr/>
        </p:nvSpPr>
        <p:spPr>
          <a:xfrm>
            <a:off x="10165254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6" name="Shape 53"/>
          <p:cNvSpPr/>
          <p:nvPr/>
        </p:nvSpPr>
        <p:spPr>
          <a:xfrm>
            <a:off x="10693843" y="2542032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10693843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IoT</a:t>
            </a:r>
            <a:endParaRPr lang="en-US" sz="800" dirty="0"/>
          </a:p>
        </p:txBody>
      </p:sp>
      <p:sp>
        <p:nvSpPr>
          <p:cNvPr id="58" name="Text 55"/>
          <p:cNvSpPr/>
          <p:nvPr/>
        </p:nvSpPr>
        <p:spPr>
          <a:xfrm>
            <a:off x="10210974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IoT Core</a:t>
            </a:r>
            <a:endParaRPr lang="en-US" sz="1100" dirty="0"/>
          </a:p>
        </p:txBody>
      </p:sp>
      <p:sp>
        <p:nvSpPr>
          <p:cNvPr id="59" name="Text 56"/>
          <p:cNvSpPr/>
          <p:nvPr/>
        </p:nvSpPr>
        <p:spPr>
          <a:xfrm>
            <a:off x="10210974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未來遙測</a:t>
            </a:r>
            <a:endParaRPr lang="en-US" sz="800" dirty="0"/>
          </a:p>
        </p:txBody>
      </p:sp>
      <p:sp>
        <p:nvSpPr>
          <p:cNvPr id="60" name="Shape 57"/>
          <p:cNvSpPr/>
          <p:nvPr/>
        </p:nvSpPr>
        <p:spPr>
          <a:xfrm>
            <a:off x="640080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640080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2A9D8F"/>
          </a:solidFill>
          <a:ln/>
        </p:spPr>
      </p:sp>
      <p:sp>
        <p:nvSpPr>
          <p:cNvPr id="62" name="Shape 59"/>
          <p:cNvSpPr/>
          <p:nvPr/>
        </p:nvSpPr>
        <p:spPr>
          <a:xfrm>
            <a:off x="640080" y="3831336"/>
            <a:ext cx="5227168" cy="1920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3" name="Text 60"/>
          <p:cNvSpPr/>
          <p:nvPr/>
        </p:nvSpPr>
        <p:spPr>
          <a:xfrm>
            <a:off x="804672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● 優勢</a:t>
            </a:r>
            <a:endParaRPr lang="en-US" sz="1200" dirty="0"/>
          </a:p>
        </p:txBody>
      </p:sp>
      <p:sp>
        <p:nvSpPr>
          <p:cNvPr id="64" name="Text 61"/>
          <p:cNvSpPr/>
          <p:nvPr/>
        </p:nvSpPr>
        <p:spPr>
          <a:xfrm>
            <a:off x="804672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最完整企業級藍圖，命中『企業資料應用說明』與 15→97 艘擴展敘事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資料驅動 + BI 自助分析 + 預測 + 即時遙測，商用與願景分最高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 單一資料源、分層清晰，符合資料治理與封存要求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Athena/Timestream/QuickSight 全託管，長期可營運</a:t>
            </a:r>
            <a:endParaRPr lang="en-US" sz="1150" dirty="0"/>
          </a:p>
        </p:txBody>
      </p:sp>
      <p:sp>
        <p:nvSpPr>
          <p:cNvPr id="65" name="Shape 62"/>
          <p:cNvSpPr/>
          <p:nvPr/>
        </p:nvSpPr>
        <p:spPr>
          <a:xfrm>
            <a:off x="6324448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6" name="Shape 63"/>
          <p:cNvSpPr/>
          <p:nvPr/>
        </p:nvSpPr>
        <p:spPr>
          <a:xfrm>
            <a:off x="6324448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E76F51"/>
          </a:solidFill>
          <a:ln/>
        </p:spPr>
      </p:sp>
      <p:sp>
        <p:nvSpPr>
          <p:cNvPr id="67" name="Shape 64"/>
          <p:cNvSpPr/>
          <p:nvPr/>
        </p:nvSpPr>
        <p:spPr>
          <a:xfrm>
            <a:off x="6324448" y="3831336"/>
            <a:ext cx="5227168" cy="192024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68" name="Text 65"/>
          <p:cNvSpPr/>
          <p:nvPr/>
        </p:nvSpPr>
        <p:spPr>
          <a:xfrm>
            <a:off x="6489040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▲ 取捨 / 風險</a:t>
            </a:r>
            <a:endParaRPr lang="en-US" sz="1200" dirty="0"/>
          </a:p>
        </p:txBody>
      </p:sp>
      <p:sp>
        <p:nvSpPr>
          <p:cNvPr id="69" name="Text 66"/>
          <p:cNvSpPr/>
          <p:nvPr/>
        </p:nvSpPr>
        <p:spPr>
          <a:xfrm>
            <a:off x="6489040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元件最多、整合最重，3 天內不可能全做完，只能藍圖 + 局部 PoC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SageMaker / IoT Core 屬 stretch，現場跑真流程風險高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多查詢 / BI 層學習與設定成本高，易在時限內卡住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過度工程對 hackathon 反而稀釋 demo 焦點</a:t>
            </a:r>
            <a:endParaRPr lang="en-US" sz="1150" dirty="0"/>
          </a:p>
        </p:txBody>
      </p:sp>
      <p:sp>
        <p:nvSpPr>
          <p:cNvPr id="70" name="Shape 67"/>
          <p:cNvSpPr/>
          <p:nvPr/>
        </p:nvSpPr>
        <p:spPr>
          <a:xfrm>
            <a:off x="640080" y="5897880"/>
            <a:ext cx="10911535" cy="548640"/>
          </a:xfrm>
          <a:prstGeom prst="roundRect">
            <a:avLst>
              <a:gd name="adj" fmla="val 13333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896112" y="5897880"/>
            <a:ext cx="10454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何時選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要在簡報中展示從 hackathon demo 到全艦隊營運平台的完整演進路線圖、拿商用價值與願景分，而非現場實跑時。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security-soc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7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8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8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09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SECURITY · 縱深防禦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資安：VPC 隔離 + GuardDuty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640080" y="1463040"/>
            <a:ext cx="10911535" cy="493776"/>
          </a:xfrm>
          <a:prstGeom prst="roundRect">
            <a:avLst>
              <a:gd name="adj" fmla="val 12963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841248" y="1463040"/>
            <a:ext cx="1050919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縱深防禦 (defense in depth)：邊緣擋量、VPC 最小暴露、帳號級偵測、全程加密與稽核 — 逐層收斂攻擊面，任一層被突破，下一層仍在。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40080" y="2057400"/>
            <a:ext cx="10911535" cy="786384"/>
          </a:xfrm>
          <a:prstGeom prst="roundRect">
            <a:avLst>
              <a:gd name="adj" fmla="val 11628"/>
            </a:avLst>
          </a:prstGeom>
          <a:solidFill>
            <a:srgbClr val="0A2540">
              <a:alpha val="82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04672" y="214884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① 邊緣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04672" y="247802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擋量 · L7 過濾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2340864" y="2176272"/>
            <a:ext cx="4449928" cy="548640"/>
          </a:xfrm>
          <a:prstGeom prst="roundRect">
            <a:avLst>
              <a:gd name="adj" fmla="val 1333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2478024" y="2258568"/>
            <a:ext cx="384048" cy="384048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478024" y="2249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SLD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2962656" y="2221992"/>
            <a:ext cx="37366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AWS Shield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962656" y="2496312"/>
            <a:ext cx="3736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DDoS 防護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937096" y="2176272"/>
            <a:ext cx="4449928" cy="548640"/>
          </a:xfrm>
          <a:prstGeom prst="roundRect">
            <a:avLst>
              <a:gd name="adj" fmla="val 1333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074256" y="2258568"/>
            <a:ext cx="384048" cy="384048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074256" y="2249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WAF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7558888" y="2221992"/>
            <a:ext cx="37366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AWS WAF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558888" y="2496312"/>
            <a:ext cx="3736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L7 規則過濾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896112" y="2980944"/>
            <a:ext cx="10399471" cy="786384"/>
          </a:xfrm>
          <a:prstGeom prst="roundRect">
            <a:avLst>
              <a:gd name="adj" fmla="val 11628"/>
            </a:avLst>
          </a:prstGeom>
          <a:solidFill>
            <a:srgbClr val="0A2540">
              <a:alpha val="82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60704" y="3072384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② VPC 隔離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1060704" y="340156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最小暴露面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2596896" y="3099816"/>
            <a:ext cx="4193896" cy="548640"/>
          </a:xfrm>
          <a:prstGeom prst="roundRect">
            <a:avLst>
              <a:gd name="adj" fmla="val 1333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2734056" y="3182112"/>
            <a:ext cx="384048" cy="384048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2734056" y="3172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3218688" y="3145536"/>
            <a:ext cx="34806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公有子網 · ALB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3218688" y="3419856"/>
            <a:ext cx="3480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唯一對外入口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6937096" y="3099816"/>
            <a:ext cx="4193896" cy="548640"/>
          </a:xfrm>
          <a:prstGeom prst="roundRect">
            <a:avLst>
              <a:gd name="adj" fmla="val 1333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7074256" y="3182112"/>
            <a:ext cx="384048" cy="384048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074256" y="3172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7558888" y="3145536"/>
            <a:ext cx="34806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私有子網 · ECS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7558888" y="3419856"/>
            <a:ext cx="3480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無公網 IP</a:t>
            </a:r>
            <a:endParaRPr lang="en-US" sz="850" dirty="0"/>
          </a:p>
        </p:txBody>
      </p:sp>
      <p:sp>
        <p:nvSpPr>
          <p:cNvPr id="40" name="Shape 37"/>
          <p:cNvSpPr/>
          <p:nvPr/>
        </p:nvSpPr>
        <p:spPr>
          <a:xfrm>
            <a:off x="6809080" y="3374136"/>
            <a:ext cx="109728" cy="0"/>
          </a:xfrm>
          <a:prstGeom prst="line">
            <a:avLst/>
          </a:prstGeom>
          <a:noFill/>
          <a:ln w="22225">
            <a:solidFill>
              <a:srgbClr val="F4A72B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1152144" y="3904488"/>
            <a:ext cx="9887407" cy="786384"/>
          </a:xfrm>
          <a:prstGeom prst="roundRect">
            <a:avLst>
              <a:gd name="adj" fmla="val 11628"/>
            </a:avLst>
          </a:prstGeom>
          <a:solidFill>
            <a:srgbClr val="0A2540">
              <a:alpha val="82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316736" y="3995928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③ 帳號偵測</a:t>
            </a:r>
            <a:endParaRPr lang="en-US" sz="1300" dirty="0"/>
          </a:p>
        </p:txBody>
      </p:sp>
      <p:sp>
        <p:nvSpPr>
          <p:cNvPr id="43" name="Text 40"/>
          <p:cNvSpPr/>
          <p:nvPr/>
        </p:nvSpPr>
        <p:spPr>
          <a:xfrm>
            <a:off x="1316736" y="432511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持續監看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2852928" y="4023360"/>
            <a:ext cx="3937864" cy="548640"/>
          </a:xfrm>
          <a:prstGeom prst="roundRect">
            <a:avLst>
              <a:gd name="adj" fmla="val 1333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2990088" y="4105656"/>
            <a:ext cx="384048" cy="384048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2990088" y="4096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GD</a:t>
            </a:r>
            <a:endParaRPr lang="en-US" sz="950" dirty="0"/>
          </a:p>
        </p:txBody>
      </p:sp>
      <p:sp>
        <p:nvSpPr>
          <p:cNvPr id="47" name="Text 44"/>
          <p:cNvSpPr/>
          <p:nvPr/>
        </p:nvSpPr>
        <p:spPr>
          <a:xfrm>
            <a:off x="3474720" y="4069080"/>
            <a:ext cx="32246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GuardDuty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3474720" y="4343400"/>
            <a:ext cx="322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威脅偵測</a:t>
            </a:r>
            <a:endParaRPr lang="en-US" sz="850" dirty="0"/>
          </a:p>
        </p:txBody>
      </p:sp>
      <p:sp>
        <p:nvSpPr>
          <p:cNvPr id="49" name="Shape 46"/>
          <p:cNvSpPr/>
          <p:nvPr/>
        </p:nvSpPr>
        <p:spPr>
          <a:xfrm>
            <a:off x="6937096" y="4023360"/>
            <a:ext cx="3937864" cy="548640"/>
          </a:xfrm>
          <a:prstGeom prst="roundRect">
            <a:avLst>
              <a:gd name="adj" fmla="val 1333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0" name="Shape 47"/>
          <p:cNvSpPr/>
          <p:nvPr/>
        </p:nvSpPr>
        <p:spPr>
          <a:xfrm>
            <a:off x="7074256" y="4105656"/>
            <a:ext cx="384048" cy="384048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074256" y="4096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CT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7558888" y="4069080"/>
            <a:ext cx="32246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CloudTrail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7558888" y="4343400"/>
            <a:ext cx="322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稽核軌跡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1408176" y="4828032"/>
            <a:ext cx="9375343" cy="786384"/>
          </a:xfrm>
          <a:prstGeom prst="roundRect">
            <a:avLst>
              <a:gd name="adj" fmla="val 11628"/>
            </a:avLst>
          </a:prstGeom>
          <a:solidFill>
            <a:srgbClr val="0A2540">
              <a:alpha val="82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1572768" y="4919472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④ 機密加密</a:t>
            </a:r>
            <a:endParaRPr lang="en-US" sz="1300" dirty="0"/>
          </a:p>
        </p:txBody>
      </p:sp>
      <p:sp>
        <p:nvSpPr>
          <p:cNvPr id="56" name="Text 53"/>
          <p:cNvSpPr/>
          <p:nvPr/>
        </p:nvSpPr>
        <p:spPr>
          <a:xfrm>
            <a:off x="1572768" y="524865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零信任存取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3108960" y="4946904"/>
            <a:ext cx="2405786" cy="548640"/>
          </a:xfrm>
          <a:prstGeom prst="roundRect">
            <a:avLst>
              <a:gd name="adj" fmla="val 1333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8" name="Shape 55"/>
          <p:cNvSpPr/>
          <p:nvPr/>
        </p:nvSpPr>
        <p:spPr>
          <a:xfrm>
            <a:off x="3246120" y="5029200"/>
            <a:ext cx="384048" cy="384048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3246120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SM</a:t>
            </a:r>
            <a:endParaRPr lang="en-US" sz="950" dirty="0"/>
          </a:p>
        </p:txBody>
      </p:sp>
      <p:sp>
        <p:nvSpPr>
          <p:cNvPr id="60" name="Text 57"/>
          <p:cNvSpPr/>
          <p:nvPr/>
        </p:nvSpPr>
        <p:spPr>
          <a:xfrm>
            <a:off x="3730752" y="4992624"/>
            <a:ext cx="169255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Secrets Manager</a:t>
            </a:r>
            <a:endParaRPr lang="en-US" sz="1100" dirty="0"/>
          </a:p>
        </p:txBody>
      </p:sp>
      <p:sp>
        <p:nvSpPr>
          <p:cNvPr id="61" name="Text 58"/>
          <p:cNvSpPr/>
          <p:nvPr/>
        </p:nvSpPr>
        <p:spPr>
          <a:xfrm>
            <a:off x="3730752" y="5266944"/>
            <a:ext cx="16925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憑證託管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5661050" y="4946904"/>
            <a:ext cx="2405786" cy="548640"/>
          </a:xfrm>
          <a:prstGeom prst="roundRect">
            <a:avLst>
              <a:gd name="adj" fmla="val 1333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63" name="Shape 60"/>
          <p:cNvSpPr/>
          <p:nvPr/>
        </p:nvSpPr>
        <p:spPr>
          <a:xfrm>
            <a:off x="5798210" y="5029200"/>
            <a:ext cx="384048" cy="384048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5798210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KMS</a:t>
            </a:r>
            <a:endParaRPr lang="en-US" sz="800" dirty="0"/>
          </a:p>
        </p:txBody>
      </p:sp>
      <p:sp>
        <p:nvSpPr>
          <p:cNvPr id="65" name="Text 62"/>
          <p:cNvSpPr/>
          <p:nvPr/>
        </p:nvSpPr>
        <p:spPr>
          <a:xfrm>
            <a:off x="6282842" y="4992624"/>
            <a:ext cx="169255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KMS</a:t>
            </a:r>
            <a:endParaRPr lang="en-US" sz="1100" dirty="0"/>
          </a:p>
        </p:txBody>
      </p:sp>
      <p:sp>
        <p:nvSpPr>
          <p:cNvPr id="66" name="Text 63"/>
          <p:cNvSpPr/>
          <p:nvPr/>
        </p:nvSpPr>
        <p:spPr>
          <a:xfrm>
            <a:off x="6282842" y="5266944"/>
            <a:ext cx="16925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金鑰加密</a:t>
            </a:r>
            <a:endParaRPr lang="en-US" sz="850" dirty="0"/>
          </a:p>
        </p:txBody>
      </p:sp>
      <p:sp>
        <p:nvSpPr>
          <p:cNvPr id="67" name="Shape 64"/>
          <p:cNvSpPr/>
          <p:nvPr/>
        </p:nvSpPr>
        <p:spPr>
          <a:xfrm>
            <a:off x="8213141" y="4946904"/>
            <a:ext cx="2405786" cy="548640"/>
          </a:xfrm>
          <a:prstGeom prst="roundRect">
            <a:avLst>
              <a:gd name="adj" fmla="val 1333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68" name="Shape 65"/>
          <p:cNvSpPr/>
          <p:nvPr/>
        </p:nvSpPr>
        <p:spPr>
          <a:xfrm>
            <a:off x="8350301" y="5029200"/>
            <a:ext cx="384048" cy="384048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8350301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IAM</a:t>
            </a:r>
            <a:endParaRPr lang="en-US" sz="800" dirty="0"/>
          </a:p>
        </p:txBody>
      </p:sp>
      <p:sp>
        <p:nvSpPr>
          <p:cNvPr id="70" name="Text 67"/>
          <p:cNvSpPr/>
          <p:nvPr/>
        </p:nvSpPr>
        <p:spPr>
          <a:xfrm>
            <a:off x="8834933" y="4992624"/>
            <a:ext cx="169255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IAM</a:t>
            </a:r>
            <a:endParaRPr lang="en-US" sz="1100" dirty="0"/>
          </a:p>
        </p:txBody>
      </p:sp>
      <p:sp>
        <p:nvSpPr>
          <p:cNvPr id="71" name="Text 68"/>
          <p:cNvSpPr/>
          <p:nvPr/>
        </p:nvSpPr>
        <p:spPr>
          <a:xfrm>
            <a:off x="8834933" y="5266944"/>
            <a:ext cx="16925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最小權限</a:t>
            </a:r>
            <a:endParaRPr lang="en-US" sz="850" dirty="0"/>
          </a:p>
        </p:txBody>
      </p:sp>
      <p:sp>
        <p:nvSpPr>
          <p:cNvPr id="72" name="Shape 69"/>
          <p:cNvSpPr/>
          <p:nvPr/>
        </p:nvSpPr>
        <p:spPr>
          <a:xfrm>
            <a:off x="640080" y="5760720"/>
            <a:ext cx="10911535" cy="640080"/>
          </a:xfrm>
          <a:prstGeom prst="roundRect">
            <a:avLst>
              <a:gd name="adj" fmla="val 11429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914400" y="57607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縱深防禦　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邊緣擋量、VPC 隔離、帳號偵測、加密兜底 — 攻擊者要連過四關；憑證進 Secrets Manager、資料以 KMS 加密、操作全入 CloudTrail，IAM 全程最小權限。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multi-regi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10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MULTI-REGION · ACTIVE-ACTIVE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多區域 Active-Active + 即時告警與災備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640080" y="1463040"/>
            <a:ext cx="10911535" cy="457200"/>
          </a:xfrm>
          <a:prstGeom prst="roundRect">
            <a:avLst>
              <a:gd name="adj" fmla="val 14000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841248" y="1463040"/>
            <a:ext cx="105091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不同國家船務端就近接入 → Route 53 智慧路由到兩個 active 區域；一區故障自動切換、跨區雙向複製，資料不丟、服務不中斷。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40080" y="2011680"/>
            <a:ext cx="2880360" cy="658368"/>
          </a:xfrm>
          <a:prstGeom prst="roundRect">
            <a:avLst>
              <a:gd name="adj" fmla="val 12500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49808" y="2011680"/>
            <a:ext cx="26609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亞洲船務端
</a:t>
            </a:r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日 · 台 · 韓 · 星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8671255" y="2011680"/>
            <a:ext cx="2880360" cy="658368"/>
          </a:xfrm>
          <a:prstGeom prst="roundRect">
            <a:avLst>
              <a:gd name="adj" fmla="val 12500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780983" y="2011680"/>
            <a:ext cx="26609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歐美船務端
</a:t>
            </a:r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EU · US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4084168" y="2011680"/>
            <a:ext cx="4023360" cy="658368"/>
          </a:xfrm>
          <a:prstGeom prst="roundRect">
            <a:avLst>
              <a:gd name="adj" fmla="val 12500"/>
            </a:avLst>
          </a:prstGeom>
          <a:solidFill>
            <a:srgbClr val="12385C">
              <a:alpha val="96000"/>
            </a:srgbClr>
          </a:solidFill>
          <a:ln w="15875">
            <a:solidFill>
              <a:srgbClr val="2A9D8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267048" y="2139696"/>
            <a:ext cx="402336" cy="402336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267048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R53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4779112" y="201168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Route 53
</a:t>
            </a:r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地理 / 延遲路由 · 健康檢查 failover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3547872" y="2340864"/>
            <a:ext cx="50886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8134960" y="2340864"/>
            <a:ext cx="50886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headEnd type="triangle"/>
          </a:ln>
        </p:spPr>
      </p:sp>
      <p:sp>
        <p:nvSpPr>
          <p:cNvPr id="24" name="Shape 21"/>
          <p:cNvSpPr/>
          <p:nvPr/>
        </p:nvSpPr>
        <p:spPr>
          <a:xfrm>
            <a:off x="6095848" y="2670048"/>
            <a:ext cx="0" cy="18288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994660" y="2852928"/>
            <a:ext cx="6202375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994660" y="2852928"/>
            <a:ext cx="0" cy="329184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9197035" y="2852928"/>
            <a:ext cx="0" cy="329184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640080" y="3200400"/>
            <a:ext cx="4709160" cy="2057400"/>
          </a:xfrm>
          <a:prstGeom prst="roundRect">
            <a:avLst>
              <a:gd name="adj" fmla="val 4444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40080" y="3200400"/>
            <a:ext cx="4709160" cy="457200"/>
          </a:xfrm>
          <a:prstGeom prst="roundRect">
            <a:avLst>
              <a:gd name="adj" fmla="val 20000"/>
            </a:avLst>
          </a:prstGeom>
          <a:solidFill>
            <a:srgbClr val="1B4D74"/>
          </a:solidFill>
          <a:ln/>
        </p:spPr>
      </p:sp>
      <p:sp>
        <p:nvSpPr>
          <p:cNvPr id="30" name="Shape 27"/>
          <p:cNvSpPr/>
          <p:nvPr/>
        </p:nvSpPr>
        <p:spPr>
          <a:xfrm>
            <a:off x="640080" y="3429000"/>
            <a:ext cx="4709160" cy="228600"/>
          </a:xfrm>
          <a:prstGeom prst="rect">
            <a:avLst/>
          </a:prstGeom>
          <a:solidFill>
            <a:srgbClr val="1B4D74"/>
          </a:solidFill>
          <a:ln/>
        </p:spPr>
      </p:sp>
      <p:sp>
        <p:nvSpPr>
          <p:cNvPr id="31" name="Text 28"/>
          <p:cNvSpPr/>
          <p:nvPr/>
        </p:nvSpPr>
        <p:spPr>
          <a:xfrm>
            <a:off x="822960" y="3200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區域 A</a:t>
            </a:r>
            <a:pPr indent="0" marL="0">
              <a:buNone/>
            </a:pPr>
            <a:r>
              <a:rPr lang="en-US" sz="9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　ap-northeast-1（東京）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4251960" y="328269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33" name="Text 30"/>
          <p:cNvSpPr/>
          <p:nvPr/>
        </p:nvSpPr>
        <p:spPr>
          <a:xfrm>
            <a:off x="4251960" y="328269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ACTIVE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804672" y="3767328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941832" y="3813048"/>
            <a:ext cx="384048" cy="384048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41832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1426464" y="3813048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1426464" y="4047134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區域入口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3081528" y="3767328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3218688" y="3813048"/>
            <a:ext cx="384048" cy="384048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218688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703320" y="3813048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3703320" y="4047134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私有子網</a:t>
            </a:r>
            <a:endParaRPr lang="en-US" sz="850" dirty="0"/>
          </a:p>
        </p:txBody>
      </p:sp>
      <p:sp>
        <p:nvSpPr>
          <p:cNvPr id="44" name="Shape 41"/>
          <p:cNvSpPr/>
          <p:nvPr/>
        </p:nvSpPr>
        <p:spPr>
          <a:xfrm>
            <a:off x="2926080" y="4005072"/>
            <a:ext cx="13716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5" name="Shape 42"/>
          <p:cNvSpPr/>
          <p:nvPr/>
        </p:nvSpPr>
        <p:spPr>
          <a:xfrm>
            <a:off x="804672" y="4352544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941832" y="4398264"/>
            <a:ext cx="384048" cy="384048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941832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DDB</a:t>
            </a:r>
            <a:endParaRPr lang="en-US" sz="800" dirty="0"/>
          </a:p>
        </p:txBody>
      </p:sp>
      <p:sp>
        <p:nvSpPr>
          <p:cNvPr id="48" name="Text 45"/>
          <p:cNvSpPr/>
          <p:nvPr/>
        </p:nvSpPr>
        <p:spPr>
          <a:xfrm>
            <a:off x="1426464" y="4398264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DynamoDB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1426464" y="4632350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Global Table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3081528" y="4352544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218688" y="4398264"/>
            <a:ext cx="384048" cy="384048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3218688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950" dirty="0"/>
          </a:p>
        </p:txBody>
      </p:sp>
      <p:sp>
        <p:nvSpPr>
          <p:cNvPr id="53" name="Text 50"/>
          <p:cNvSpPr/>
          <p:nvPr/>
        </p:nvSpPr>
        <p:spPr>
          <a:xfrm>
            <a:off x="3703320" y="4398264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1100" dirty="0"/>
          </a:p>
        </p:txBody>
      </p:sp>
      <p:sp>
        <p:nvSpPr>
          <p:cNvPr id="54" name="Text 51"/>
          <p:cNvSpPr/>
          <p:nvPr/>
        </p:nvSpPr>
        <p:spPr>
          <a:xfrm>
            <a:off x="3703320" y="4632350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跨區複製源</a:t>
            </a:r>
            <a:endParaRPr lang="en-US" sz="850" dirty="0"/>
          </a:p>
        </p:txBody>
      </p:sp>
      <p:sp>
        <p:nvSpPr>
          <p:cNvPr id="55" name="Shape 52"/>
          <p:cNvSpPr/>
          <p:nvPr/>
        </p:nvSpPr>
        <p:spPr>
          <a:xfrm>
            <a:off x="6842455" y="3200400"/>
            <a:ext cx="4709160" cy="2057400"/>
          </a:xfrm>
          <a:prstGeom prst="roundRect">
            <a:avLst>
              <a:gd name="adj" fmla="val 4444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6842455" y="3200400"/>
            <a:ext cx="4709160" cy="457200"/>
          </a:xfrm>
          <a:prstGeom prst="roundRect">
            <a:avLst>
              <a:gd name="adj" fmla="val 20000"/>
            </a:avLst>
          </a:prstGeom>
          <a:solidFill>
            <a:srgbClr val="1B4D74"/>
          </a:solidFill>
          <a:ln/>
        </p:spPr>
      </p:sp>
      <p:sp>
        <p:nvSpPr>
          <p:cNvPr id="57" name="Shape 54"/>
          <p:cNvSpPr/>
          <p:nvPr/>
        </p:nvSpPr>
        <p:spPr>
          <a:xfrm>
            <a:off x="6842455" y="3429000"/>
            <a:ext cx="4709160" cy="228600"/>
          </a:xfrm>
          <a:prstGeom prst="rect">
            <a:avLst/>
          </a:prstGeom>
          <a:solidFill>
            <a:srgbClr val="1B4D74"/>
          </a:solidFill>
          <a:ln/>
        </p:spPr>
      </p:sp>
      <p:sp>
        <p:nvSpPr>
          <p:cNvPr id="58" name="Text 55"/>
          <p:cNvSpPr/>
          <p:nvPr/>
        </p:nvSpPr>
        <p:spPr>
          <a:xfrm>
            <a:off x="7025335" y="3200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區域 B</a:t>
            </a:r>
            <a:pPr indent="0" marL="0">
              <a:buNone/>
            </a:pPr>
            <a:r>
              <a:rPr lang="en-US" sz="9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　us-east-1（維吉尼亞）</a:t>
            </a:r>
            <a:endParaRPr lang="en-US" sz="1250" dirty="0"/>
          </a:p>
        </p:txBody>
      </p:sp>
      <p:sp>
        <p:nvSpPr>
          <p:cNvPr id="59" name="Shape 56"/>
          <p:cNvSpPr/>
          <p:nvPr/>
        </p:nvSpPr>
        <p:spPr>
          <a:xfrm>
            <a:off x="10454335" y="328269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60" name="Text 57"/>
          <p:cNvSpPr/>
          <p:nvPr/>
        </p:nvSpPr>
        <p:spPr>
          <a:xfrm>
            <a:off x="10454335" y="328269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ACTIVE</a:t>
            </a:r>
            <a:endParaRPr lang="en-US" sz="950" dirty="0"/>
          </a:p>
        </p:txBody>
      </p:sp>
      <p:sp>
        <p:nvSpPr>
          <p:cNvPr id="61" name="Shape 58"/>
          <p:cNvSpPr/>
          <p:nvPr/>
        </p:nvSpPr>
        <p:spPr>
          <a:xfrm>
            <a:off x="7007047" y="3767328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62" name="Shape 59"/>
          <p:cNvSpPr/>
          <p:nvPr/>
        </p:nvSpPr>
        <p:spPr>
          <a:xfrm>
            <a:off x="7144207" y="3813048"/>
            <a:ext cx="384048" cy="384048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7144207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800" dirty="0"/>
          </a:p>
        </p:txBody>
      </p:sp>
      <p:sp>
        <p:nvSpPr>
          <p:cNvPr id="64" name="Text 61"/>
          <p:cNvSpPr/>
          <p:nvPr/>
        </p:nvSpPr>
        <p:spPr>
          <a:xfrm>
            <a:off x="7628839" y="3813048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1100" dirty="0"/>
          </a:p>
        </p:txBody>
      </p:sp>
      <p:sp>
        <p:nvSpPr>
          <p:cNvPr id="65" name="Text 62"/>
          <p:cNvSpPr/>
          <p:nvPr/>
        </p:nvSpPr>
        <p:spPr>
          <a:xfrm>
            <a:off x="7628839" y="4047134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區域入口</a:t>
            </a:r>
            <a:endParaRPr lang="en-US" sz="850" dirty="0"/>
          </a:p>
        </p:txBody>
      </p:sp>
      <p:sp>
        <p:nvSpPr>
          <p:cNvPr id="66" name="Shape 63"/>
          <p:cNvSpPr/>
          <p:nvPr/>
        </p:nvSpPr>
        <p:spPr>
          <a:xfrm>
            <a:off x="9283903" y="3767328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9421063" y="3813048"/>
            <a:ext cx="384048" cy="384048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9421063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</a:t>
            </a:r>
            <a:endParaRPr lang="en-US" sz="800" dirty="0"/>
          </a:p>
        </p:txBody>
      </p:sp>
      <p:sp>
        <p:nvSpPr>
          <p:cNvPr id="69" name="Text 66"/>
          <p:cNvSpPr/>
          <p:nvPr/>
        </p:nvSpPr>
        <p:spPr>
          <a:xfrm>
            <a:off x="9905695" y="3813048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</a:t>
            </a:r>
            <a:endParaRPr lang="en-US" sz="1100" dirty="0"/>
          </a:p>
        </p:txBody>
      </p:sp>
      <p:sp>
        <p:nvSpPr>
          <p:cNvPr id="70" name="Text 67"/>
          <p:cNvSpPr/>
          <p:nvPr/>
        </p:nvSpPr>
        <p:spPr>
          <a:xfrm>
            <a:off x="9905695" y="4047134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私有子網</a:t>
            </a:r>
            <a:endParaRPr lang="en-US" sz="850" dirty="0"/>
          </a:p>
        </p:txBody>
      </p:sp>
      <p:sp>
        <p:nvSpPr>
          <p:cNvPr id="71" name="Shape 68"/>
          <p:cNvSpPr/>
          <p:nvPr/>
        </p:nvSpPr>
        <p:spPr>
          <a:xfrm>
            <a:off x="9128455" y="4005072"/>
            <a:ext cx="13716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72" name="Shape 69"/>
          <p:cNvSpPr/>
          <p:nvPr/>
        </p:nvSpPr>
        <p:spPr>
          <a:xfrm>
            <a:off x="7007047" y="4352544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73" name="Shape 70"/>
          <p:cNvSpPr/>
          <p:nvPr/>
        </p:nvSpPr>
        <p:spPr>
          <a:xfrm>
            <a:off x="7144207" y="4398264"/>
            <a:ext cx="384048" cy="384048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7144207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DDB</a:t>
            </a:r>
            <a:endParaRPr lang="en-US" sz="800" dirty="0"/>
          </a:p>
        </p:txBody>
      </p:sp>
      <p:sp>
        <p:nvSpPr>
          <p:cNvPr id="75" name="Text 72"/>
          <p:cNvSpPr/>
          <p:nvPr/>
        </p:nvSpPr>
        <p:spPr>
          <a:xfrm>
            <a:off x="7628839" y="4398264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DynamoDB</a:t>
            </a:r>
            <a:endParaRPr lang="en-US" sz="1100" dirty="0"/>
          </a:p>
        </p:txBody>
      </p:sp>
      <p:sp>
        <p:nvSpPr>
          <p:cNvPr id="76" name="Text 73"/>
          <p:cNvSpPr/>
          <p:nvPr/>
        </p:nvSpPr>
        <p:spPr>
          <a:xfrm>
            <a:off x="7628839" y="4632350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Global Table</a:t>
            </a:r>
            <a:endParaRPr lang="en-US" sz="850" dirty="0"/>
          </a:p>
        </p:txBody>
      </p:sp>
      <p:sp>
        <p:nvSpPr>
          <p:cNvPr id="77" name="Shape 74"/>
          <p:cNvSpPr/>
          <p:nvPr/>
        </p:nvSpPr>
        <p:spPr>
          <a:xfrm>
            <a:off x="9283903" y="4352544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78" name="Shape 75"/>
          <p:cNvSpPr/>
          <p:nvPr/>
        </p:nvSpPr>
        <p:spPr>
          <a:xfrm>
            <a:off x="9421063" y="4398264"/>
            <a:ext cx="384048" cy="384048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9421063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950" dirty="0"/>
          </a:p>
        </p:txBody>
      </p:sp>
      <p:sp>
        <p:nvSpPr>
          <p:cNvPr id="80" name="Text 77"/>
          <p:cNvSpPr/>
          <p:nvPr/>
        </p:nvSpPr>
        <p:spPr>
          <a:xfrm>
            <a:off x="9905695" y="4398264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1100" dirty="0"/>
          </a:p>
        </p:txBody>
      </p:sp>
      <p:sp>
        <p:nvSpPr>
          <p:cNvPr id="81" name="Text 78"/>
          <p:cNvSpPr/>
          <p:nvPr/>
        </p:nvSpPr>
        <p:spPr>
          <a:xfrm>
            <a:off x="9905695" y="4632350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跨區複製源</a:t>
            </a:r>
            <a:endParaRPr lang="en-US" sz="850" dirty="0"/>
          </a:p>
        </p:txBody>
      </p:sp>
      <p:sp>
        <p:nvSpPr>
          <p:cNvPr id="82" name="Shape 79"/>
          <p:cNvSpPr/>
          <p:nvPr/>
        </p:nvSpPr>
        <p:spPr>
          <a:xfrm>
            <a:off x="5440680" y="3200400"/>
            <a:ext cx="1307592" cy="2057400"/>
          </a:xfrm>
          <a:prstGeom prst="roundRect">
            <a:avLst>
              <a:gd name="adj" fmla="val 6993"/>
            </a:avLst>
          </a:prstGeom>
          <a:solidFill>
            <a:srgbClr val="0A2540">
              <a:alpha val="92000"/>
            </a:srgbClr>
          </a:solidFill>
          <a:ln w="12700">
            <a:solidFill>
              <a:srgbClr val="F4A72B"/>
            </a:solidFill>
            <a:prstDash val="solid"/>
          </a:ln>
        </p:spPr>
      </p:sp>
      <p:sp>
        <p:nvSpPr>
          <p:cNvPr id="83" name="Text 80"/>
          <p:cNvSpPr/>
          <p:nvPr/>
        </p:nvSpPr>
        <p:spPr>
          <a:xfrm>
            <a:off x="5440680" y="3273552"/>
            <a:ext cx="1307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跨區複製 · 匯總</a:t>
            </a:r>
            <a:endParaRPr lang="en-US" sz="900" dirty="0"/>
          </a:p>
        </p:txBody>
      </p:sp>
      <p:sp>
        <p:nvSpPr>
          <p:cNvPr id="84" name="Shape 81"/>
          <p:cNvSpPr/>
          <p:nvPr/>
        </p:nvSpPr>
        <p:spPr>
          <a:xfrm>
            <a:off x="5532120" y="3602736"/>
            <a:ext cx="1124712" cy="384048"/>
          </a:xfrm>
          <a:prstGeom prst="roundRect">
            <a:avLst>
              <a:gd name="adj" fmla="val 14286"/>
            </a:avLst>
          </a:prstGeom>
          <a:solidFill>
            <a:srgbClr val="1B4D74"/>
          </a:solidFill>
          <a:ln/>
        </p:spPr>
      </p:sp>
      <p:sp>
        <p:nvSpPr>
          <p:cNvPr id="85" name="Text 82"/>
          <p:cNvSpPr/>
          <p:nvPr/>
        </p:nvSpPr>
        <p:spPr>
          <a:xfrm>
            <a:off x="5559552" y="3602736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DynamoDB
</a:t>
            </a:r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Global Tables ⇄ 雙向</a:t>
            </a:r>
            <a:endParaRPr lang="en-US" sz="900" dirty="0"/>
          </a:p>
        </p:txBody>
      </p:sp>
      <p:sp>
        <p:nvSpPr>
          <p:cNvPr id="86" name="Shape 83"/>
          <p:cNvSpPr/>
          <p:nvPr/>
        </p:nvSpPr>
        <p:spPr>
          <a:xfrm>
            <a:off x="5532120" y="4027932"/>
            <a:ext cx="1124712" cy="384048"/>
          </a:xfrm>
          <a:prstGeom prst="roundRect">
            <a:avLst>
              <a:gd name="adj" fmla="val 14286"/>
            </a:avLst>
          </a:prstGeom>
          <a:solidFill>
            <a:srgbClr val="1B4D74"/>
          </a:solidFill>
          <a:ln/>
        </p:spPr>
      </p:sp>
      <p:sp>
        <p:nvSpPr>
          <p:cNvPr id="87" name="Text 84"/>
          <p:cNvSpPr/>
          <p:nvPr/>
        </p:nvSpPr>
        <p:spPr>
          <a:xfrm>
            <a:off x="5559552" y="40279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 CRR
</a:t>
            </a:r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跨區複製備份</a:t>
            </a:r>
            <a:endParaRPr lang="en-US" sz="900" dirty="0"/>
          </a:p>
        </p:txBody>
      </p:sp>
      <p:sp>
        <p:nvSpPr>
          <p:cNvPr id="88" name="Shape 85"/>
          <p:cNvSpPr/>
          <p:nvPr/>
        </p:nvSpPr>
        <p:spPr>
          <a:xfrm>
            <a:off x="5532120" y="4453128"/>
            <a:ext cx="1124712" cy="384048"/>
          </a:xfrm>
          <a:prstGeom prst="roundRect">
            <a:avLst>
              <a:gd name="adj" fmla="val 14286"/>
            </a:avLst>
          </a:prstGeom>
          <a:solidFill>
            <a:srgbClr val="1B4D74"/>
          </a:solidFill>
          <a:ln/>
        </p:spPr>
      </p:sp>
      <p:sp>
        <p:nvSpPr>
          <p:cNvPr id="89" name="Text 86"/>
          <p:cNvSpPr/>
          <p:nvPr/>
        </p:nvSpPr>
        <p:spPr>
          <a:xfrm>
            <a:off x="5559552" y="4453128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EventBridge
</a:t>
            </a:r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跨區匯總</a:t>
            </a:r>
            <a:endParaRPr lang="en-US" sz="900" dirty="0"/>
          </a:p>
        </p:txBody>
      </p:sp>
      <p:sp>
        <p:nvSpPr>
          <p:cNvPr id="90" name="Shape 87"/>
          <p:cNvSpPr/>
          <p:nvPr/>
        </p:nvSpPr>
        <p:spPr>
          <a:xfrm>
            <a:off x="5532120" y="4878324"/>
            <a:ext cx="1124712" cy="384048"/>
          </a:xfrm>
          <a:prstGeom prst="roundRect">
            <a:avLst>
              <a:gd name="adj" fmla="val 14286"/>
            </a:avLst>
          </a:prstGeom>
          <a:solidFill>
            <a:srgbClr val="1B4D74"/>
          </a:solidFill>
          <a:ln/>
        </p:spPr>
      </p:sp>
      <p:sp>
        <p:nvSpPr>
          <p:cNvPr id="91" name="Text 88"/>
          <p:cNvSpPr/>
          <p:nvPr/>
        </p:nvSpPr>
        <p:spPr>
          <a:xfrm>
            <a:off x="5559552" y="4878324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E76F5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 / SES
</a:t>
            </a:r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即時告警</a:t>
            </a:r>
            <a:endParaRPr lang="en-US" sz="900" dirty="0"/>
          </a:p>
        </p:txBody>
      </p:sp>
      <p:sp>
        <p:nvSpPr>
          <p:cNvPr id="92" name="Shape 89"/>
          <p:cNvSpPr/>
          <p:nvPr/>
        </p:nvSpPr>
        <p:spPr>
          <a:xfrm>
            <a:off x="5358384" y="4251960"/>
            <a:ext cx="82296" cy="0"/>
          </a:xfrm>
          <a:prstGeom prst="line">
            <a:avLst/>
          </a:prstGeom>
          <a:noFill/>
          <a:ln w="19050">
            <a:solidFill>
              <a:srgbClr val="F4A72B"/>
            </a:solidFill>
            <a:prstDash val="solid"/>
            <a:headEnd type="triangle"/>
            <a:tailEnd type="triangle"/>
          </a:ln>
        </p:spPr>
      </p:sp>
      <p:sp>
        <p:nvSpPr>
          <p:cNvPr id="93" name="Shape 90"/>
          <p:cNvSpPr/>
          <p:nvPr/>
        </p:nvSpPr>
        <p:spPr>
          <a:xfrm>
            <a:off x="6757416" y="4251960"/>
            <a:ext cx="85039" cy="0"/>
          </a:xfrm>
          <a:prstGeom prst="line">
            <a:avLst/>
          </a:prstGeom>
          <a:noFill/>
          <a:ln w="19050">
            <a:solidFill>
              <a:srgbClr val="F4A72B"/>
            </a:solidFill>
            <a:prstDash val="solid"/>
            <a:headEnd type="triangle"/>
            <a:tailEnd type="triangle"/>
          </a:ln>
        </p:spPr>
      </p:sp>
      <p:sp>
        <p:nvSpPr>
          <p:cNvPr id="94" name="Shape 91"/>
          <p:cNvSpPr/>
          <p:nvPr/>
        </p:nvSpPr>
        <p:spPr>
          <a:xfrm>
            <a:off x="640080" y="5715000"/>
            <a:ext cx="10911535" cy="685800"/>
          </a:xfrm>
          <a:prstGeom prst="roundRect">
            <a:avLst>
              <a:gd name="adj" fmla="val 10667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914400" y="5715000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一區故障　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健康檢查失敗 → Route 53 自動剔除故障區、流量全導健康區；DynamoDB Global Tables 已雙向同步、S3 CRR 已備份 → RPO≈0、資料不丟、對外服務不中斷。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ocean-dee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5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74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74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11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SIDE-BY-SIDE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五案比較 — 現行方案 A 為出賽基準線</a:t>
            </a:r>
            <a:endParaRPr lang="en-US" sz="3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911535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965960"/>
                <a:gridCol w="1783080"/>
                <a:gridCol w="1463040"/>
                <a:gridCol w="1600200"/>
                <a:gridCol w="1554480"/>
                <a:gridCol w="112471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方案</a:t>
                      </a:r>
                      <a:endParaRPr lang="en-US" sz="11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運算</a:t>
                      </a:r>
                      <a:endParaRPr lang="en-US" sz="11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入口 / URL</a:t>
                      </a:r>
                      <a:endParaRPr lang="en-US" sz="11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閒置成本</a:t>
                      </a:r>
                      <a:endParaRPr lang="en-US" sz="11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維運</a:t>
                      </a:r>
                      <a:endParaRPr lang="en-US" sz="11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冷啟</a:t>
                      </a:r>
                      <a:endParaRPr lang="en-US" sz="11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黑客松適配</a:t>
                      </a:r>
                      <a:endParaRPr lang="en-US" sz="11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A 現行 ★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ECS Fargate 容器常駐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ALB 靜態 URL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低（小時費）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中（VPC/IAM）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無冷啟（常駐）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A9D8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★ 最高 · 已上線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7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B Serverless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Lambda 按呼叫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API Gateway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9D8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極低（近零）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中（元件多）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76F51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冷（Java Lambda）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4A72B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中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C App Runner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全託管容器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App Runner HTTPS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低-中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9D8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最低（免 ALB/VPC）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無冷啟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76F51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低 · 帳號受阻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D EC2+Docker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單台 EC2 常駐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Elastic IP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9D8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最低（單台）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76F51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高（自管/單點）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無冷啟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4A72B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中 · 保底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E 資料管線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Fargate + Glue/Athena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App / QuickSight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76F51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中高（掃描+授權）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76F51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高（多層）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—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4A72B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低 · 藍圖價值高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640080" y="5074920"/>
            <a:ext cx="201168" cy="201168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4" name="Text 10"/>
          <p:cNvSpPr/>
          <p:nvPr/>
        </p:nvSpPr>
        <p:spPr>
          <a:xfrm>
            <a:off x="914400" y="50292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已上線 / 佳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3154680" y="5074920"/>
            <a:ext cx="201168" cy="201168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16" name="Text 12"/>
          <p:cNvSpPr/>
          <p:nvPr/>
        </p:nvSpPr>
        <p:spPr>
          <a:xfrm>
            <a:off x="3429000" y="50292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需注意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669280" y="5074920"/>
            <a:ext cx="201168" cy="201168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8" name="Text 14"/>
          <p:cNvSpPr/>
          <p:nvPr/>
        </p:nvSpPr>
        <p:spPr>
          <a:xfrm>
            <a:off x="5943600" y="50292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受阻 / 高風險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640080" y="548640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20" name="Text 16"/>
          <p:cNvSpPr/>
          <p:nvPr/>
        </p:nvSpPr>
        <p:spPr>
          <a:xfrm>
            <a:off x="960120" y="548640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判讀　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 天黑客松以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A（現行強化）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為主線出賽（已上線、風險最低）；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D（EC2）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為托管服務受阻時的保底；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 / E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作為資料驅動與全艦隊願景的演進方向寫進簡報。C 因帳號 AccessDenied 暫不採用。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horizon-journe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60020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12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ROADMAP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從 15 艘 demo 到全艦隊即時營運平台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914400" y="2011680"/>
            <a:ext cx="10362895" cy="0"/>
          </a:xfrm>
          <a:prstGeom prst="line">
            <a:avLst/>
          </a:prstGeom>
          <a:noFill/>
          <a:ln w="38100">
            <a:solidFill>
              <a:srgbClr val="8FA8B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720558" y="1865376"/>
            <a:ext cx="292608" cy="292608"/>
          </a:xfrm>
          <a:prstGeom prst="ellipse">
            <a:avLst/>
          </a:prstGeom>
          <a:solidFill>
            <a:srgbClr val="2A9D8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226782" y="146304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15" name="Text 12"/>
          <p:cNvSpPr/>
          <p:nvPr/>
        </p:nvSpPr>
        <p:spPr>
          <a:xfrm>
            <a:off x="1226782" y="146304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現在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0080" y="2377440"/>
            <a:ext cx="2453564" cy="2240280"/>
          </a:xfrm>
          <a:prstGeom prst="roundRect">
            <a:avLst>
              <a:gd name="adj" fmla="val 3673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0080" y="2377440"/>
            <a:ext cx="2453564" cy="502920"/>
          </a:xfrm>
          <a:prstGeom prst="roundRect">
            <a:avLst>
              <a:gd name="adj" fmla="val 16364"/>
            </a:avLst>
          </a:prstGeom>
          <a:solidFill>
            <a:srgbClr val="2A9D8F"/>
          </a:solidFill>
          <a:ln/>
        </p:spPr>
      </p:sp>
      <p:sp>
        <p:nvSpPr>
          <p:cNvPr id="18" name="Shape 15"/>
          <p:cNvSpPr/>
          <p:nvPr/>
        </p:nvSpPr>
        <p:spPr>
          <a:xfrm>
            <a:off x="640080" y="2606040"/>
            <a:ext cx="2453564" cy="27432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2377440"/>
            <a:ext cx="22706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Phase 0 · Demo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2999232"/>
            <a:ext cx="20878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 艘 · 5 年報表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baked real-metrics.json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 Fargate + ALB 已上線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39882" y="1865376"/>
            <a:ext cx="292608" cy="292608"/>
          </a:xfrm>
          <a:prstGeom prst="ellipse">
            <a:avLst/>
          </a:prstGeom>
          <a:solidFill>
            <a:srgbClr val="1C729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046106" y="146304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3" name="Text 20"/>
          <p:cNvSpPr/>
          <p:nvPr/>
        </p:nvSpPr>
        <p:spPr>
          <a:xfrm>
            <a:off x="4046106" y="146304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近期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459404" y="2377440"/>
            <a:ext cx="2453564" cy="2240280"/>
          </a:xfrm>
          <a:prstGeom prst="roundRect">
            <a:avLst>
              <a:gd name="adj" fmla="val 3673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3459404" y="2377440"/>
            <a:ext cx="2453564" cy="502920"/>
          </a:xfrm>
          <a:prstGeom prst="roundRect">
            <a:avLst>
              <a:gd name="adj" fmla="val 16364"/>
            </a:avLst>
          </a:prstGeom>
          <a:solidFill>
            <a:srgbClr val="1C7293"/>
          </a:solidFill>
          <a:ln/>
        </p:spPr>
      </p:sp>
      <p:sp>
        <p:nvSpPr>
          <p:cNvPr id="26" name="Shape 23"/>
          <p:cNvSpPr/>
          <p:nvPr/>
        </p:nvSpPr>
        <p:spPr>
          <a:xfrm>
            <a:off x="3459404" y="2606040"/>
            <a:ext cx="2453564" cy="2743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4"/>
          <p:cNvSpPr/>
          <p:nvPr/>
        </p:nvSpPr>
        <p:spPr>
          <a:xfrm>
            <a:off x="3550844" y="2377440"/>
            <a:ext cx="22706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Phase 1 · 資料驅動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3642284" y="2999232"/>
            <a:ext cx="20878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系統介接 ingest API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檔案上傳 CSV/xlsx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後台設定門檻/通道/燃料對應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7359206" y="1865376"/>
            <a:ext cx="292608" cy="292608"/>
          </a:xfrm>
          <a:prstGeom prst="ellipse">
            <a:avLst/>
          </a:prstGeom>
          <a:solidFill>
            <a:srgbClr val="2F6E9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865430" y="146304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2F6E9E"/>
          </a:solidFill>
          <a:ln/>
        </p:spPr>
      </p:sp>
      <p:sp>
        <p:nvSpPr>
          <p:cNvPr id="31" name="Text 28"/>
          <p:cNvSpPr/>
          <p:nvPr/>
        </p:nvSpPr>
        <p:spPr>
          <a:xfrm>
            <a:off x="6865430" y="146304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中期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278728" y="2377440"/>
            <a:ext cx="2453564" cy="2240280"/>
          </a:xfrm>
          <a:prstGeom prst="roundRect">
            <a:avLst>
              <a:gd name="adj" fmla="val 3673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6278728" y="2377440"/>
            <a:ext cx="2453564" cy="502920"/>
          </a:xfrm>
          <a:prstGeom prst="roundRect">
            <a:avLst>
              <a:gd name="adj" fmla="val 16364"/>
            </a:avLst>
          </a:prstGeom>
          <a:solidFill>
            <a:srgbClr val="2F6E9E"/>
          </a:solidFill>
          <a:ln/>
        </p:spPr>
      </p:sp>
      <p:sp>
        <p:nvSpPr>
          <p:cNvPr id="34" name="Shape 31"/>
          <p:cNvSpPr/>
          <p:nvPr/>
        </p:nvSpPr>
        <p:spPr>
          <a:xfrm>
            <a:off x="6278728" y="2606040"/>
            <a:ext cx="2453564" cy="274320"/>
          </a:xfrm>
          <a:prstGeom prst="rect">
            <a:avLst/>
          </a:prstGeom>
          <a:solidFill>
            <a:srgbClr val="2F6E9E"/>
          </a:solidFill>
          <a:ln/>
        </p:spPr>
      </p:sp>
      <p:sp>
        <p:nvSpPr>
          <p:cNvPr id="35" name="Text 32"/>
          <p:cNvSpPr/>
          <p:nvPr/>
        </p:nvSpPr>
        <p:spPr>
          <a:xfrm>
            <a:off x="6370168" y="2377440"/>
            <a:ext cx="22706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Phase 2 · 全艦隊 + BI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6461608" y="2999232"/>
            <a:ext cx="20878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Serverless / 事件驅動重算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擴到 97 艘同架構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QuickSight / Athena 自助 BI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10178529" y="1865376"/>
            <a:ext cx="292608" cy="292608"/>
          </a:xfrm>
          <a:prstGeom prst="ellipse">
            <a:avLst/>
          </a:prstGeom>
          <a:solidFill>
            <a:srgbClr val="F4A72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9684753" y="146304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F4A72B"/>
          </a:solidFill>
          <a:ln/>
        </p:spPr>
      </p:sp>
      <p:sp>
        <p:nvSpPr>
          <p:cNvPr id="39" name="Text 36"/>
          <p:cNvSpPr/>
          <p:nvPr/>
        </p:nvSpPr>
        <p:spPr>
          <a:xfrm>
            <a:off x="9684753" y="146304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願景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9098051" y="2377440"/>
            <a:ext cx="2453564" cy="2240280"/>
          </a:xfrm>
          <a:prstGeom prst="roundRect">
            <a:avLst>
              <a:gd name="adj" fmla="val 3673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9098051" y="2377440"/>
            <a:ext cx="2453564" cy="502920"/>
          </a:xfrm>
          <a:prstGeom prst="roundRect">
            <a:avLst>
              <a:gd name="adj" fmla="val 16364"/>
            </a:avLst>
          </a:prstGeom>
          <a:solidFill>
            <a:srgbClr val="F4A72B"/>
          </a:solidFill>
          <a:ln/>
        </p:spPr>
      </p:sp>
      <p:sp>
        <p:nvSpPr>
          <p:cNvPr id="42" name="Shape 39"/>
          <p:cNvSpPr/>
          <p:nvPr/>
        </p:nvSpPr>
        <p:spPr>
          <a:xfrm>
            <a:off x="9098051" y="2606040"/>
            <a:ext cx="2453564" cy="274320"/>
          </a:xfrm>
          <a:prstGeom prst="rect">
            <a:avLst/>
          </a:prstGeom>
          <a:solidFill>
            <a:srgbClr val="F4A72B"/>
          </a:solidFill>
          <a:ln/>
        </p:spPr>
      </p:sp>
      <p:sp>
        <p:nvSpPr>
          <p:cNvPr id="43" name="Text 40"/>
          <p:cNvSpPr/>
          <p:nvPr/>
        </p:nvSpPr>
        <p:spPr>
          <a:xfrm>
            <a:off x="9189491" y="2377440"/>
            <a:ext cx="22706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Phase 3 · 即時 + ML</a:t>
            </a:r>
            <a:endParaRPr lang="en-US" sz="1300" dirty="0"/>
          </a:p>
        </p:txBody>
      </p:sp>
      <p:sp>
        <p:nvSpPr>
          <p:cNvPr id="44" name="Text 41"/>
          <p:cNvSpPr/>
          <p:nvPr/>
        </p:nvSpPr>
        <p:spPr>
          <a:xfrm>
            <a:off x="9280931" y="2999232"/>
            <a:ext cx="20878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IoT Core 船端即時遙測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SageMaker 油耗/衰退預測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近即時 Speed Loss 偵測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40080" y="5715000"/>
            <a:ext cx="10911535" cy="685800"/>
          </a:xfrm>
          <a:prstGeom prst="roundRect">
            <a:avLst>
              <a:gd name="adj" fmla="val 10667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14400" y="5715000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落地三扇門　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① 系統介接（TMS 推 noon report → 觸發重算）　② 檔案上傳（CSV/xlsx dryRun 預覽再落庫）　③ 後台設定（門檻 / 告警通道 / 燃料對應表 / 資料來源模式）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decision-light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13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DECISION CASCADE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決策級聯：正常 → 注意 → 行動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640080" y="1463040"/>
            <a:ext cx="10911535" cy="502920"/>
          </a:xfrm>
          <a:prstGeom prst="roundRect">
            <a:avLst>
              <a:gd name="adj" fmla="val 12727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841248" y="1463040"/>
            <a:ext cx="105091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同一套已上線服務，依 Speed Loss 對可調門檻的位置，把船分成三種決策狀態 — 數字觸發流程，最後一步永遠留給人。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40080" y="2148840"/>
            <a:ext cx="3332378" cy="3246120"/>
          </a:xfrm>
          <a:prstGeom prst="roundRect">
            <a:avLst>
              <a:gd name="adj" fmla="val 2535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0080" y="2148840"/>
            <a:ext cx="3332378" cy="658368"/>
          </a:xfrm>
          <a:prstGeom prst="roundRect">
            <a:avLst>
              <a:gd name="adj" fmla="val 12500"/>
            </a:avLst>
          </a:prstGeom>
          <a:solidFill>
            <a:srgbClr val="2A9D8F"/>
          </a:solidFill>
          <a:ln/>
        </p:spPr>
      </p:sp>
      <p:sp>
        <p:nvSpPr>
          <p:cNvPr id="16" name="Shape 13"/>
          <p:cNvSpPr/>
          <p:nvPr/>
        </p:nvSpPr>
        <p:spPr>
          <a:xfrm>
            <a:off x="640080" y="2487168"/>
            <a:ext cx="3332378" cy="320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7" name="Text 14"/>
          <p:cNvSpPr/>
          <p:nvPr/>
        </p:nvSpPr>
        <p:spPr>
          <a:xfrm>
            <a:off x="822960" y="2148840"/>
            <a:ext cx="29666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01　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正常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896112" y="2944368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條件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896112" y="3163824"/>
            <a:ext cx="28203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Speed Loss 低於門檻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品質旗標通過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96112" y="380390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系統動作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914400" y="4023360"/>
            <a:ext cx="280202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看板綠燈、持續監測</a:t>
            </a:r>
            <a:endParaRPr lang="en-US" sz="1050" dirty="0"/>
          </a:p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無需人工介入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22960" y="4828032"/>
            <a:ext cx="2966618" cy="493776"/>
          </a:xfrm>
          <a:prstGeom prst="roundRect">
            <a:avLst>
              <a:gd name="adj" fmla="val 11111"/>
            </a:avLst>
          </a:prstGeom>
          <a:solidFill>
            <a:srgbClr val="DCEFE9"/>
          </a:solidFill>
          <a:ln/>
        </p:spPr>
      </p:sp>
      <p:sp>
        <p:nvSpPr>
          <p:cNvPr id="23" name="Text 20"/>
          <p:cNvSpPr/>
          <p:nvPr/>
        </p:nvSpPr>
        <p:spPr>
          <a:xfrm>
            <a:off x="932688" y="4828032"/>
            <a:ext cx="278373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例　</a:t>
            </a:r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多數船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027322" y="3749040"/>
            <a:ext cx="347472" cy="0"/>
          </a:xfrm>
          <a:prstGeom prst="line">
            <a:avLst/>
          </a:prstGeom>
          <a:noFill/>
          <a:ln w="25400">
            <a:solidFill>
              <a:srgbClr val="8FA8BD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4429658" y="2148840"/>
            <a:ext cx="3332378" cy="3246120"/>
          </a:xfrm>
          <a:prstGeom prst="roundRect">
            <a:avLst>
              <a:gd name="adj" fmla="val 2535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429658" y="2148840"/>
            <a:ext cx="3332378" cy="658368"/>
          </a:xfrm>
          <a:prstGeom prst="roundRect">
            <a:avLst>
              <a:gd name="adj" fmla="val 12500"/>
            </a:avLst>
          </a:prstGeom>
          <a:solidFill>
            <a:srgbClr val="F4A72B"/>
          </a:solidFill>
          <a:ln/>
        </p:spPr>
      </p:sp>
      <p:sp>
        <p:nvSpPr>
          <p:cNvPr id="27" name="Shape 24"/>
          <p:cNvSpPr/>
          <p:nvPr/>
        </p:nvSpPr>
        <p:spPr>
          <a:xfrm>
            <a:off x="4429658" y="2487168"/>
            <a:ext cx="3332378" cy="320040"/>
          </a:xfrm>
          <a:prstGeom prst="rect">
            <a:avLst/>
          </a:prstGeom>
          <a:solidFill>
            <a:srgbClr val="F4A72B"/>
          </a:solidFill>
          <a:ln/>
        </p:spPr>
      </p:sp>
      <p:sp>
        <p:nvSpPr>
          <p:cNvPr id="28" name="Text 25"/>
          <p:cNvSpPr/>
          <p:nvPr/>
        </p:nvSpPr>
        <p:spPr>
          <a:xfrm>
            <a:off x="4612538" y="2148840"/>
            <a:ext cx="29666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02　</a:t>
            </a:r>
            <a:pPr indent="0" marL="0">
              <a:buNone/>
            </a:pPr>
            <a:r>
              <a:rPr lang="en-US" sz="19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注意</a:t>
            </a:r>
            <a:endParaRPr lang="en-US" sz="1900" dirty="0"/>
          </a:p>
        </p:txBody>
      </p:sp>
      <p:sp>
        <p:nvSpPr>
          <p:cNvPr id="29" name="Text 26"/>
          <p:cNvSpPr/>
          <p:nvPr/>
        </p:nvSpPr>
        <p:spPr>
          <a:xfrm>
            <a:off x="4685690" y="2944368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條件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4685690" y="3163824"/>
            <a:ext cx="28203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接近 / 跨越門檻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進 review 佇列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685690" y="380390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系統動作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4703978" y="4023360"/>
            <a:ext cx="280202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 產證據簡報</a:t>
            </a:r>
            <a:endParaRPr lang="en-US" sz="1050" dirty="0"/>
          </a:p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看板黃燈、reviewPriority 排序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612538" y="4828032"/>
            <a:ext cx="2966618" cy="493776"/>
          </a:xfrm>
          <a:prstGeom prst="roundRect">
            <a:avLst>
              <a:gd name="adj" fmla="val 11111"/>
            </a:avLst>
          </a:prstGeom>
          <a:solidFill>
            <a:srgbClr val="FBE7C2"/>
          </a:solidFill>
          <a:ln/>
        </p:spPr>
      </p:sp>
      <p:sp>
        <p:nvSpPr>
          <p:cNvPr id="34" name="Text 31"/>
          <p:cNvSpPr/>
          <p:nvPr/>
        </p:nvSpPr>
        <p:spPr>
          <a:xfrm>
            <a:off x="4722266" y="4828032"/>
            <a:ext cx="278373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例　</a:t>
            </a:r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S23 · 8.9%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7816901" y="3749040"/>
            <a:ext cx="347472" cy="0"/>
          </a:xfrm>
          <a:prstGeom prst="line">
            <a:avLst/>
          </a:prstGeom>
          <a:noFill/>
          <a:ln w="25400">
            <a:solidFill>
              <a:srgbClr val="8FA8BD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8219237" y="2148840"/>
            <a:ext cx="3332378" cy="3246120"/>
          </a:xfrm>
          <a:prstGeom prst="roundRect">
            <a:avLst>
              <a:gd name="adj" fmla="val 2535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19237" y="2148840"/>
            <a:ext cx="3332378" cy="658368"/>
          </a:xfrm>
          <a:prstGeom prst="roundRect">
            <a:avLst>
              <a:gd name="adj" fmla="val 12500"/>
            </a:avLst>
          </a:prstGeom>
          <a:solidFill>
            <a:srgbClr val="E76F51"/>
          </a:solidFill>
          <a:ln/>
        </p:spPr>
      </p:sp>
      <p:sp>
        <p:nvSpPr>
          <p:cNvPr id="38" name="Shape 35"/>
          <p:cNvSpPr/>
          <p:nvPr/>
        </p:nvSpPr>
        <p:spPr>
          <a:xfrm>
            <a:off x="8219237" y="2487168"/>
            <a:ext cx="3332378" cy="320040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39" name="Text 36"/>
          <p:cNvSpPr/>
          <p:nvPr/>
        </p:nvSpPr>
        <p:spPr>
          <a:xfrm>
            <a:off x="8402117" y="2148840"/>
            <a:ext cx="29666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03　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行動</a:t>
            </a:r>
            <a:endParaRPr lang="en-US" sz="1900" dirty="0"/>
          </a:p>
        </p:txBody>
      </p:sp>
      <p:sp>
        <p:nvSpPr>
          <p:cNvPr id="40" name="Text 37"/>
          <p:cNvSpPr/>
          <p:nvPr/>
        </p:nvSpPr>
        <p:spPr>
          <a:xfrm>
            <a:off x="8475269" y="2944368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條件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8475269" y="3163824"/>
            <a:ext cx="28203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持續跨越 + 高信心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觸發告警扇出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475269" y="380390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系統動作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8493557" y="4023360"/>
            <a:ext cx="280202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/alerts/notify → SNS 告警</a:t>
            </a:r>
            <a:endParaRPr lang="en-US" sz="1050" dirty="0"/>
          </a:p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人安排水下檢查 / 清洗 / 打磨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8402117" y="4828032"/>
            <a:ext cx="2966618" cy="493776"/>
          </a:xfrm>
          <a:prstGeom prst="roundRect">
            <a:avLst>
              <a:gd name="adj" fmla="val 11111"/>
            </a:avLst>
          </a:prstGeom>
          <a:solidFill>
            <a:srgbClr val="F7DAD1"/>
          </a:solidFill>
          <a:ln/>
        </p:spPr>
      </p:sp>
      <p:sp>
        <p:nvSpPr>
          <p:cNvPr id="45" name="Text 42"/>
          <p:cNvSpPr/>
          <p:nvPr/>
        </p:nvSpPr>
        <p:spPr>
          <a:xfrm>
            <a:off x="8511845" y="4828032"/>
            <a:ext cx="278373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例　</a:t>
            </a:r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S11 · 21.8%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822960" y="5358384"/>
            <a:ext cx="29666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常態監測中</a:t>
            </a:r>
            <a:endParaRPr lang="en-US" sz="850" dirty="0"/>
          </a:p>
        </p:txBody>
      </p:sp>
      <p:sp>
        <p:nvSpPr>
          <p:cNvPr id="47" name="Text 44"/>
          <p:cNvSpPr/>
          <p:nvPr/>
        </p:nvSpPr>
        <p:spPr>
          <a:xfrm>
            <a:off x="4612538" y="5358384"/>
            <a:ext cx="29666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n=506 · HIGH · priority 2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8402117" y="5358384"/>
            <a:ext cx="29666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539 有效日 · 691 天未清 · priority 1</a:t>
            </a:r>
            <a:endParaRPr lang="en-US" sz="850" dirty="0"/>
          </a:p>
        </p:txBody>
      </p:sp>
      <p:sp>
        <p:nvSpPr>
          <p:cNvPr id="49" name="Shape 46"/>
          <p:cNvSpPr/>
          <p:nvPr/>
        </p:nvSpPr>
        <p:spPr>
          <a:xfrm>
            <a:off x="640080" y="5806440"/>
            <a:ext cx="10911535" cy="594360"/>
          </a:xfrm>
          <a:prstGeom prst="roundRect">
            <a:avLst>
              <a:gd name="adj" fmla="val 12308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896112" y="5806440"/>
            <a:ext cx="104543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人在迴路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門檻可調（/config/threshold）、扇出通道可換（SNS → SES / Slack）。系統只做「更快、可解釋、可行動」的證據，清不清、何時清由海事專家拍板。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port-dus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6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2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2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14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9509760" y="4206240"/>
            <a:ext cx="2743200" cy="2743200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085832" y="4782312"/>
            <a:ext cx="1591056" cy="1591056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607040" y="5303520"/>
            <a:ext cx="548640" cy="548640"/>
          </a:xfrm>
          <a:prstGeom prst="ellipse">
            <a:avLst/>
          </a:prstGeom>
          <a:solidFill>
            <a:srgbClr val="1B4D74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現場導覽：一個穩定 URL，三個入口</a:t>
            </a:r>
            <a:endParaRPr lang="en-US" sz="3600" dirty="0"/>
          </a:p>
        </p:txBody>
      </p:sp>
      <p:sp>
        <p:nvSpPr>
          <p:cNvPr id="15" name="Shape 12"/>
          <p:cNvSpPr/>
          <p:nvPr/>
        </p:nvSpPr>
        <p:spPr>
          <a:xfrm>
            <a:off x="640080" y="1463040"/>
            <a:ext cx="10911535" cy="457200"/>
          </a:xfrm>
          <a:prstGeom prst="roundRect">
            <a:avLst>
              <a:gd name="adj" fmla="val 14000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6" name="Text 13"/>
          <p:cNvSpPr/>
          <p:nvPr/>
        </p:nvSpPr>
        <p:spPr>
          <a:xfrm>
            <a:off x="841248" y="1463040"/>
            <a:ext cx="105091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同一顆 Fargate 容器、同一個 ALB 靜態網域，task 重啟不換位址 — 三個頁面現場可直接打開。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40080" y="2148840"/>
            <a:ext cx="3362858" cy="2514600"/>
          </a:xfrm>
          <a:prstGeom prst="roundRect">
            <a:avLst>
              <a:gd name="adj" fmla="val 4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5121F">
                <a:alpha val="4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914400" y="2423160"/>
            <a:ext cx="457200" cy="457200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4400" y="2414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508760" y="2331720"/>
            <a:ext cx="23570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產品首頁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914400" y="3063240"/>
            <a:ext cx="2814218" cy="457200"/>
          </a:xfrm>
          <a:prstGeom prst="roundRect">
            <a:avLst>
              <a:gd name="adj" fmla="val 12000"/>
            </a:avLst>
          </a:prstGeom>
          <a:solidFill>
            <a:srgbClr val="0A2540"/>
          </a:solidFill>
          <a:ln/>
        </p:spPr>
      </p:sp>
      <p:sp>
        <p:nvSpPr>
          <p:cNvPr id="22" name="Text 19"/>
          <p:cNvSpPr/>
          <p:nvPr/>
        </p:nvSpPr>
        <p:spPr>
          <a:xfrm>
            <a:off x="914400" y="306324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/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914400" y="3657600"/>
            <a:ext cx="28142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命題、方法（ISO 19030 · k=FOC/STW³）與價值主張概覽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414418" y="2148840"/>
            <a:ext cx="3362858" cy="2514600"/>
          </a:xfrm>
          <a:prstGeom prst="roundRect">
            <a:avLst>
              <a:gd name="adj" fmla="val 4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5121F">
                <a:alpha val="45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688738" y="2423160"/>
            <a:ext cx="457200" cy="457200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688738" y="2414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283098" y="2331720"/>
            <a:ext cx="23570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決策看板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4688738" y="3063240"/>
            <a:ext cx="2814218" cy="457200"/>
          </a:xfrm>
          <a:prstGeom prst="roundRect">
            <a:avLst>
              <a:gd name="adj" fmla="val 12000"/>
            </a:avLst>
          </a:prstGeom>
          <a:solidFill>
            <a:srgbClr val="0A2540"/>
          </a:solidFill>
          <a:ln/>
        </p:spPr>
      </p:sp>
      <p:sp>
        <p:nvSpPr>
          <p:cNvPr id="29" name="Text 26"/>
          <p:cNvSpPr/>
          <p:nvPr/>
        </p:nvSpPr>
        <p:spPr>
          <a:xfrm>
            <a:off x="4688738" y="306324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/dashboard.html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4688738" y="3657600"/>
            <a:ext cx="28142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 艘 Speed Loss 排序、證據序列、AI 簡報與可調門檻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8188757" y="2148840"/>
            <a:ext cx="3362858" cy="2514600"/>
          </a:xfrm>
          <a:prstGeom prst="roundRect">
            <a:avLst>
              <a:gd name="adj" fmla="val 4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5121F">
                <a:alpha val="45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8463077" y="2423160"/>
            <a:ext cx="457200" cy="457200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463077" y="2414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9057437" y="2331720"/>
            <a:ext cx="23570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架構互動圖</a:t>
            </a:r>
            <a:endParaRPr lang="en-US" sz="1700" dirty="0"/>
          </a:p>
        </p:txBody>
      </p:sp>
      <p:sp>
        <p:nvSpPr>
          <p:cNvPr id="35" name="Shape 32"/>
          <p:cNvSpPr/>
          <p:nvPr/>
        </p:nvSpPr>
        <p:spPr>
          <a:xfrm>
            <a:off x="8463077" y="3063240"/>
            <a:ext cx="2814218" cy="457200"/>
          </a:xfrm>
          <a:prstGeom prst="roundRect">
            <a:avLst>
              <a:gd name="adj" fmla="val 12000"/>
            </a:avLst>
          </a:prstGeom>
          <a:solidFill>
            <a:srgbClr val="0A2540"/>
          </a:solidFill>
          <a:ln/>
        </p:spPr>
      </p:sp>
      <p:sp>
        <p:nvSpPr>
          <p:cNvPr id="36" name="Text 33"/>
          <p:cNvSpPr/>
          <p:nvPr/>
        </p:nvSpPr>
        <p:spPr>
          <a:xfrm>
            <a:off x="8463077" y="306324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/architecture.html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8463077" y="3657600"/>
            <a:ext cx="28142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本簡報架構的網頁版：服務節點、資料流與方案對照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640080" y="4983480"/>
            <a:ext cx="10911535" cy="841248"/>
          </a:xfrm>
          <a:prstGeom prst="roundRect">
            <a:avLst>
              <a:gd name="adj" fmla="val 9783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60120" y="4983480"/>
            <a:ext cx="102714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Base　</a:t>
            </a:r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http://fleetmind-alb-330672315.us-east-1.elb.amazonaws.com</a:t>
            </a:r>
            <a:endParaRPr lang="en-US" sz="1550" dirty="0"/>
          </a:p>
        </p:txBody>
      </p:sp>
      <p:sp>
        <p:nvSpPr>
          <p:cNvPr id="40" name="Text 37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帳號 516665228894 · us-east-1 · ECS Fargate (ARM64) 常駐 · ALB 靜態 URL 不換位址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horizon-journe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4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0A2540">
              <a:alpha val="86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9144000" y="1005840"/>
            <a:ext cx="2926080" cy="2926080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758477" y="1620317"/>
            <a:ext cx="1697126" cy="1697126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314432" y="2176272"/>
            <a:ext cx="585216" cy="585216"/>
          </a:xfrm>
          <a:prstGeom prst="ellipse">
            <a:avLst/>
          </a:prstGeom>
          <a:solidFill>
            <a:srgbClr val="1B4D74"/>
          </a:solidFill>
          <a:ln/>
        </p:spPr>
      </p:sp>
      <p:sp>
        <p:nvSpPr>
          <p:cNvPr id="8" name="Shape 5"/>
          <p:cNvSpPr/>
          <p:nvPr/>
        </p:nvSpPr>
        <p:spPr>
          <a:xfrm>
            <a:off x="9646920" y="1508760"/>
            <a:ext cx="1920240" cy="1920240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050170" y="1912010"/>
            <a:ext cx="1113739" cy="1113739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415016" y="2276856"/>
            <a:ext cx="384048" cy="384048"/>
          </a:xfrm>
          <a:prstGeom prst="ellipse">
            <a:avLst/>
          </a:prstGeom>
          <a:solidFill>
            <a:srgbClr val="1B4D74"/>
          </a:solidFill>
          <a:ln/>
        </p:spPr>
      </p:sp>
      <p:sp>
        <p:nvSpPr>
          <p:cNvPr id="11" name="Shape 8"/>
          <p:cNvSpPr/>
          <p:nvPr/>
        </p:nvSpPr>
        <p:spPr>
          <a:xfrm>
            <a:off x="457200" y="1097280"/>
            <a:ext cx="8138160" cy="3429000"/>
          </a:xfrm>
          <a:prstGeom prst="roundRect">
            <a:avLst>
              <a:gd name="adj" fmla="val 3200"/>
            </a:avLst>
          </a:prstGeom>
          <a:solidFill>
            <a:srgbClr val="0A2540">
              <a:alpha val="82000"/>
            </a:srgbClr>
          </a:solidFill>
          <a:ln/>
          <a:effectLst>
            <a:outerShdw sx="100000" sy="100000" kx="0" ky="0" algn="bl" rotWithShape="0" blurRad="177800" dist="50800" dir="5400000">
              <a:srgbClr val="04101B">
                <a:alpha val="5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40080" y="13716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一個命題，五種上雲路徑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40080" y="182880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穩穩 demo，</a:t>
            </a:r>
            <a:endParaRPr lang="en-US" sz="4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也留得住未來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640080" y="356616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以已上線的 Fargate + ALB 為基準線穩定出賽，用 EC2 保底、用 Serverless 與資料分析管線描繪從 15 艘到全艦隊的營運藍圖 — 讓數字站得住、決策留給人。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40080" y="470916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960120" y="4709160"/>
            <a:ext cx="102714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Live Demo　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http://fleetmind-alb-330672315.us-east-1.elb.amazonaws.com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40080" y="5715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帳號 516665228894 · us-east-1 · ECS Fargate (ARM64) + ALB + ECR + Bedrock (Claude Haiku) + SNS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6080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FleetMind　數字來自計算　語言來自 AI　決策留給人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FleetMind — AWS 架構藍圖與方案比較</dc:title>
  <dc:subject>PptxGenJS Presentation</dc:subject>
  <dc:creator>FleetMind</dc:creator>
  <cp:lastModifiedBy>FleetMind</cp:lastModifiedBy>
  <cp:revision>1</cp:revision>
  <dcterms:created xsi:type="dcterms:W3CDTF">2026-07-15T02:08:06Z</dcterms:created>
  <dcterms:modified xsi:type="dcterms:W3CDTF">2026-07-15T02:08:06Z</dcterms:modified>
</cp:coreProperties>
</file>