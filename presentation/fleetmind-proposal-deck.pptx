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500acced4045ab" /><Relationship Type="http://schemas.openxmlformats.org/officeDocument/2006/relationships/extended-properties" Target="/docProps/app.xml" Id="R7bf3498115e24dea" /><Relationship Type="http://schemas.openxmlformats.org/officeDocument/2006/relationships/officeDocument" Target="/ppt/presentation.xml" Id="R98459aa2cd7e44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b71c961e6544f6"/>
  </p:sldMasterIdLst>
  <p:notesMasterIdLst>
    <p:notesMasterId xmlns:r="http://schemas.openxmlformats.org/officeDocument/2006/relationships" r:id="R93b396a06ea741ba"/>
  </p:notesMasterIdLst>
  <p:sldIdLst>
    <p:sldId xmlns:r="http://schemas.openxmlformats.org/officeDocument/2006/relationships" id="256" r:id="R8483ae4ff2cb4006"/>
    <p:sldId xmlns:r="http://schemas.openxmlformats.org/officeDocument/2006/relationships" id="257" r:id="Ra1582e72e9364522"/>
    <p:sldId xmlns:r="http://schemas.openxmlformats.org/officeDocument/2006/relationships" id="258" r:id="R532748364e654d02"/>
    <p:sldId xmlns:r="http://schemas.openxmlformats.org/officeDocument/2006/relationships" id="259" r:id="R0fa43aa516c94e62"/>
    <p:sldId xmlns:r="http://schemas.openxmlformats.org/officeDocument/2006/relationships" id="260" r:id="R486a9dd994154387"/>
    <p:sldId xmlns:r="http://schemas.openxmlformats.org/officeDocument/2006/relationships" id="261" r:id="Rb57c6dc0c51144c3"/>
    <p:sldId xmlns:r="http://schemas.openxmlformats.org/officeDocument/2006/relationships" id="262" r:id="Rc164ec39d14642cd"/>
    <p:sldId xmlns:r="http://schemas.openxmlformats.org/officeDocument/2006/relationships" id="263" r:id="Rd46ee01c30944a27"/>
    <p:sldId xmlns:r="http://schemas.openxmlformats.org/officeDocument/2006/relationships" id="264" r:id="R3403f2891947420a"/>
    <p:sldId xmlns:r="http://schemas.openxmlformats.org/officeDocument/2006/relationships" id="265" r:id="R9581859ce4164f10"/>
    <p:sldId xmlns:r="http://schemas.openxmlformats.org/officeDocument/2006/relationships" id="266" r:id="Rcf30ce4711c24133"/>
    <p:sldId xmlns:r="http://schemas.openxmlformats.org/officeDocument/2006/relationships" id="267" r:id="Rf78ce98138fc479e"/>
    <p:sldId xmlns:r="http://schemas.openxmlformats.org/officeDocument/2006/relationships" id="268" r:id="R32d43d2b16204f8d"/>
    <p:sldId xmlns:r="http://schemas.openxmlformats.org/officeDocument/2006/relationships" id="269" r:id="Rdcb6d05f593c4f5c"/>
    <p:sldId xmlns:r="http://schemas.openxmlformats.org/officeDocument/2006/relationships" id="270" r:id="R4af2e8925a424654"/>
    <p:sldId xmlns:r="http://schemas.openxmlformats.org/officeDocument/2006/relationships" id="271" r:id="R207ab434cf8f487c"/>
    <p:sldId xmlns:r="http://schemas.openxmlformats.org/officeDocument/2006/relationships" id="272" r:id="Rc9db1bd69c394261"/>
    <p:sldId xmlns:r="http://schemas.openxmlformats.org/officeDocument/2006/relationships" id="273" r:id="R730c02beb7624bfb"/>
    <p:sldId xmlns:r="http://schemas.openxmlformats.org/officeDocument/2006/relationships" id="274" r:id="Rda9637abfae041b0"/>
    <p:sldId xmlns:r="http://schemas.openxmlformats.org/officeDocument/2006/relationships" id="275" r:id="R3cfd5a9de52b46f8"/>
    <p:sldId xmlns:r="http://schemas.openxmlformats.org/officeDocument/2006/relationships" id="276" r:id="R132f406951734e75"/>
    <p:sldId xmlns:r="http://schemas.openxmlformats.org/officeDocument/2006/relationships" id="277" r:id="R204c736e7df64084"/>
    <p:sldId xmlns:r="http://schemas.openxmlformats.org/officeDocument/2006/relationships" id="278" r:id="Re931e3a793134bb5"/>
    <p:sldId xmlns:r="http://schemas.openxmlformats.org/officeDocument/2006/relationships" id="279" r:id="R98ba197d14704dd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d72f6090094a3b" /><Relationship Type="http://schemas.openxmlformats.org/officeDocument/2006/relationships/slideMaster" Target="/ppt/slideMasters/slideMaster1.xml" Id="Rcbb71c961e6544f6" /><Relationship Type="http://schemas.openxmlformats.org/officeDocument/2006/relationships/notesMaster" Target="/ppt/notesMasters/notesMaster1.xml" Id="R93b396a06ea741ba" /><Relationship Type="http://schemas.openxmlformats.org/officeDocument/2006/relationships/presProps" Target="/ppt/presProps.xml" Id="Rfef290408d7c403e" /><Relationship Type="http://schemas.openxmlformats.org/officeDocument/2006/relationships/tableStyles" Target="/ppt/tableStyles.xml" Id="R1062c2cc567e476d" /><Relationship Type="http://schemas.openxmlformats.org/officeDocument/2006/relationships/slide" Target="/ppt/slides/slide1.xml" Id="R8483ae4ff2cb4006" /><Relationship Type="http://schemas.openxmlformats.org/officeDocument/2006/relationships/slide" Target="/ppt/slides/slide2.xml" Id="Ra1582e72e9364522" /><Relationship Type="http://schemas.openxmlformats.org/officeDocument/2006/relationships/slide" Target="/ppt/slides/slide3.xml" Id="R532748364e654d02" /><Relationship Type="http://schemas.openxmlformats.org/officeDocument/2006/relationships/slide" Target="/ppt/slides/slide4.xml" Id="R0fa43aa516c94e62" /><Relationship Type="http://schemas.openxmlformats.org/officeDocument/2006/relationships/slide" Target="/ppt/slides/slide5.xml" Id="R486a9dd994154387" /><Relationship Type="http://schemas.openxmlformats.org/officeDocument/2006/relationships/slide" Target="/ppt/slides/slide6.xml" Id="Rb57c6dc0c51144c3" /><Relationship Type="http://schemas.openxmlformats.org/officeDocument/2006/relationships/slide" Target="/ppt/slides/slide7.xml" Id="Rc164ec39d14642cd" /><Relationship Type="http://schemas.openxmlformats.org/officeDocument/2006/relationships/slide" Target="/ppt/slides/slide8.xml" Id="Rd46ee01c30944a27" /><Relationship Type="http://schemas.openxmlformats.org/officeDocument/2006/relationships/slide" Target="/ppt/slides/slide9.xml" Id="R3403f2891947420a" /><Relationship Type="http://schemas.openxmlformats.org/officeDocument/2006/relationships/slide" Target="/ppt/slides/slide10.xml" Id="R9581859ce4164f10" /><Relationship Type="http://schemas.openxmlformats.org/officeDocument/2006/relationships/slide" Target="/ppt/slides/slide11.xml" Id="Rcf30ce4711c24133" /><Relationship Type="http://schemas.openxmlformats.org/officeDocument/2006/relationships/slide" Target="/ppt/slides/slide12.xml" Id="Rf78ce98138fc479e" /><Relationship Type="http://schemas.openxmlformats.org/officeDocument/2006/relationships/slide" Target="/ppt/slides/slide13.xml" Id="R32d43d2b16204f8d" /><Relationship Type="http://schemas.openxmlformats.org/officeDocument/2006/relationships/slide" Target="/ppt/slides/slide14.xml" Id="Rdcb6d05f593c4f5c" /><Relationship Type="http://schemas.openxmlformats.org/officeDocument/2006/relationships/slide" Target="/ppt/slides/slide15.xml" Id="R4af2e8925a424654" /><Relationship Type="http://schemas.openxmlformats.org/officeDocument/2006/relationships/slide" Target="/ppt/slides/slide16.xml" Id="R207ab434cf8f487c" /><Relationship Type="http://schemas.openxmlformats.org/officeDocument/2006/relationships/slide" Target="/ppt/slides/slide17.xml" Id="Rc9db1bd69c394261" /><Relationship Type="http://schemas.openxmlformats.org/officeDocument/2006/relationships/slide" Target="/ppt/slides/slide18.xml" Id="R730c02beb7624bfb" /><Relationship Type="http://schemas.openxmlformats.org/officeDocument/2006/relationships/slide" Target="/ppt/slides/slide19.xml" Id="Rda9637abfae041b0" /><Relationship Type="http://schemas.openxmlformats.org/officeDocument/2006/relationships/slide" Target="/ppt/slides/slide20.xml" Id="R3cfd5a9de52b46f8" /><Relationship Type="http://schemas.openxmlformats.org/officeDocument/2006/relationships/slide" Target="/ppt/slides/slide21.xml" Id="R132f406951734e75" /><Relationship Type="http://schemas.openxmlformats.org/officeDocument/2006/relationships/slide" Target="/ppt/slides/slide22.xml" Id="R204c736e7df64084" /><Relationship Type="http://schemas.openxmlformats.org/officeDocument/2006/relationships/slide" Target="/ppt/slides/slide23.xml" Id="Re931e3a793134bb5" /><Relationship Type="http://schemas.openxmlformats.org/officeDocument/2006/relationships/slide" Target="/ppt/slides/slide24.xml" Id="R98ba197d14704d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853d95f3bb42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0058102a1b4909" /><Relationship Type="http://schemas.openxmlformats.org/officeDocument/2006/relationships/notesMaster" Target="/ppt/notesMasters/notesMaster1.xml" Id="R733c2c96514b41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3c088775b54434" /><Relationship Type="http://schemas.openxmlformats.org/officeDocument/2006/relationships/notesMaster" Target="/ppt/notesMasters/notesMaster1.xml" Id="Rcfb66442318047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936868a01c4d9e" /><Relationship Type="http://schemas.openxmlformats.org/officeDocument/2006/relationships/notesMaster" Target="/ppt/notesMasters/notesMaster1.xml" Id="Rb6ad23c7e79942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34e3c9163e4edc" /><Relationship Type="http://schemas.openxmlformats.org/officeDocument/2006/relationships/notesMaster" Target="/ppt/notesMasters/notesMaster1.xml" Id="R5e42c4589c7244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ac41b5cb554ff4" /><Relationship Type="http://schemas.openxmlformats.org/officeDocument/2006/relationships/notesMaster" Target="/ppt/notesMasters/notesMaster1.xml" Id="R88332a9ed0d745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4807f31ab349d7" /><Relationship Type="http://schemas.openxmlformats.org/officeDocument/2006/relationships/notesMaster" Target="/ppt/notesMasters/notesMaster1.xml" Id="R3d58f3c8f2964d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103a905daf4fd4" /><Relationship Type="http://schemas.openxmlformats.org/officeDocument/2006/relationships/notesMaster" Target="/ppt/notesMasters/notesMaster1.xml" Id="R3fd8e12f957847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fb7f224e044b20" /><Relationship Type="http://schemas.openxmlformats.org/officeDocument/2006/relationships/notesMaster" Target="/ppt/notesMasters/notesMaster1.xml" Id="R3bd6143bda5f48d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2260b8e5b04664" /><Relationship Type="http://schemas.openxmlformats.org/officeDocument/2006/relationships/notesMaster" Target="/ppt/notesMasters/notesMaster1.xml" Id="R261d016058424d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561ebf2a524e6a" /><Relationship Type="http://schemas.openxmlformats.org/officeDocument/2006/relationships/notesMaster" Target="/ppt/notesMasters/notesMaster1.xml" Id="R4832c335c1c3429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1fe49bc78364ac4" /><Relationship Type="http://schemas.openxmlformats.org/officeDocument/2006/relationships/notesMaster" Target="/ppt/notesMasters/notesMaster1.xml" Id="R7c5c0881dea1425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df8c258ad245ce" /><Relationship Type="http://schemas.openxmlformats.org/officeDocument/2006/relationships/notesMaster" Target="/ppt/notesMasters/notesMaster1.xml" Id="R31609525ca774b6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3eb700e78a54857" /><Relationship Type="http://schemas.openxmlformats.org/officeDocument/2006/relationships/notesMaster" Target="/ppt/notesMasters/notesMaster1.xml" Id="Rbb33e23b371c444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0cb5703f77d46a5" /><Relationship Type="http://schemas.openxmlformats.org/officeDocument/2006/relationships/notesMaster" Target="/ppt/notesMasters/notesMaster1.xml" Id="Re8aaffe4acad44d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086abc0cf964226" /><Relationship Type="http://schemas.openxmlformats.org/officeDocument/2006/relationships/notesMaster" Target="/ppt/notesMasters/notesMaster1.xml" Id="R73ce4b6776b64f4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868c825484c4c5e" /><Relationship Type="http://schemas.openxmlformats.org/officeDocument/2006/relationships/notesMaster" Target="/ppt/notesMasters/notesMaster1.xml" Id="Rd9296836d0ab4c7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a50ee7507214a7f" /><Relationship Type="http://schemas.openxmlformats.org/officeDocument/2006/relationships/notesMaster" Target="/ppt/notesMasters/notesMaster1.xml" Id="R13c6fb48f8d841b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9fffc5c15f145dc" /><Relationship Type="http://schemas.openxmlformats.org/officeDocument/2006/relationships/notesMaster" Target="/ppt/notesMasters/notesMaster1.xml" Id="R469144f69d44489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f34d9a25ff14444" /><Relationship Type="http://schemas.openxmlformats.org/officeDocument/2006/relationships/notesMaster" Target="/ppt/notesMasters/notesMaster1.xml" Id="R0b7de42e146c4c6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d5c7bf6fe454227" /><Relationship Type="http://schemas.openxmlformats.org/officeDocument/2006/relationships/notesMaster" Target="/ppt/notesMasters/notesMaster1.xml" Id="R9852349b42d4495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9d02facb1274ec3" /><Relationship Type="http://schemas.openxmlformats.org/officeDocument/2006/relationships/notesMaster" Target="/ppt/notesMasters/notesMaster1.xml" Id="Rfa44067fb3c8478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e7409081f0940bb" /><Relationship Type="http://schemas.openxmlformats.org/officeDocument/2006/relationships/notesMaster" Target="/ppt/notesMasters/notesMaster1.xml" Id="R216d5afa28fb484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2cc77f0e3ab4654" /><Relationship Type="http://schemas.openxmlformats.org/officeDocument/2006/relationships/notesMaster" Target="/ppt/notesMasters/notesMaster1.xml" Id="R489d13e98f354ff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085e3055abb4ec2" /><Relationship Type="http://schemas.openxmlformats.org/officeDocument/2006/relationships/notesMaster" Target="/ppt/notesMasters/notesMaster1.xml" Id="Reb9d2ce6db8f49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money number before naming features.</a:t>
            </a:r>
          </a:p>
          <a:p xmlns:a="http://schemas.openxmlformats.org/drawingml/2006/main">
            <a:r>
              <a:t>Say this is a demo scenario until real data is frozen.</a:t>
            </a:r>
          </a:p>
          <a:p xmlns:a="http://schemas.openxmlformats.org/drawingml/2006/main">
            <a:r>
              <a:t>Reinforce that FleetMind supports human review, not automatic maintenance orders.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explain why the deck starts with a number instead of an agenda.</a:t>
            </a:r>
          </a:p>
          <a:p xmlns:a="http://schemas.openxmlformats.org/drawingml/2006/main">
            <a:r>
              <a:t>The scoring table becomes the narrative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short: fuel cost, limited shore-side capacity, maintenance decision.</a:t>
            </a:r>
          </a:p>
          <a:p xmlns:a="http://schemas.openxmlformats.org/drawingml/2006/main">
            <a:r>
              <a:t>Avoid generic AI chatbot language.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protects the 25% automatic score.</a:t>
            </a:r>
          </a:p>
          <a:p xmlns:a="http://schemas.openxmlformats.org/drawingml/2006/main">
            <a:r>
              <a:t>Say filters never delete rows from FUEL_CONSUMP.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this slide by moving into the live demo.</a:t>
            </a:r>
          </a:p>
          <a:p xmlns:a="http://schemas.openxmlformats.org/drawingml/2006/main">
            <a:r>
              <a:t>Emphasize same-denominator before-after and unexplained residual.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payback as decision support, not an automatic instruction.</a:t>
            </a:r>
          </a:p>
          <a:p xmlns:a="http://schemas.openxmlformats.org/drawingml/2006/main">
            <a:r>
              <a:t>If judges challenge price assumptions, point to the assumption labels.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defend the simple architecture as a deliberate decision.</a:t>
            </a:r>
          </a:p>
          <a:p xmlns:a="http://schemas.openxmlformats.org/drawingml/2006/main">
            <a:r>
              <a:t>Mention App Runner only if the event account already has access; otherwise ECS Express Mode or EC2 fallback.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apologize. Say this is the most honest version the provided noon reports can support.</a:t>
            </a:r>
          </a:p>
          <a:p xmlns:a="http://schemas.openxmlformats.org/drawingml/2006/main">
            <a:r>
              <a:t>Bridge to Q&amp;A backup slides if judges ask deeper method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returning to the exact opening promise.</a:t>
            </a:r>
          </a:p>
          <a:p xmlns:a="http://schemas.openxmlformats.org/drawingml/2006/main">
            <a:r>
              <a:t>Do not end on architecture details.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only if asked.</a:t>
            </a:r>
          </a:p>
          <a:p xmlns:a="http://schemas.openxmlformats.org/drawingml/2006/main">
            <a:r>
              <a:t>Keep answer under 40 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only if asked.</a:t>
            </a:r>
          </a:p>
          <a:p xmlns:a="http://schemas.openxmlformats.org/drawingml/2006/main">
            <a:r>
              <a:t>Keep answer under 40 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only if asked.</a:t>
            </a:r>
          </a:p>
          <a:p xmlns:a="http://schemas.openxmlformats.org/drawingml/2006/main">
            <a:r>
              <a:t>Keep answer under 40 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only if asked.</a:t>
            </a:r>
          </a:p>
          <a:p xmlns:a="http://schemas.openxmlformats.org/drawingml/2006/main">
            <a:r>
              <a:t>Keep answer under 40 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only if asked.</a:t>
            </a:r>
          </a:p>
          <a:p xmlns:a="http://schemas.openxmlformats.org/drawingml/2006/main">
            <a:r>
              <a:t>Keep answer under 40 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only if asked.</a:t>
            </a:r>
          </a:p>
          <a:p xmlns:a="http://schemas.openxmlformats.org/drawingml/2006/main">
            <a:r>
              <a:t>Keep answer under 40 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only if asked.</a:t>
            </a:r>
          </a:p>
          <a:p xmlns:a="http://schemas.openxmlformats.org/drawingml/2006/main">
            <a:r>
              <a:t>Keep answer under 40 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only if asked.</a:t>
            </a:r>
          </a:p>
          <a:p xmlns:a="http://schemas.openxmlformats.org/drawingml/2006/main">
            <a:r>
              <a:t>Keep answer under 40 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only if asked.</a:t>
            </a:r>
          </a:p>
          <a:p xmlns:a="http://schemas.openxmlformats.org/drawingml/2006/main">
            <a:r>
              <a:t>Keep answer under 40 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only if asked.</a:t>
            </a:r>
          </a:p>
          <a:p xmlns:a="http://schemas.openxmlformats.org/drawingml/2006/main">
            <a:r>
              <a:t>Keep answer under 40 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only if asked.</a:t>
            </a:r>
          </a:p>
          <a:p xmlns:a="http://schemas.openxmlformats.org/drawingml/2006/main">
            <a:r>
              <a:t>Keep answer under 40 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only if asked.</a:t>
            </a:r>
          </a:p>
          <a:p xmlns:a="http://schemas.openxmlformats.org/drawingml/2006/main">
            <a:r>
              <a:t>Keep answer under 40 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only if asked.</a:t>
            </a:r>
          </a:p>
          <a:p xmlns:a="http://schemas.openxmlformats.org/drawingml/2006/main">
            <a:r>
              <a:t>Keep answer under 40 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only if asked.</a:t>
            </a:r>
          </a:p>
          <a:p xmlns:a="http://schemas.openxmlformats.org/drawingml/2006/main">
            <a:r>
              <a:t>Keep answer under 40 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only if asked.</a:t>
            </a:r>
          </a:p>
          <a:p xmlns:a="http://schemas.openxmlformats.org/drawingml/2006/main">
            <a:r>
              <a:t>Keep answer under 40 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7ec36181d40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e85887b385471e" /><Relationship Type="http://schemas.openxmlformats.org/officeDocument/2006/relationships/slideLayout" Target="/ppt/slideLayouts/slideLayout1.xml" Id="R1490ed80ccbb47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90ed80ccbb47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450c8764a4015" /><Relationship Type="http://schemas.openxmlformats.org/officeDocument/2006/relationships/notesSlide" Target="/ppt/notesSlides/notesSlide1.xml" Id="Rbebf037a37ae43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48ca77ce2e44fc" /><Relationship Type="http://schemas.openxmlformats.org/officeDocument/2006/relationships/notesSlide" Target="/ppt/notesSlides/notesSlide2.xml" Id="R2b4e6c301ef741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60459c10a4288" /><Relationship Type="http://schemas.openxmlformats.org/officeDocument/2006/relationships/notesSlide" Target="/ppt/notesSlides/notesSlide3.xml" Id="R6a33f382259e4c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28885b957c4201" /><Relationship Type="http://schemas.openxmlformats.org/officeDocument/2006/relationships/notesSlide" Target="/ppt/notesSlides/notesSlide4.xml" Id="R1eed7e7ad2894d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7a410fcb74c7f" /><Relationship Type="http://schemas.openxmlformats.org/officeDocument/2006/relationships/notesSlide" Target="/ppt/notesSlides/notesSlide5.xml" Id="Rfc75dc6a779343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0cc0fc2864922" /><Relationship Type="http://schemas.openxmlformats.org/officeDocument/2006/relationships/notesSlide" Target="/ppt/notesSlides/notesSlide6.xml" Id="R90d633e0da4c4cb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22b797b3a4136" /><Relationship Type="http://schemas.openxmlformats.org/officeDocument/2006/relationships/notesSlide" Target="/ppt/notesSlides/notesSlide7.xml" Id="Rb9f62a74f23249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45d1f94fbb48c7" /><Relationship Type="http://schemas.openxmlformats.org/officeDocument/2006/relationships/notesSlide" Target="/ppt/notesSlides/notesSlide8.xml" Id="R17c2e370a85441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c62fa93b014cd2" /><Relationship Type="http://schemas.openxmlformats.org/officeDocument/2006/relationships/notesSlide" Target="/ppt/notesSlides/notesSlide9.xml" Id="Re244cc382b3c4c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c187a20324c99" /><Relationship Type="http://schemas.openxmlformats.org/officeDocument/2006/relationships/notesSlide" Target="/ppt/notesSlides/notesSlide10.xml" Id="Rfcb509557c854eb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80779894d54f5b" /><Relationship Type="http://schemas.openxmlformats.org/officeDocument/2006/relationships/notesSlide" Target="/ppt/notesSlides/notesSlide11.xml" Id="Rd0f7a290bc124c5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5f0e524dd417c" /><Relationship Type="http://schemas.openxmlformats.org/officeDocument/2006/relationships/notesSlide" Target="/ppt/notesSlides/notesSlide12.xml" Id="R04f30024cd9f474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dcf4d8f49549ec" /><Relationship Type="http://schemas.openxmlformats.org/officeDocument/2006/relationships/notesSlide" Target="/ppt/notesSlides/notesSlide13.xml" Id="R591f45d59dbf4d0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fa824decad4087" /><Relationship Type="http://schemas.openxmlformats.org/officeDocument/2006/relationships/notesSlide" Target="/ppt/notesSlides/notesSlide14.xml" Id="Rebf39f6eb7fe4f6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1adfef366d47e5" /><Relationship Type="http://schemas.openxmlformats.org/officeDocument/2006/relationships/notesSlide" Target="/ppt/notesSlides/notesSlide15.xml" Id="R240d36eb3e4e44e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62e2fcec24291" /><Relationship Type="http://schemas.openxmlformats.org/officeDocument/2006/relationships/notesSlide" Target="/ppt/notesSlides/notesSlide16.xml" Id="R974e687cfdb44ac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51bcccab44eb1" /><Relationship Type="http://schemas.openxmlformats.org/officeDocument/2006/relationships/notesSlide" Target="/ppt/notesSlides/notesSlide17.xml" Id="R6213a260820f4c2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0506bca5204a84" /><Relationship Type="http://schemas.openxmlformats.org/officeDocument/2006/relationships/notesSlide" Target="/ppt/notesSlides/notesSlide18.xml" Id="R7e93a1a2fb794e9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9c7ee92ded4470" /><Relationship Type="http://schemas.openxmlformats.org/officeDocument/2006/relationships/notesSlide" Target="/ppt/notesSlides/notesSlide19.xml" Id="Re0d73ca3fcbd467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3d5e8487e44b7e" /><Relationship Type="http://schemas.openxmlformats.org/officeDocument/2006/relationships/notesSlide" Target="/ppt/notesSlides/notesSlide20.xml" Id="Read5acb2560649b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4bf07a015a47f1" /><Relationship Type="http://schemas.openxmlformats.org/officeDocument/2006/relationships/notesSlide" Target="/ppt/notesSlides/notesSlide21.xml" Id="Rbf343907b7014a3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f25acd9abe408f" /><Relationship Type="http://schemas.openxmlformats.org/officeDocument/2006/relationships/notesSlide" Target="/ppt/notesSlides/notesSlide22.xml" Id="Rfa2c0825f060499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339fd6d5f4185" /><Relationship Type="http://schemas.openxmlformats.org/officeDocument/2006/relationships/notesSlide" Target="/ppt/notesSlides/notesSlide23.xml" Id="Rfba37fe742c645d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164e93233416b" /><Relationship Type="http://schemas.openxmlformats.org/officeDocument/2006/relationships/notesSlide" Target="/ppt/notesSlides/notesSlide24.xml" Id="Re3604062c0f149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EB0594F-866A-4D75-BD73-BC4DC795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Opening money number</a:t>
            </a:r>
          </a:p>
        </p:txBody>
      </p:sp>
      <p:sp>
        <p:nvSpPr>
          <p:cNvPr id="2" name="score-chip-bg">
            <a:extLst xmlns:a="http://schemas.openxmlformats.org/drawingml/2006/main">
              <a:ext uri="{FF2B5EF4-FFF2-40B4-BE49-F238E27FC236}">
                <a16:creationId xmlns:a16="http://schemas.microsoft.com/office/drawing/2014/main" id="{49E35979-FE68-4DAD-A02E-5F6F8E9E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3350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core-chip">
            <a:extLst xmlns:a="http://schemas.openxmlformats.org/drawingml/2006/main">
              <a:ext uri="{FF2B5EF4-FFF2-40B4-BE49-F238E27FC236}">
                <a16:creationId xmlns:a16="http://schemas.microsoft.com/office/drawing/2014/main" id="{130B19D4-D003-4E27-A8DD-94CB5D35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050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Business 20%</a:t>
            </a:r>
          </a:p>
        </p:txBody>
      </p:sp>
      <p:sp>
        <p:nvSpPr>
          <p:cNvPr id="4" name="hero-title">
            <a:extLst xmlns:a="http://schemas.openxmlformats.org/drawingml/2006/main">
              <a:ext uri="{FF2B5EF4-FFF2-40B4-BE49-F238E27FC236}">
                <a16:creationId xmlns:a16="http://schemas.microsoft.com/office/drawing/2014/main" id="{DD1448CE-198D-48F2-A0EB-57B5F126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19150"/>
            <a:ext cx="7429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00000"/>
                </a:solidFill>
              </a:defRPr>
            </a:pPr>
            <a:r>
              <a:rPr sz="4650" b="1">
                <a:solidFill>
                  <a:srgbClr val="000000"/>
                </a:solidFill>
              </a:rPr>
              <a:t>這艘船每天多燒 3.0 噸油</a:t>
            </a:r>
          </a:p>
        </p:txBody>
      </p:sp>
      <p:sp>
        <p:nvSpPr>
          <p:cNvPr id="5" name="hero-subtitle">
            <a:extLst xmlns:a="http://schemas.openxmlformats.org/drawingml/2006/main">
              <a:ext uri="{FF2B5EF4-FFF2-40B4-BE49-F238E27FC236}">
                <a16:creationId xmlns:a16="http://schemas.microsoft.com/office/drawing/2014/main" id="{41E21BF4-D55A-4754-96A0-055831B8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9075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燃油加碳成本約 USD 2,370/day；年化約 USD 865k。若清潔成本 USD 40k，回本 16.87 天。</a:t>
            </a:r>
          </a:p>
        </p:txBody>
      </p:sp>
      <p:sp>
        <p:nvSpPr>
          <p:cNvPr id="6" name="positioning-bg">
            <a:extLst xmlns:a="http://schemas.openxmlformats.org/drawingml/2006/main">
              <a:ext uri="{FF2B5EF4-FFF2-40B4-BE49-F238E27FC236}">
                <a16:creationId xmlns:a16="http://schemas.microsoft.com/office/drawing/2014/main" id="{E1468B7D-288C-4DB4-BCBD-51652105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19150"/>
            <a:ext cx="31432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positioning-title">
            <a:extLst xmlns:a="http://schemas.openxmlformats.org/drawingml/2006/main">
              <a:ext uri="{FF2B5EF4-FFF2-40B4-BE49-F238E27FC236}">
                <a16:creationId xmlns:a16="http://schemas.microsoft.com/office/drawing/2014/main" id="{3C3F9086-7E81-427B-8436-52D399EC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99060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FleetMind 做很窄的事</a:t>
            </a:r>
          </a:p>
        </p:txBody>
      </p:sp>
      <p:sp>
        <p:nvSpPr>
          <p:cNvPr id="8" name="positioning-body">
            <a:extLst xmlns:a="http://schemas.openxmlformats.org/drawingml/2006/main">
              <a:ext uri="{FF2B5EF4-FFF2-40B4-BE49-F238E27FC236}">
                <a16:creationId xmlns:a16="http://schemas.microsoft.com/office/drawing/2014/main" id="{C80ADD66-5FA3-4F76-9230-38863EF8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390650"/>
            <a:ext cx="28003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先用確定性計算找 Speed Loss、FUEL_CONSUMP、ROI；再讓 Bedrock 把證據講成營運語言。AI 不替人下維修命令。</a:t>
            </a:r>
          </a:p>
        </p:txBody>
      </p:sp>
      <p:sp>
        <p:nvSpPr>
          <p:cNvPr id="9" name="m1-bg">
            <a:extLst xmlns:a="http://schemas.openxmlformats.org/drawingml/2006/main">
              <a:ext uri="{FF2B5EF4-FFF2-40B4-BE49-F238E27FC236}">
                <a16:creationId xmlns:a16="http://schemas.microsoft.com/office/drawing/2014/main" id="{5F721DA7-1C9F-405C-874D-C781FB68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25527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m1-label">
            <a:extLst xmlns:a="http://schemas.openxmlformats.org/drawingml/2006/main">
              <a:ext uri="{FF2B5EF4-FFF2-40B4-BE49-F238E27FC236}">
                <a16:creationId xmlns:a16="http://schemas.microsoft.com/office/drawing/2014/main" id="{CA8BCFF6-1644-4F22-93FE-663F8C60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Extra fuel</a:t>
            </a:r>
          </a:p>
        </p:txBody>
      </p:sp>
      <p:sp>
        <p:nvSpPr>
          <p:cNvPr id="11" name="m1-value">
            <a:extLst xmlns:a="http://schemas.openxmlformats.org/drawingml/2006/main">
              <a:ext uri="{FF2B5EF4-FFF2-40B4-BE49-F238E27FC236}">
                <a16:creationId xmlns:a16="http://schemas.microsoft.com/office/drawing/2014/main" id="{6CD133B8-1824-49B7-BD8A-87D44627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76675"/>
            <a:ext cx="220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6B35"/>
                </a:solidFill>
              </a:defRPr>
            </a:pPr>
            <a:r>
              <a:rPr sz="3000" b="1">
                <a:solidFill>
                  <a:srgbClr val="FF6B35"/>
                </a:solidFill>
              </a:rPr>
              <a:t>3.0 MT/day</a:t>
            </a:r>
          </a:p>
        </p:txBody>
      </p:sp>
      <p:sp>
        <p:nvSpPr>
          <p:cNvPr id="12" name="m1-sub">
            <a:extLst xmlns:a="http://schemas.openxmlformats.org/drawingml/2006/main">
              <a:ext uri="{FF2B5EF4-FFF2-40B4-BE49-F238E27FC236}">
                <a16:creationId xmlns:a16="http://schemas.microsoft.com/office/drawing/2014/main" id="{E493A794-7F1B-4C50-8F86-A0C77032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57700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Observed 61.0 vs baseline 58.0 MT/day</a:t>
            </a:r>
          </a:p>
        </p:txBody>
      </p:sp>
      <p:sp>
        <p:nvSpPr>
          <p:cNvPr id="13" name="m2-bg">
            <a:extLst xmlns:a="http://schemas.openxmlformats.org/drawingml/2006/main">
              <a:ext uri="{FF2B5EF4-FFF2-40B4-BE49-F238E27FC236}">
                <a16:creationId xmlns:a16="http://schemas.microsoft.com/office/drawing/2014/main" id="{B1EA0554-CBA7-4393-ADCE-0D6C6AF2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29000"/>
            <a:ext cx="25527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m2-label">
            <a:extLst xmlns:a="http://schemas.openxmlformats.org/drawingml/2006/main">
              <a:ext uri="{FF2B5EF4-FFF2-40B4-BE49-F238E27FC236}">
                <a16:creationId xmlns:a16="http://schemas.microsoft.com/office/drawing/2014/main" id="{3749485D-B41C-4F05-996D-72570DE1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0045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Avoidable cost</a:t>
            </a:r>
          </a:p>
        </p:txBody>
      </p:sp>
      <p:sp>
        <p:nvSpPr>
          <p:cNvPr id="15" name="m2-value">
            <a:extLst xmlns:a="http://schemas.openxmlformats.org/drawingml/2006/main">
              <a:ext uri="{FF2B5EF4-FFF2-40B4-BE49-F238E27FC236}">
                <a16:creationId xmlns:a16="http://schemas.microsoft.com/office/drawing/2014/main" id="{5948F12E-FA29-47E6-92E9-EEC812CD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76675"/>
            <a:ext cx="220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6B35"/>
                </a:solidFill>
              </a:defRPr>
            </a:pPr>
            <a:r>
              <a:rPr sz="3000" b="1">
                <a:solidFill>
                  <a:srgbClr val="FF6B35"/>
                </a:solidFill>
              </a:rPr>
              <a:t>USD 2,370</a:t>
            </a:r>
          </a:p>
        </p:txBody>
      </p:sp>
      <p:sp>
        <p:nvSpPr>
          <p:cNvPr id="16" name="m2-sub">
            <a:extLst xmlns:a="http://schemas.openxmlformats.org/drawingml/2006/main">
              <a:ext uri="{FF2B5EF4-FFF2-40B4-BE49-F238E27FC236}">
                <a16:creationId xmlns:a16="http://schemas.microsoft.com/office/drawing/2014/main" id="{9A2F2230-F204-4572-B942-2519F05D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57700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Fuel USD 1,950 + EU ETS scenario USD 420</a:t>
            </a:r>
          </a:p>
        </p:txBody>
      </p:sp>
      <p:sp>
        <p:nvSpPr>
          <p:cNvPr id="17" name="m3-bg">
            <a:extLst xmlns:a="http://schemas.openxmlformats.org/drawingml/2006/main">
              <a:ext uri="{FF2B5EF4-FFF2-40B4-BE49-F238E27FC236}">
                <a16:creationId xmlns:a16="http://schemas.microsoft.com/office/drawing/2014/main" id="{DD1E1C59-051B-441F-9B69-188F1D09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29000"/>
            <a:ext cx="25527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m3-label">
            <a:extLst xmlns:a="http://schemas.openxmlformats.org/drawingml/2006/main">
              <a:ext uri="{FF2B5EF4-FFF2-40B4-BE49-F238E27FC236}">
                <a16:creationId xmlns:a16="http://schemas.microsoft.com/office/drawing/2014/main" id="{0C58FAF8-A75E-44E9-B2C2-CFF71C3C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0045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Annualized</a:t>
            </a:r>
          </a:p>
        </p:txBody>
      </p:sp>
      <p:sp>
        <p:nvSpPr>
          <p:cNvPr id="19" name="m3-value">
            <a:extLst xmlns:a="http://schemas.openxmlformats.org/drawingml/2006/main">
              <a:ext uri="{FF2B5EF4-FFF2-40B4-BE49-F238E27FC236}">
                <a16:creationId xmlns:a16="http://schemas.microsoft.com/office/drawing/2014/main" id="{EC20C82F-80CD-4F7F-82FB-85A94C7F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76675"/>
            <a:ext cx="220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USD 865k</a:t>
            </a:r>
          </a:p>
        </p:txBody>
      </p:sp>
      <p:sp>
        <p:nvSpPr>
          <p:cNvPr id="20" name="m3-sub">
            <a:extLst xmlns:a="http://schemas.openxmlformats.org/drawingml/2006/main">
              <a:ext uri="{FF2B5EF4-FFF2-40B4-BE49-F238E27FC236}">
                <a16:creationId xmlns:a16="http://schemas.microsoft.com/office/drawing/2014/main" id="{5745F7A5-B274-4D52-9420-E8CFE5B0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57700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Decision framing, not model output</a:t>
            </a:r>
          </a:p>
        </p:txBody>
      </p:sp>
      <p:sp>
        <p:nvSpPr>
          <p:cNvPr id="21" name="m4-bg">
            <a:extLst xmlns:a="http://schemas.openxmlformats.org/drawingml/2006/main">
              <a:ext uri="{FF2B5EF4-FFF2-40B4-BE49-F238E27FC236}">
                <a16:creationId xmlns:a16="http://schemas.microsoft.com/office/drawing/2014/main" id="{39808C61-7690-400D-8488-16AEF261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29000"/>
            <a:ext cx="25527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m4-label">
            <a:extLst xmlns:a="http://schemas.openxmlformats.org/drawingml/2006/main">
              <a:ext uri="{FF2B5EF4-FFF2-40B4-BE49-F238E27FC236}">
                <a16:creationId xmlns:a16="http://schemas.microsoft.com/office/drawing/2014/main" id="{122F3014-AE31-410E-B64D-454CABF3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0045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Payback</a:t>
            </a:r>
          </a:p>
        </p:txBody>
      </p:sp>
      <p:sp>
        <p:nvSpPr>
          <p:cNvPr id="23" name="m4-value">
            <a:extLst xmlns:a="http://schemas.openxmlformats.org/drawingml/2006/main">
              <a:ext uri="{FF2B5EF4-FFF2-40B4-BE49-F238E27FC236}">
                <a16:creationId xmlns:a16="http://schemas.microsoft.com/office/drawing/2014/main" id="{59B5E1C6-C612-40D3-BF7A-E05BEB4B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876675"/>
            <a:ext cx="220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E7D4F"/>
                </a:solidFill>
              </a:defRPr>
            </a:pPr>
            <a:r>
              <a:rPr sz="3000" b="1">
                <a:solidFill>
                  <a:srgbClr val="1E7D4F"/>
                </a:solidFill>
              </a:rPr>
              <a:t>16.87 days</a:t>
            </a:r>
          </a:p>
        </p:txBody>
      </p:sp>
      <p:sp>
        <p:nvSpPr>
          <p:cNvPr id="24" name="m4-sub">
            <a:extLst xmlns:a="http://schemas.openxmlformats.org/drawingml/2006/main">
              <a:ext uri="{FF2B5EF4-FFF2-40B4-BE49-F238E27FC236}">
                <a16:creationId xmlns:a16="http://schemas.microsoft.com/office/drawing/2014/main" id="{DFA75066-E0A8-40F2-A53A-FEECADC7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457700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USD 40k cleaning scenario</a:t>
            </a:r>
          </a:p>
        </p:txBody>
      </p:sp>
      <p:sp>
        <p:nvSpPr>
          <p:cNvPr id="25" name="assumption">
            <a:extLst xmlns:a="http://schemas.openxmlformats.org/drawingml/2006/main">
              <a:ext uri="{FF2B5EF4-FFF2-40B4-BE49-F238E27FC236}">
                <a16:creationId xmlns:a16="http://schemas.microsoft.com/office/drawing/2014/main" id="{1B7E3E29-939A-440B-9464-6EAE13B3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Demo scenario assumptions: VLSFO USD 650/MT, EU ETS USD 90/tCO2, 50% ETS coverage, cleaning USD 40k.</a:t>
            </a:r>
          </a:p>
        </p:txBody>
      </p:sp>
      <p:sp>
        <p:nvSpPr>
          <p:cNvPr id="2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663EFAC-5DED-4C5D-B8DD-5D27C7D8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862C1DEC-7216-4AA9-B438-66855050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55555"/>
                </a:solidFill>
              </a:defRPr>
            </a:pPr>
            <a:r>
              <a:rPr sz="750" b="0">
                <a:solidFill>
                  <a:srgbClr val="555555"/>
                </a:solidFill>
              </a:rPr>
              <a:t>docs/15 §1-2 scenario values; replace with Day2 18:00 frozen data</a:t>
            </a:r>
          </a:p>
        </p:txBody>
      </p:sp>
      <p:sp>
        <p:nvSpPr>
          <p:cNvPr id="2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B260AED-B6E6-4B27-9E97-398CDCB4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5555"/>
                </a:solidFill>
              </a:defRPr>
            </a:pPr>
            <a:r>
              <a:rPr sz="750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513650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FF59504-B47B-4174-8107-887A25C7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FleetMind / Yang Ming AWS AI Hackathon</a:t>
            </a:r>
          </a:p>
        </p:txBody>
      </p:sp>
      <p:sp>
        <p:nvSpPr>
          <p:cNvPr id="2" name="score-chip-bg">
            <a:extLst xmlns:a="http://schemas.openxmlformats.org/drawingml/2006/main">
              <a:ext uri="{FF2B5EF4-FFF2-40B4-BE49-F238E27FC236}">
                <a16:creationId xmlns:a16="http://schemas.microsoft.com/office/drawing/2014/main" id="{08CF3FBE-9292-44E3-8C41-CB7F986A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3350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core-chip">
            <a:extLst xmlns:a="http://schemas.openxmlformats.org/drawingml/2006/main">
              <a:ext uri="{FF2B5EF4-FFF2-40B4-BE49-F238E27FC236}">
                <a16:creationId xmlns:a16="http://schemas.microsoft.com/office/drawing/2014/main" id="{EB73F8E1-18BD-42B6-AACC-BAA80F5F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050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Scoring map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3923D0-D77E-434B-AB3A-D99369B8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分數安排先對準 55% 硬盤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5575273-9A0A-409E-888C-2D5C3AA6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764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陽明評分核心是 Speed Loss dashboard 與 FUEL_CONSUMP 正確性；商務價值緊接在 demo 後收分。</a:t>
            </a:r>
          </a:p>
        </p:txBody>
      </p:sp>
      <p:sp>
        <p:nvSpPr>
          <p:cNvPr id="6" name="b1-label">
            <a:extLst xmlns:a="http://schemas.openxmlformats.org/drawingml/2006/main">
              <a:ext uri="{FF2B5EF4-FFF2-40B4-BE49-F238E27FC236}">
                <a16:creationId xmlns:a16="http://schemas.microsoft.com/office/drawing/2014/main" id="{861C25F1-DA40-4DEA-A486-DB1903BC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Speed Loss dashboard</a:t>
            </a:r>
          </a:p>
        </p:txBody>
      </p:sp>
      <p:sp>
        <p:nvSpPr>
          <p:cNvPr id="7" name="b1-track">
            <a:extLst xmlns:a="http://schemas.openxmlformats.org/drawingml/2006/main">
              <a:ext uri="{FF2B5EF4-FFF2-40B4-BE49-F238E27FC236}">
                <a16:creationId xmlns:a16="http://schemas.microsoft.com/office/drawing/2014/main" id="{EB51E808-D54B-46D6-8745-302DD3C4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098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1-fill">
            <a:extLst xmlns:a="http://schemas.openxmlformats.org/drawingml/2006/main">
              <a:ext uri="{FF2B5EF4-FFF2-40B4-BE49-F238E27FC236}">
                <a16:creationId xmlns:a16="http://schemas.microsoft.com/office/drawing/2014/main" id="{7017CB13-B45F-40B6-ACB4-FEABCB38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098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1-value">
            <a:extLst xmlns:a="http://schemas.openxmlformats.org/drawingml/2006/main">
              <a:ext uri="{FF2B5EF4-FFF2-40B4-BE49-F238E27FC236}">
                <a16:creationId xmlns:a16="http://schemas.microsoft.com/office/drawing/2014/main" id="{B82E4C77-11B5-435F-81D0-9E476095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622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30%</a:t>
            </a:r>
          </a:p>
        </p:txBody>
      </p:sp>
      <p:sp>
        <p:nvSpPr>
          <p:cNvPr id="10" name="b2-label">
            <a:extLst xmlns:a="http://schemas.openxmlformats.org/drawingml/2006/main">
              <a:ext uri="{FF2B5EF4-FFF2-40B4-BE49-F238E27FC236}">
                <a16:creationId xmlns:a16="http://schemas.microsoft.com/office/drawing/2014/main" id="{DC54A660-446A-40FE-9FBA-7BD40989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FUEL_CONSUMP objective correctness</a:t>
            </a:r>
          </a:p>
        </p:txBody>
      </p:sp>
      <p:sp>
        <p:nvSpPr>
          <p:cNvPr id="11" name="b2-track">
            <a:extLst xmlns:a="http://schemas.openxmlformats.org/drawingml/2006/main">
              <a:ext uri="{FF2B5EF4-FFF2-40B4-BE49-F238E27FC236}">
                <a16:creationId xmlns:a16="http://schemas.microsoft.com/office/drawing/2014/main" id="{AE6FB95F-DC22-4319-930F-1AA45D9C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623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2-fill">
            <a:extLst xmlns:a="http://schemas.openxmlformats.org/drawingml/2006/main">
              <a:ext uri="{FF2B5EF4-FFF2-40B4-BE49-F238E27FC236}">
                <a16:creationId xmlns:a16="http://schemas.microsoft.com/office/drawing/2014/main" id="{46932C4F-A4C4-48F1-A30B-16D9F7C4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62300"/>
            <a:ext cx="3095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2-value">
            <a:extLst xmlns:a="http://schemas.openxmlformats.org/drawingml/2006/main">
              <a:ext uri="{FF2B5EF4-FFF2-40B4-BE49-F238E27FC236}">
                <a16:creationId xmlns:a16="http://schemas.microsoft.com/office/drawing/2014/main" id="{6691E3DD-0155-4E44-8654-F704CBC8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146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25%</a:t>
            </a:r>
          </a:p>
        </p:txBody>
      </p:sp>
      <p:sp>
        <p:nvSpPr>
          <p:cNvPr id="14" name="b3-label">
            <a:extLst xmlns:a="http://schemas.openxmlformats.org/drawingml/2006/main">
              <a:ext uri="{FF2B5EF4-FFF2-40B4-BE49-F238E27FC236}">
                <a16:creationId xmlns:a16="http://schemas.microsoft.com/office/drawing/2014/main" id="{4CCDDF9E-340A-4E92-A00F-90CDF463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576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Business decision value</a:t>
            </a:r>
          </a:p>
        </p:txBody>
      </p:sp>
      <p:sp>
        <p:nvSpPr>
          <p:cNvPr id="15" name="b3-track">
            <a:extLst xmlns:a="http://schemas.openxmlformats.org/drawingml/2006/main">
              <a:ext uri="{FF2B5EF4-FFF2-40B4-BE49-F238E27FC236}">
                <a16:creationId xmlns:a16="http://schemas.microsoft.com/office/drawing/2014/main" id="{83B3A991-2C1A-4C9F-8AE2-D43E782C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147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3-fill">
            <a:extLst xmlns:a="http://schemas.openxmlformats.org/drawingml/2006/main">
              <a:ext uri="{FF2B5EF4-FFF2-40B4-BE49-F238E27FC236}">
                <a16:creationId xmlns:a16="http://schemas.microsoft.com/office/drawing/2014/main" id="{97BF3ADC-FA61-4635-B468-6FFE9669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147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3-value">
            <a:extLst xmlns:a="http://schemas.openxmlformats.org/drawingml/2006/main">
              <a:ext uri="{FF2B5EF4-FFF2-40B4-BE49-F238E27FC236}">
                <a16:creationId xmlns:a16="http://schemas.microsoft.com/office/drawing/2014/main" id="{9554881F-AE63-45D3-A24C-53E419FF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671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7D4F"/>
                </a:solidFill>
              </a:defRPr>
            </a:pPr>
            <a:r>
              <a:rPr sz="1275" b="1">
                <a:solidFill>
                  <a:srgbClr val="1E7D4F"/>
                </a:solidFill>
              </a:rPr>
              <a:t>20%</a:t>
            </a:r>
          </a:p>
        </p:txBody>
      </p:sp>
      <p:sp>
        <p:nvSpPr>
          <p:cNvPr id="18" name="b4-label">
            <a:extLst xmlns:a="http://schemas.openxmlformats.org/drawingml/2006/main">
              <a:ext uri="{FF2B5EF4-FFF2-40B4-BE49-F238E27FC236}">
                <a16:creationId xmlns:a16="http://schemas.microsoft.com/office/drawing/2014/main" id="{CE78BF25-8346-44D7-A4B3-E6168997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Technical feasibility</a:t>
            </a:r>
          </a:p>
        </p:txBody>
      </p:sp>
      <p:sp>
        <p:nvSpPr>
          <p:cNvPr id="19" name="b4-track">
            <a:extLst xmlns:a="http://schemas.openxmlformats.org/drawingml/2006/main">
              <a:ext uri="{FF2B5EF4-FFF2-40B4-BE49-F238E27FC236}">
                <a16:creationId xmlns:a16="http://schemas.microsoft.com/office/drawing/2014/main" id="{771C7608-4A18-4882-AFFD-42A455A5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2672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4-fill">
            <a:extLst xmlns:a="http://schemas.openxmlformats.org/drawingml/2006/main">
              <a:ext uri="{FF2B5EF4-FFF2-40B4-BE49-F238E27FC236}">
                <a16:creationId xmlns:a16="http://schemas.microsoft.com/office/drawing/2014/main" id="{C124EA16-9787-43AE-95F9-F0002AA8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267200"/>
            <a:ext cx="1857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4-value">
            <a:extLst xmlns:a="http://schemas.openxmlformats.org/drawingml/2006/main">
              <a:ext uri="{FF2B5EF4-FFF2-40B4-BE49-F238E27FC236}">
                <a16:creationId xmlns:a16="http://schemas.microsoft.com/office/drawing/2014/main" id="{53302F24-009B-4255-B99D-FFD1599F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2195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55555"/>
                </a:solidFill>
              </a:defRPr>
            </a:pPr>
            <a:r>
              <a:rPr sz="1275" b="1">
                <a:solidFill>
                  <a:srgbClr val="555555"/>
                </a:solidFill>
              </a:rPr>
              <a:t>15%</a:t>
            </a:r>
          </a:p>
        </p:txBody>
      </p:sp>
      <p:sp>
        <p:nvSpPr>
          <p:cNvPr id="22" name="b5-label">
            <a:extLst xmlns:a="http://schemas.openxmlformats.org/drawingml/2006/main">
              <a:ext uri="{FF2B5EF4-FFF2-40B4-BE49-F238E27FC236}">
                <a16:creationId xmlns:a16="http://schemas.microsoft.com/office/drawing/2014/main" id="{5C39D29E-8B7F-4DEC-835A-1D1F2DE7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AI collaboration creativity</a:t>
            </a:r>
          </a:p>
        </p:txBody>
      </p:sp>
      <p:sp>
        <p:nvSpPr>
          <p:cNvPr id="23" name="b5-track">
            <a:extLst xmlns:a="http://schemas.openxmlformats.org/drawingml/2006/main">
              <a:ext uri="{FF2B5EF4-FFF2-40B4-BE49-F238E27FC236}">
                <a16:creationId xmlns:a16="http://schemas.microsoft.com/office/drawing/2014/main" id="{C8EE8B63-9E41-4F17-AE7F-4D0BB38A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8196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5-fill">
            <a:extLst xmlns:a="http://schemas.openxmlformats.org/drawingml/2006/main">
              <a:ext uri="{FF2B5EF4-FFF2-40B4-BE49-F238E27FC236}">
                <a16:creationId xmlns:a16="http://schemas.microsoft.com/office/drawing/2014/main" id="{AD5488AD-2140-4CD5-8CE1-1A87C04B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8196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5-value">
            <a:extLst xmlns:a="http://schemas.openxmlformats.org/drawingml/2006/main">
              <a:ext uri="{FF2B5EF4-FFF2-40B4-BE49-F238E27FC236}">
                <a16:creationId xmlns:a16="http://schemas.microsoft.com/office/drawing/2014/main" id="{22C7464B-C934-4592-9382-ADF4AA51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7720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BCC4"/>
                </a:solidFill>
              </a:defRPr>
            </a:pPr>
            <a:r>
              <a:rPr sz="1275" b="1">
                <a:solidFill>
                  <a:srgbClr val="B8BCC4"/>
                </a:solidFill>
              </a:rPr>
              <a:t>10%</a:t>
            </a:r>
          </a:p>
        </p:txBody>
      </p:sp>
      <p:sp>
        <p:nvSpPr>
          <p:cNvPr id="26" name="scoring-claim-bg">
            <a:extLst xmlns:a="http://schemas.openxmlformats.org/drawingml/2006/main">
              <a:ext uri="{FF2B5EF4-FFF2-40B4-BE49-F238E27FC236}">
                <a16:creationId xmlns:a16="http://schemas.microsoft.com/office/drawing/2014/main" id="{833FB99D-0ED2-45FE-AA17-6FA766B0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71750"/>
            <a:ext cx="285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scoring-claim-title">
            <a:extLst xmlns:a="http://schemas.openxmlformats.org/drawingml/2006/main">
              <a:ext uri="{FF2B5EF4-FFF2-40B4-BE49-F238E27FC236}">
                <a16:creationId xmlns:a16="http://schemas.microsoft.com/office/drawing/2014/main" id="{68C9A0F9-8C0C-4842-A1F1-BB8E6DD3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4320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一句定位</a:t>
            </a:r>
          </a:p>
        </p:txBody>
      </p:sp>
      <p:sp>
        <p:nvSpPr>
          <p:cNvPr id="28" name="scoring-claim-body">
            <a:extLst xmlns:a="http://schemas.openxmlformats.org/drawingml/2006/main">
              <a:ext uri="{FF2B5EF4-FFF2-40B4-BE49-F238E27FC236}">
                <a16:creationId xmlns:a16="http://schemas.microsoft.com/office/drawing/2014/main" id="{05255EB7-127D-4967-A47E-B20BDC75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43250"/>
            <a:ext cx="2514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數字來自計算，語言來自 AI，決策留給人。</a:t>
            </a:r>
          </a:p>
        </p:txBody>
      </p:sp>
      <p:sp>
        <p:nvSpPr>
          <p:cNvPr id="29" name="scoring-proof-bg">
            <a:extLst xmlns:a="http://schemas.openxmlformats.org/drawingml/2006/main">
              <a:ext uri="{FF2B5EF4-FFF2-40B4-BE49-F238E27FC236}">
                <a16:creationId xmlns:a16="http://schemas.microsoft.com/office/drawing/2014/main" id="{E680EBCD-9614-46ED-99C2-F4AEAFD3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3865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scoring-proof-title">
            <a:extLst xmlns:a="http://schemas.openxmlformats.org/drawingml/2006/main">
              <a:ext uri="{FF2B5EF4-FFF2-40B4-BE49-F238E27FC236}">
                <a16:creationId xmlns:a16="http://schemas.microsoft.com/office/drawing/2014/main" id="{9F31B095-4A52-4492-9C90-7D97EDC9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10100"/>
            <a:ext cx="251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上台節奏</a:t>
            </a:r>
          </a:p>
        </p:txBody>
      </p:sp>
      <p:sp>
        <p:nvSpPr>
          <p:cNvPr id="31" name="scoring-proof-body">
            <a:extLst xmlns:a="http://schemas.openxmlformats.org/drawingml/2006/main">
              <a:ext uri="{FF2B5EF4-FFF2-40B4-BE49-F238E27FC236}">
                <a16:creationId xmlns:a16="http://schemas.microsoft.com/office/drawing/2014/main" id="{C79D4A99-8A0D-43D2-9B79-F3907248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010150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先證明 55% 可得分，再用 ROI、架構、防幻覺與限制聲明補足其餘分數。</a:t>
            </a:r>
          </a:p>
        </p:txBody>
      </p:sp>
      <p:sp>
        <p:nvSpPr>
          <p:cNvPr id="3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A080E0A-5780-439D-8F4F-20902A7C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2238CB5C-89F2-4486-BCF5-AF6056DE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55555"/>
                </a:solidFill>
              </a:defRPr>
            </a:pPr>
            <a:r>
              <a:rPr sz="750" b="0">
                <a:solidFill>
                  <a:srgbClr val="555555"/>
                </a:solidFill>
              </a:rPr>
              <a:t>README scoring + docs/10 slide plan</a:t>
            </a:r>
          </a:p>
        </p:txBody>
      </p:sp>
      <p:sp>
        <p:nvSpPr>
          <p:cNvPr id="3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5CA3126-B855-4493-B2EA-C0FE91A6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5555"/>
                </a:solidFill>
              </a:defRPr>
            </a:pPr>
            <a:r>
              <a:rPr sz="750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611154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A3C25CB-1841-40F9-A9CF-4FC1D306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FleetMind / Yang Ming AWS AI Hackathon</a:t>
            </a:r>
          </a:p>
        </p:txBody>
      </p:sp>
      <p:sp>
        <p:nvSpPr>
          <p:cNvPr id="2" name="score-chip-bg">
            <a:extLst xmlns:a="http://schemas.openxmlformats.org/drawingml/2006/main">
              <a:ext uri="{FF2B5EF4-FFF2-40B4-BE49-F238E27FC236}">
                <a16:creationId xmlns:a16="http://schemas.microsoft.com/office/drawing/2014/main" id="{CF6EC6CD-E1C9-4117-BD46-BC59A919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3350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core-chip">
            <a:extLst xmlns:a="http://schemas.openxmlformats.org/drawingml/2006/main">
              <a:ext uri="{FF2B5EF4-FFF2-40B4-BE49-F238E27FC236}">
                <a16:creationId xmlns:a16="http://schemas.microsoft.com/office/drawing/2014/main" id="{2B178DFC-D6B2-47F9-BED5-6F1E237E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050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Theme 30%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83BDBE2-749C-461F-B176-FE6013F8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痛點不是缺圖表，而是缺可防守證據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1D4137C-D573-4C5F-A0E8-27A7E2F9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764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岸端人力有限，Power BI 加人工監控難以把每艘船的效率衰退轉成可執行維修排序。</a:t>
            </a:r>
          </a:p>
        </p:txBody>
      </p:sp>
      <p:sp>
        <p:nvSpPr>
          <p:cNvPr id="6" name="pain1-bg">
            <a:extLst xmlns:a="http://schemas.openxmlformats.org/drawingml/2006/main">
              <a:ext uri="{FF2B5EF4-FFF2-40B4-BE49-F238E27FC236}">
                <a16:creationId xmlns:a16="http://schemas.microsoft.com/office/drawing/2014/main" id="{0569C09C-7B74-4DD8-BC14-5F0D1AAF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2890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pain1-title">
            <a:extLst xmlns:a="http://schemas.openxmlformats.org/drawingml/2006/main">
              <a:ext uri="{FF2B5EF4-FFF2-40B4-BE49-F238E27FC236}">
                <a16:creationId xmlns:a16="http://schemas.microsoft.com/office/drawing/2014/main" id="{B4CEEA78-F353-458B-8859-89054012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燃油成本直接放大</a:t>
            </a:r>
          </a:p>
        </p:txBody>
      </p:sp>
      <p:sp>
        <p:nvSpPr>
          <p:cNvPr id="8" name="pain1-body">
            <a:extLst xmlns:a="http://schemas.openxmlformats.org/drawingml/2006/main">
              <a:ext uri="{FF2B5EF4-FFF2-40B4-BE49-F238E27FC236}">
                <a16:creationId xmlns:a16="http://schemas.microsoft.com/office/drawing/2014/main" id="{DE281537-2050-4066-9DF3-297AA8CE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28003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船體阻力上升會反映在主機油耗。嚴重船體/螺槳劣化可造成超過 20% 效率損失。</a:t>
            </a:r>
          </a:p>
        </p:txBody>
      </p:sp>
      <p:sp>
        <p:nvSpPr>
          <p:cNvPr id="9" name="pain2-bg">
            <a:extLst xmlns:a="http://schemas.openxmlformats.org/drawingml/2006/main">
              <a:ext uri="{FF2B5EF4-FFF2-40B4-BE49-F238E27FC236}">
                <a16:creationId xmlns:a16="http://schemas.microsoft.com/office/drawing/2014/main" id="{C2C86BA6-28B8-4A69-8F1F-FE325190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2890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pain2-title">
            <a:extLst xmlns:a="http://schemas.openxmlformats.org/drawingml/2006/main">
              <a:ext uri="{FF2B5EF4-FFF2-40B4-BE49-F238E27FC236}">
                <a16:creationId xmlns:a16="http://schemas.microsoft.com/office/drawing/2014/main" id="{4C7A1AE3-4385-42C5-9643-A14EF0C2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003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專家時間有限</a:t>
            </a:r>
          </a:p>
        </p:txBody>
      </p:sp>
      <p:sp>
        <p:nvSpPr>
          <p:cNvPr id="11" name="pain2-body">
            <a:extLst xmlns:a="http://schemas.openxmlformats.org/drawingml/2006/main">
              <a:ext uri="{FF2B5EF4-FFF2-40B4-BE49-F238E27FC236}">
                <a16:creationId xmlns:a16="http://schemas.microsoft.com/office/drawing/2014/main" id="{D4528D36-79BD-415A-B86B-A9D888AE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00400"/>
            <a:ext cx="28003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97 艘船靠人逐一追報表，會被噪音、資料缺口與不同速度條件淹沒。</a:t>
            </a:r>
          </a:p>
        </p:txBody>
      </p:sp>
      <p:sp>
        <p:nvSpPr>
          <p:cNvPr id="12" name="pain3-bg">
            <a:extLst xmlns:a="http://schemas.openxmlformats.org/drawingml/2006/main">
              <a:ext uri="{FF2B5EF4-FFF2-40B4-BE49-F238E27FC236}">
                <a16:creationId xmlns:a16="http://schemas.microsoft.com/office/drawing/2014/main" id="{19F7DCC6-397B-4991-A4C6-DF614B65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2890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pain3-title">
            <a:extLst xmlns:a="http://schemas.openxmlformats.org/drawingml/2006/main">
              <a:ext uri="{FF2B5EF4-FFF2-40B4-BE49-F238E27FC236}">
                <a16:creationId xmlns:a16="http://schemas.microsoft.com/office/drawing/2014/main" id="{837DB1D6-FB78-4E76-9417-F90B3CE2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03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維修要有商務答案</a:t>
            </a:r>
          </a:p>
        </p:txBody>
      </p:sp>
      <p:sp>
        <p:nvSpPr>
          <p:cNvPr id="14" name="pain3-body">
            <a:extLst xmlns:a="http://schemas.openxmlformats.org/drawingml/2006/main">
              <a:ext uri="{FF2B5EF4-FFF2-40B4-BE49-F238E27FC236}">
                <a16:creationId xmlns:a16="http://schemas.microsoft.com/office/drawing/2014/main" id="{2CBF6E6D-89E9-4631-A773-582018A9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00400"/>
            <a:ext cx="28003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問題不是只問哪艘船變差，而是現在檢查、清潔或觀察哪個選項最划算。</a:t>
            </a:r>
          </a:p>
        </p:txBody>
      </p:sp>
      <p:sp>
        <p:nvSpPr>
          <p:cNvPr id="15" name="bridge">
            <a:extLst xmlns:a="http://schemas.openxmlformats.org/drawingml/2006/main">
              <a:ext uri="{FF2B5EF4-FFF2-40B4-BE49-F238E27FC236}">
                <a16:creationId xmlns:a16="http://schemas.microsoft.com/office/drawing/2014/main" id="{C51AD258-6FE7-4A8B-921E-DABB649A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FleetMind 把「正午報表 + 水下報告」變成三個營運輸出：排名、before-after、AI ops brief。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C494A64-B806-4F11-AEDD-950F344F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F8B485FB-D8FE-43D5-BFFE-C9C2B775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55555"/>
                </a:solidFill>
              </a:defRPr>
            </a:pPr>
            <a:r>
              <a:rPr sz="750" b="0">
                <a:solidFill>
                  <a:srgbClr val="555555"/>
                </a:solidFill>
              </a:rPr>
              <a:t>docs/03 briefing notes + docs/09 §1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5506056-16CC-43F4-B519-434E001F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5555"/>
                </a:solidFill>
              </a:defRPr>
            </a:pPr>
            <a:r>
              <a:rPr sz="750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185519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8293D7D-A4E8-404A-8030-6CC75C12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FleetMind / Yang Ming AWS AI Hackathon</a:t>
            </a:r>
          </a:p>
        </p:txBody>
      </p:sp>
      <p:sp>
        <p:nvSpPr>
          <p:cNvPr id="2" name="score-chip-bg">
            <a:extLst xmlns:a="http://schemas.openxmlformats.org/drawingml/2006/main">
              <a:ext uri="{FF2B5EF4-FFF2-40B4-BE49-F238E27FC236}">
                <a16:creationId xmlns:a16="http://schemas.microsoft.com/office/drawing/2014/main" id="{A541CF7A-5BC9-4D08-B28F-6FEB37FA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3350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core-chip">
            <a:extLst xmlns:a="http://schemas.openxmlformats.org/drawingml/2006/main">
              <a:ext uri="{FF2B5EF4-FFF2-40B4-BE49-F238E27FC236}">
                <a16:creationId xmlns:a16="http://schemas.microsoft.com/office/drawing/2014/main" id="{16F52075-81BA-4EB9-928C-6484C9B6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050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FOC 25%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C83929-01A6-49BE-9692-D737D4B7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資料邏輯先保住自動評分，再服務 Speed Loss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1AA9EF4-3EF3-4178-9CC9-F415657B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764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Daily FOC 對每一列全量計算；天候與滿速條件只產生品質旗標，不刪列。</a:t>
            </a:r>
          </a:p>
        </p:txBody>
      </p:sp>
      <p:sp>
        <p:nvSpPr>
          <p:cNvPr id="6" name="d1-bg">
            <a:extLst xmlns:a="http://schemas.openxmlformats.org/drawingml/2006/main">
              <a:ext uri="{FF2B5EF4-FFF2-40B4-BE49-F238E27FC236}">
                <a16:creationId xmlns:a16="http://schemas.microsoft.com/office/drawing/2014/main" id="{891CE775-E408-46DA-BE39-35E70AE5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1714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d1-title">
            <a:extLst xmlns:a="http://schemas.openxmlformats.org/drawingml/2006/main">
              <a:ext uri="{FF2B5EF4-FFF2-40B4-BE49-F238E27FC236}">
                <a16:creationId xmlns:a16="http://schemas.microsoft.com/office/drawing/2014/main" id="{8EEB744B-81EF-4F3F-A5FB-90E24ABB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Raw data</a:t>
            </a:r>
          </a:p>
        </p:txBody>
      </p:sp>
      <p:sp>
        <p:nvSpPr>
          <p:cNvPr id="8" name="d1-body">
            <a:extLst xmlns:a="http://schemas.openxmlformats.org/drawingml/2006/main">
              <a:ext uri="{FF2B5EF4-FFF2-40B4-BE49-F238E27FC236}">
                <a16:creationId xmlns:a16="http://schemas.microsoft.com/office/drawing/2014/main" id="{C12E0CD8-9275-4A3B-86CE-25C73FE4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409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15 vessels</a:t>
            </a:r>
          </a:p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2021-2025 noon reports</a:t>
            </a:r>
          </a:p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underwater events</a:t>
            </a:r>
          </a:p>
        </p:txBody>
      </p:sp>
      <p:sp>
        <p:nvSpPr>
          <p:cNvPr id="9" name="a1-line">
            <a:extLst xmlns:a="http://schemas.openxmlformats.org/drawingml/2006/main">
              <a:ext uri="{FF2B5EF4-FFF2-40B4-BE49-F238E27FC236}">
                <a16:creationId xmlns:a16="http://schemas.microsoft.com/office/drawing/2014/main" id="{FF9E9B40-0930-4173-82EE-2136E645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333750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1-head">
            <a:extLst xmlns:a="http://schemas.openxmlformats.org/drawingml/2006/main">
              <a:ext uri="{FF2B5EF4-FFF2-40B4-BE49-F238E27FC236}">
                <a16:creationId xmlns:a16="http://schemas.microsoft.com/office/drawing/2014/main" id="{3AD57C4B-EEE7-466B-B85A-ABD6E27F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86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2-bg">
            <a:extLst xmlns:a="http://schemas.openxmlformats.org/drawingml/2006/main">
              <a:ext uri="{FF2B5EF4-FFF2-40B4-BE49-F238E27FC236}">
                <a16:creationId xmlns:a16="http://schemas.microsoft.com/office/drawing/2014/main" id="{EDA3D6C1-D2B5-478E-8B21-369239AB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00350"/>
            <a:ext cx="2000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d2-title">
            <a:extLst xmlns:a="http://schemas.openxmlformats.org/drawingml/2006/main">
              <a:ext uri="{FF2B5EF4-FFF2-40B4-BE49-F238E27FC236}">
                <a16:creationId xmlns:a16="http://schemas.microsoft.com/office/drawing/2014/main" id="{AF51129B-02A3-40D1-A8B1-820CE8C7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337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All-row Daily FOC</a:t>
            </a:r>
          </a:p>
        </p:txBody>
      </p:sp>
      <p:sp>
        <p:nvSpPr>
          <p:cNvPr id="13" name="d2-body">
            <a:extLst xmlns:a="http://schemas.openxmlformats.org/drawingml/2006/main">
              <a:ext uri="{FF2B5EF4-FFF2-40B4-BE49-F238E27FC236}">
                <a16:creationId xmlns:a16="http://schemas.microsoft.com/office/drawing/2014/main" id="{AD9C77A2-7859-4AC8-A3A5-88231784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38500"/>
            <a:ext cx="1695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VLSFO normalization</a:t>
            </a:r>
          </a:p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FOC = consump / hours * 24</a:t>
            </a:r>
          </a:p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HOURS=0 guarded</a:t>
            </a:r>
          </a:p>
        </p:txBody>
      </p:sp>
      <p:sp>
        <p:nvSpPr>
          <p:cNvPr id="14" name="a2-line">
            <a:extLst xmlns:a="http://schemas.openxmlformats.org/drawingml/2006/main">
              <a:ext uri="{FF2B5EF4-FFF2-40B4-BE49-F238E27FC236}">
                <a16:creationId xmlns:a16="http://schemas.microsoft.com/office/drawing/2014/main" id="{B1194AE5-D630-41F7-9C62-0A589A5D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333750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2-head">
            <a:extLst xmlns:a="http://schemas.openxmlformats.org/drawingml/2006/main">
              <a:ext uri="{FF2B5EF4-FFF2-40B4-BE49-F238E27FC236}">
                <a16:creationId xmlns:a16="http://schemas.microsoft.com/office/drawing/2014/main" id="{5DA5563A-9DFC-4EAC-A10A-DFEAD08F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86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d3-bg">
            <a:extLst xmlns:a="http://schemas.openxmlformats.org/drawingml/2006/main">
              <a:ext uri="{FF2B5EF4-FFF2-40B4-BE49-F238E27FC236}">
                <a16:creationId xmlns:a16="http://schemas.microsoft.com/office/drawing/2014/main" id="{876FC05D-CB97-4B14-9C2B-52DDCE1A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00350"/>
            <a:ext cx="2000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d3-title">
            <a:extLst xmlns:a="http://schemas.openxmlformats.org/drawingml/2006/main">
              <a:ext uri="{FF2B5EF4-FFF2-40B4-BE49-F238E27FC236}">
                <a16:creationId xmlns:a16="http://schemas.microsoft.com/office/drawing/2014/main" id="{F0E61C88-74A3-4F65-A41C-26465F38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337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Quality flags</a:t>
            </a:r>
          </a:p>
        </p:txBody>
      </p:sp>
      <p:sp>
        <p:nvSpPr>
          <p:cNvPr id="18" name="d3-body">
            <a:extLst xmlns:a="http://schemas.openxmlformats.org/drawingml/2006/main">
              <a:ext uri="{FF2B5EF4-FFF2-40B4-BE49-F238E27FC236}">
                <a16:creationId xmlns:a16="http://schemas.microsoft.com/office/drawing/2014/main" id="{D5B528D2-67AB-4F68-9001-AFEB14D4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38500"/>
            <a:ext cx="1695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WIND_SCALE &gt; 4</a:t>
            </a:r>
          </a:p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HOURS_FULL_SPEED &lt; 22</a:t>
            </a:r>
          </a:p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missing optional fields</a:t>
            </a:r>
          </a:p>
        </p:txBody>
      </p:sp>
      <p:sp>
        <p:nvSpPr>
          <p:cNvPr id="19" name="a3-line">
            <a:extLst xmlns:a="http://schemas.openxmlformats.org/drawingml/2006/main">
              <a:ext uri="{FF2B5EF4-FFF2-40B4-BE49-F238E27FC236}">
                <a16:creationId xmlns:a16="http://schemas.microsoft.com/office/drawing/2014/main" id="{F8BF2AEA-BD22-42C3-B90A-4E7C6990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33750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3-head">
            <a:extLst xmlns:a="http://schemas.openxmlformats.org/drawingml/2006/main">
              <a:ext uri="{FF2B5EF4-FFF2-40B4-BE49-F238E27FC236}">
                <a16:creationId xmlns:a16="http://schemas.microsoft.com/office/drawing/2014/main" id="{EB267185-7129-4F0E-9CA7-5B1FBEFE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86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d4-bg">
            <a:extLst xmlns:a="http://schemas.openxmlformats.org/drawingml/2006/main">
              <a:ext uri="{FF2B5EF4-FFF2-40B4-BE49-F238E27FC236}">
                <a16:creationId xmlns:a16="http://schemas.microsoft.com/office/drawing/2014/main" id="{DECA2112-F521-4D19-84C1-973AE531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00350"/>
            <a:ext cx="2000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d4-title">
            <a:extLst xmlns:a="http://schemas.openxmlformats.org/drawingml/2006/main">
              <a:ext uri="{FF2B5EF4-FFF2-40B4-BE49-F238E27FC236}">
                <a16:creationId xmlns:a16="http://schemas.microsoft.com/office/drawing/2014/main" id="{9A0D7F0D-2DF2-4B62-9EE5-5F67003B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3370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Speed Loss set</a:t>
            </a:r>
          </a:p>
        </p:txBody>
      </p:sp>
      <p:sp>
        <p:nvSpPr>
          <p:cNvPr id="23" name="d4-body">
            <a:extLst xmlns:a="http://schemas.openxmlformats.org/drawingml/2006/main">
              <a:ext uri="{FF2B5EF4-FFF2-40B4-BE49-F238E27FC236}">
                <a16:creationId xmlns:a16="http://schemas.microsoft.com/office/drawing/2014/main" id="{16201A1C-0DA4-49C8-9F7A-0FC8FCEA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38500"/>
            <a:ext cx="1695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Only qualified rows</a:t>
            </a:r>
          </a:p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same speed band</a:t>
            </a:r>
          </a:p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transform_version</a:t>
            </a:r>
          </a:p>
        </p:txBody>
      </p:sp>
      <p:sp>
        <p:nvSpPr>
          <p:cNvPr id="24" name="iron-bg">
            <a:extLst xmlns:a="http://schemas.openxmlformats.org/drawingml/2006/main">
              <a:ext uri="{FF2B5EF4-FFF2-40B4-BE49-F238E27FC236}">
                <a16:creationId xmlns:a16="http://schemas.microsoft.com/office/drawing/2014/main" id="{D3664AF4-DC90-400F-A377-3C61117D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62500"/>
            <a:ext cx="4076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iron-title">
            <a:extLst xmlns:a="http://schemas.openxmlformats.org/drawingml/2006/main">
              <a:ext uri="{FF2B5EF4-FFF2-40B4-BE49-F238E27FC236}">
                <a16:creationId xmlns:a16="http://schemas.microsoft.com/office/drawing/2014/main" id="{926FF3F0-65D3-4D5F-94DE-C3170179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33950"/>
            <a:ext cx="3733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鐵律</a:t>
            </a:r>
          </a:p>
        </p:txBody>
      </p:sp>
      <p:sp>
        <p:nvSpPr>
          <p:cNvPr id="26" name="iron-body">
            <a:extLst xmlns:a="http://schemas.openxmlformats.org/drawingml/2006/main">
              <a:ext uri="{FF2B5EF4-FFF2-40B4-BE49-F238E27FC236}">
                <a16:creationId xmlns:a16="http://schemas.microsoft.com/office/drawing/2014/main" id="{DBDA5AD2-0FDA-41CF-98AA-008D9C2E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34000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提交檔不能因 filter 少列；品質面板要顯示被標記原因。</a:t>
            </a:r>
          </a:p>
        </p:txBody>
      </p:sp>
      <p:sp>
        <p:nvSpPr>
          <p:cNvPr id="27" name="output-bg">
            <a:extLst xmlns:a="http://schemas.openxmlformats.org/drawingml/2006/main">
              <a:ext uri="{FF2B5EF4-FFF2-40B4-BE49-F238E27FC236}">
                <a16:creationId xmlns:a16="http://schemas.microsoft.com/office/drawing/2014/main" id="{1859939B-8F50-40F7-9B38-CF1C8DB8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762500"/>
            <a:ext cx="4076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output-title">
            <a:extLst xmlns:a="http://schemas.openxmlformats.org/drawingml/2006/main">
              <a:ext uri="{FF2B5EF4-FFF2-40B4-BE49-F238E27FC236}">
                <a16:creationId xmlns:a16="http://schemas.microsoft.com/office/drawing/2014/main" id="{F49D791B-30BC-44BB-ADBD-F6CD96D1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933950"/>
            <a:ext cx="3733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輸出</a:t>
            </a:r>
          </a:p>
        </p:txBody>
      </p:sp>
      <p:sp>
        <p:nvSpPr>
          <p:cNvPr id="29" name="output-body">
            <a:extLst xmlns:a="http://schemas.openxmlformats.org/drawingml/2006/main">
              <a:ext uri="{FF2B5EF4-FFF2-40B4-BE49-F238E27FC236}">
                <a16:creationId xmlns:a16="http://schemas.microsoft.com/office/drawing/2014/main" id="{80C0169C-9296-4249-AC0F-44A4A295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334000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FUEL_CONSUMP export、Fleet ranking、Vessel before-after、AI brief context。</a:t>
            </a:r>
          </a:p>
        </p:txBody>
      </p:sp>
      <p:sp>
        <p:nvSpPr>
          <p:cNvPr id="3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F60C442-E501-4E29-BBEA-A31BB551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9AC44842-FA81-4906-84A6-9F605AFD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55555"/>
                </a:solidFill>
              </a:defRPr>
            </a:pPr>
            <a:r>
              <a:rPr sz="750" b="0">
                <a:solidFill>
                  <a:srgbClr val="555555"/>
                </a:solidFill>
              </a:rPr>
              <a:t>docs/09 §3 + docs/12 R9</a:t>
            </a:r>
          </a:p>
        </p:txBody>
      </p:sp>
      <p:sp>
        <p:nvSpPr>
          <p:cNvPr id="3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8909BC4-637F-4E92-9CA9-99E68D21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5555"/>
                </a:solidFill>
              </a:defRPr>
            </a:pPr>
            <a:r>
              <a:rPr sz="750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424230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47EBD25-57A5-41E8-B8AB-927C9821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FleetMind / Yang Ming AWS AI Hackathon</a:t>
            </a:r>
          </a:p>
        </p:txBody>
      </p:sp>
      <p:sp>
        <p:nvSpPr>
          <p:cNvPr id="2" name="score-chip-bg">
            <a:extLst xmlns:a="http://schemas.openxmlformats.org/drawingml/2006/main">
              <a:ext uri="{FF2B5EF4-FFF2-40B4-BE49-F238E27FC236}">
                <a16:creationId xmlns:a16="http://schemas.microsoft.com/office/drawing/2014/main" id="{0F713E6C-0D5E-4B09-9923-AAF30D53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3350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core-chip">
            <a:extLst xmlns:a="http://schemas.openxmlformats.org/drawingml/2006/main">
              <a:ext uri="{FF2B5EF4-FFF2-40B4-BE49-F238E27FC236}">
                <a16:creationId xmlns:a16="http://schemas.microsoft.com/office/drawing/2014/main" id="{98CBF77C-606E-4B78-B602-66B38011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050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Speed Loss 30%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B9F143B-59F2-4D98-A096-6C95EC90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Speed Loss 用同分母比較，避免把 slow steaming 算成污損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736FE51-7EEB-467C-9761-4D5B6789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764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FOC/V^n 作阻力 proxy；清潔事件切段，事件後參考窗建立 baseline，同速度帶比較。</a:t>
            </a:r>
          </a:p>
        </p:txBody>
      </p:sp>
      <p:sp>
        <p:nvSpPr>
          <p:cNvPr id="6" name="method1-bg">
            <a:extLst xmlns:a="http://schemas.openxmlformats.org/drawingml/2006/main">
              <a:ext uri="{FF2B5EF4-FFF2-40B4-BE49-F238E27FC236}">
                <a16:creationId xmlns:a16="http://schemas.microsoft.com/office/drawing/2014/main" id="{F0155A5E-29F9-4853-A881-15FD74FB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2381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method1-title">
            <a:extLst xmlns:a="http://schemas.openxmlformats.org/drawingml/2006/main">
              <a:ext uri="{FF2B5EF4-FFF2-40B4-BE49-F238E27FC236}">
                <a16:creationId xmlns:a16="http://schemas.microsoft.com/office/drawing/2014/main" id="{9141231D-850E-4DDD-A83D-25623EAC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1. k 值 proxy</a:t>
            </a:r>
          </a:p>
        </p:txBody>
      </p:sp>
      <p:sp>
        <p:nvSpPr>
          <p:cNvPr id="8" name="method1-body">
            <a:extLst xmlns:a="http://schemas.openxmlformats.org/drawingml/2006/main">
              <a:ext uri="{FF2B5EF4-FFF2-40B4-BE49-F238E27FC236}">
                <a16:creationId xmlns:a16="http://schemas.microsoft.com/office/drawing/2014/main" id="{AD3FB242-1708-474D-A4D6-68E3921C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2038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k = Daily FOC / V^n</a:t>
            </a:r>
          </a:p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預設 n=3；資料足夠時每船擬合 n。</a:t>
            </a:r>
          </a:p>
        </p:txBody>
      </p:sp>
      <p:sp>
        <p:nvSpPr>
          <p:cNvPr id="9" name="method2-bg">
            <a:extLst xmlns:a="http://schemas.openxmlformats.org/drawingml/2006/main">
              <a:ext uri="{FF2B5EF4-FFF2-40B4-BE49-F238E27FC236}">
                <a16:creationId xmlns:a16="http://schemas.microsoft.com/office/drawing/2014/main" id="{C0CCD805-1F60-4226-B747-16CFB247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362200"/>
            <a:ext cx="2381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method2-title">
            <a:extLst xmlns:a="http://schemas.openxmlformats.org/drawingml/2006/main">
              <a:ext uri="{FF2B5EF4-FFF2-40B4-BE49-F238E27FC236}">
                <a16:creationId xmlns:a16="http://schemas.microsoft.com/office/drawing/2014/main" id="{4583AD1D-6F7C-4ED6-BBAB-452971A9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336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2. 事件切段</a:t>
            </a:r>
          </a:p>
        </p:txBody>
      </p:sp>
      <p:sp>
        <p:nvSpPr>
          <p:cNvPr id="11" name="method2-body">
            <a:extLst xmlns:a="http://schemas.openxmlformats.org/drawingml/2006/main">
              <a:ext uri="{FF2B5EF4-FFF2-40B4-BE49-F238E27FC236}">
                <a16:creationId xmlns:a16="http://schemas.microsoft.com/office/drawing/2014/main" id="{D0C46A49-967F-4ED7-BA28-09FF505A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33700"/>
            <a:ext cx="2038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清潔/拋光/unknown breakpoint 將時間軸切成可比較段。</a:t>
            </a:r>
          </a:p>
        </p:txBody>
      </p:sp>
      <p:sp>
        <p:nvSpPr>
          <p:cNvPr id="12" name="method3-bg">
            <a:extLst xmlns:a="http://schemas.openxmlformats.org/drawingml/2006/main">
              <a:ext uri="{FF2B5EF4-FFF2-40B4-BE49-F238E27FC236}">
                <a16:creationId xmlns:a16="http://schemas.microsoft.com/office/drawing/2014/main" id="{B463973C-8FA4-490B-B9C8-B22E0A88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62200"/>
            <a:ext cx="2381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method3-title">
            <a:extLst xmlns:a="http://schemas.openxmlformats.org/drawingml/2006/main">
              <a:ext uri="{FF2B5EF4-FFF2-40B4-BE49-F238E27FC236}">
                <a16:creationId xmlns:a16="http://schemas.microsoft.com/office/drawing/2014/main" id="{E59CA640-906F-4571-8544-2AAF0256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336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3. 同速度帶</a:t>
            </a:r>
          </a:p>
        </p:txBody>
      </p:sp>
      <p:sp>
        <p:nvSpPr>
          <p:cNvPr id="14" name="method3-body">
            <a:extLst xmlns:a="http://schemas.openxmlformats.org/drawingml/2006/main">
              <a:ext uri="{FF2B5EF4-FFF2-40B4-BE49-F238E27FC236}">
                <a16:creationId xmlns:a16="http://schemas.microsoft.com/office/drawing/2014/main" id="{FA031720-992A-4E07-A588-C7D9545A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33700"/>
            <a:ext cx="2038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只和參考窗 ±1 kn 內的合格天比較，降低慢速營運偏差。</a:t>
            </a:r>
          </a:p>
        </p:txBody>
      </p:sp>
      <p:sp>
        <p:nvSpPr>
          <p:cNvPr id="15" name="method4-bg">
            <a:extLst xmlns:a="http://schemas.openxmlformats.org/drawingml/2006/main">
              <a:ext uri="{FF2B5EF4-FFF2-40B4-BE49-F238E27FC236}">
                <a16:creationId xmlns:a16="http://schemas.microsoft.com/office/drawing/2014/main" id="{B378967F-913F-4E0A-B827-DBF4BB57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62200"/>
            <a:ext cx="2381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method4-title">
            <a:extLst xmlns:a="http://schemas.openxmlformats.org/drawingml/2006/main">
              <a:ext uri="{FF2B5EF4-FFF2-40B4-BE49-F238E27FC236}">
                <a16:creationId xmlns:a16="http://schemas.microsoft.com/office/drawing/2014/main" id="{AD5E3E82-1D89-4E85-A192-6F13CB5F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336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4. 三數字歸因</a:t>
            </a:r>
          </a:p>
        </p:txBody>
      </p:sp>
      <p:sp>
        <p:nvSpPr>
          <p:cNvPr id="17" name="method4-body">
            <a:extLst xmlns:a="http://schemas.openxmlformats.org/drawingml/2006/main">
              <a:ext uri="{FF2B5EF4-FFF2-40B4-BE49-F238E27FC236}">
                <a16:creationId xmlns:a16="http://schemas.microsoft.com/office/drawing/2014/main" id="{2832A288-1E9D-4D3A-83E7-326F3C6F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33700"/>
            <a:ext cx="2038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總 Speed Loss、污損歸因、未解釋殘差一起呈現。</a:t>
            </a:r>
          </a:p>
        </p:txBody>
      </p:sp>
      <p:sp>
        <p:nvSpPr>
          <p:cNvPr id="18" name="demo-strip-bg">
            <a:extLst xmlns:a="http://schemas.openxmlformats.org/drawingml/2006/main">
              <a:ext uri="{FF2B5EF4-FFF2-40B4-BE49-F238E27FC236}">
                <a16:creationId xmlns:a16="http://schemas.microsoft.com/office/drawing/2014/main" id="{0F025A81-4BD6-4969-80E1-6F1BDF64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0820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demo-strip">
            <a:extLst xmlns:a="http://schemas.openxmlformats.org/drawingml/2006/main">
              <a:ext uri="{FF2B5EF4-FFF2-40B4-BE49-F238E27FC236}">
                <a16:creationId xmlns:a16="http://schemas.microsoft.com/office/drawing/2014/main" id="{EF14183F-FCDC-401D-BC99-396F5900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1043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Live demo 三擊：排名表點最差船 → 事件標記線與 k 陡降 → AI brief citation 點回 dashboard</a:t>
            </a:r>
          </a:p>
        </p:txBody>
      </p:sp>
      <p:sp>
        <p:nvSpPr>
          <p:cNvPr id="2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D43A0E5-DF1A-4930-87DE-7B1FCDCE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D7F97D61-DE01-4475-944F-627D86F6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55555"/>
                </a:solidFill>
              </a:defRPr>
            </a:pPr>
            <a:r>
              <a:rPr sz="750" b="0">
                <a:solidFill>
                  <a:srgbClr val="555555"/>
                </a:solidFill>
              </a:rPr>
              <a:t>docs/09 §4 + docs/10 demo script</a:t>
            </a:r>
          </a:p>
        </p:txBody>
      </p:sp>
      <p:sp>
        <p:nvSpPr>
          <p:cNvPr id="2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365A654-0EC5-4DE6-8C5F-5442FC1C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5555"/>
                </a:solidFill>
              </a:defRPr>
            </a:pPr>
            <a:r>
              <a:rPr sz="750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898066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7CF4A99-554B-4189-B7EC-13BB49DD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FleetMind / Yang Ming AWS AI Hackathon</a:t>
            </a:r>
          </a:p>
        </p:txBody>
      </p:sp>
      <p:sp>
        <p:nvSpPr>
          <p:cNvPr id="2" name="score-chip-bg">
            <a:extLst xmlns:a="http://schemas.openxmlformats.org/drawingml/2006/main">
              <a:ext uri="{FF2B5EF4-FFF2-40B4-BE49-F238E27FC236}">
                <a16:creationId xmlns:a16="http://schemas.microsoft.com/office/drawing/2014/main" id="{A4E29BA7-E0DE-4B3E-B0E4-F5F3FD10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3350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core-chip">
            <a:extLst xmlns:a="http://schemas.openxmlformats.org/drawingml/2006/main">
              <a:ext uri="{FF2B5EF4-FFF2-40B4-BE49-F238E27FC236}">
                <a16:creationId xmlns:a16="http://schemas.microsoft.com/office/drawing/2014/main" id="{49EA42AD-9FBD-4B41-8F11-0F1442AF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050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Business 20%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9467754-E2CD-4EDE-9135-4B7F7A8E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商務價值用回本天數，不用抽象效率口號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159E00F-7476-47AD-AB18-59610FE9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764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同一組指標同時回答燃油成本、碳成本、CII 壓力與清潔 ROI。</a:t>
            </a:r>
          </a:p>
        </p:txBody>
      </p:sp>
      <p:sp>
        <p:nvSpPr>
          <p:cNvPr id="6" name="bv1-bg">
            <a:extLst xmlns:a="http://schemas.openxmlformats.org/drawingml/2006/main">
              <a:ext uri="{FF2B5EF4-FFF2-40B4-BE49-F238E27FC236}">
                <a16:creationId xmlns:a16="http://schemas.microsoft.com/office/drawing/2014/main" id="{CB0D6F78-5987-4140-9741-C7C24DA1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2571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bv1-label">
            <a:extLst xmlns:a="http://schemas.openxmlformats.org/drawingml/2006/main">
              <a:ext uri="{FF2B5EF4-FFF2-40B4-BE49-F238E27FC236}">
                <a16:creationId xmlns:a16="http://schemas.microsoft.com/office/drawing/2014/main" id="{0CC2FEAE-5B80-4903-8460-CBB968B2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Fuel cost</a:t>
            </a:r>
          </a:p>
        </p:txBody>
      </p:sp>
      <p:sp>
        <p:nvSpPr>
          <p:cNvPr id="8" name="bv1-value">
            <a:extLst xmlns:a="http://schemas.openxmlformats.org/drawingml/2006/main">
              <a:ext uri="{FF2B5EF4-FFF2-40B4-BE49-F238E27FC236}">
                <a16:creationId xmlns:a16="http://schemas.microsoft.com/office/drawing/2014/main" id="{E35B26FC-41AF-4334-B64C-B1BEA509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19425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6B35"/>
                </a:solidFill>
              </a:defRPr>
            </a:pPr>
            <a:r>
              <a:rPr sz="3000" b="1">
                <a:solidFill>
                  <a:srgbClr val="FF6B35"/>
                </a:solidFill>
              </a:rPr>
              <a:t>USD 1,950</a:t>
            </a:r>
          </a:p>
        </p:txBody>
      </p:sp>
      <p:sp>
        <p:nvSpPr>
          <p:cNvPr id="9" name="bv1-sub">
            <a:extLst xmlns:a="http://schemas.openxmlformats.org/drawingml/2006/main">
              <a:ext uri="{FF2B5EF4-FFF2-40B4-BE49-F238E27FC236}">
                <a16:creationId xmlns:a16="http://schemas.microsoft.com/office/drawing/2014/main" id="{2B2F87BC-7D6B-405A-9F09-2A739D32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2228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per day; 3.0 MT × USD 650/MT</a:t>
            </a:r>
          </a:p>
        </p:txBody>
      </p:sp>
      <p:sp>
        <p:nvSpPr>
          <p:cNvPr id="10" name="bv2-bg">
            <a:extLst xmlns:a="http://schemas.openxmlformats.org/drawingml/2006/main">
              <a:ext uri="{FF2B5EF4-FFF2-40B4-BE49-F238E27FC236}">
                <a16:creationId xmlns:a16="http://schemas.microsoft.com/office/drawing/2014/main" id="{BAD71E3D-05DA-407E-961D-1415DDF9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71750"/>
            <a:ext cx="2571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bv2-label">
            <a:extLst xmlns:a="http://schemas.openxmlformats.org/drawingml/2006/main">
              <a:ext uri="{FF2B5EF4-FFF2-40B4-BE49-F238E27FC236}">
                <a16:creationId xmlns:a16="http://schemas.microsoft.com/office/drawing/2014/main" id="{F448742B-DFC6-42DE-9FC1-873EC058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43200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CO2 impact</a:t>
            </a:r>
          </a:p>
        </p:txBody>
      </p:sp>
      <p:sp>
        <p:nvSpPr>
          <p:cNvPr id="12" name="bv2-value">
            <a:extLst xmlns:a="http://schemas.openxmlformats.org/drawingml/2006/main">
              <a:ext uri="{FF2B5EF4-FFF2-40B4-BE49-F238E27FC236}">
                <a16:creationId xmlns:a16="http://schemas.microsoft.com/office/drawing/2014/main" id="{E3EA12B9-F28D-4C96-919B-8E5D8264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19425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9.342 t</a:t>
            </a:r>
          </a:p>
        </p:txBody>
      </p:sp>
      <p:sp>
        <p:nvSpPr>
          <p:cNvPr id="13" name="bv2-sub">
            <a:extLst xmlns:a="http://schemas.openxmlformats.org/drawingml/2006/main">
              <a:ext uri="{FF2B5EF4-FFF2-40B4-BE49-F238E27FC236}">
                <a16:creationId xmlns:a16="http://schemas.microsoft.com/office/drawing/2014/main" id="{9C0DF373-C64E-46E7-9BF9-BB808E1F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00450"/>
            <a:ext cx="2228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per day; 3.0 × 3.114 tCO2/MT</a:t>
            </a:r>
          </a:p>
        </p:txBody>
      </p:sp>
      <p:sp>
        <p:nvSpPr>
          <p:cNvPr id="14" name="bv3-bg">
            <a:extLst xmlns:a="http://schemas.openxmlformats.org/drawingml/2006/main">
              <a:ext uri="{FF2B5EF4-FFF2-40B4-BE49-F238E27FC236}">
                <a16:creationId xmlns:a16="http://schemas.microsoft.com/office/drawing/2014/main" id="{B6D58808-5CEE-4A41-A79A-B4D19C2C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2571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bv3-label">
            <a:extLst xmlns:a="http://schemas.openxmlformats.org/drawingml/2006/main">
              <a:ext uri="{FF2B5EF4-FFF2-40B4-BE49-F238E27FC236}">
                <a16:creationId xmlns:a16="http://schemas.microsoft.com/office/drawing/2014/main" id="{4A200D63-6B8B-4448-91FA-1356579D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43200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EU ETS scenario</a:t>
            </a:r>
          </a:p>
        </p:txBody>
      </p:sp>
      <p:sp>
        <p:nvSpPr>
          <p:cNvPr id="16" name="bv3-value">
            <a:extLst xmlns:a="http://schemas.openxmlformats.org/drawingml/2006/main">
              <a:ext uri="{FF2B5EF4-FFF2-40B4-BE49-F238E27FC236}">
                <a16:creationId xmlns:a16="http://schemas.microsoft.com/office/drawing/2014/main" id="{2F7A5643-FB9D-4D83-88D9-3FEBA934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19425"/>
            <a:ext cx="2228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USD 420</a:t>
            </a:r>
          </a:p>
        </p:txBody>
      </p:sp>
      <p:sp>
        <p:nvSpPr>
          <p:cNvPr id="17" name="bv3-sub">
            <a:extLst xmlns:a="http://schemas.openxmlformats.org/drawingml/2006/main">
              <a:ext uri="{FF2B5EF4-FFF2-40B4-BE49-F238E27FC236}">
                <a16:creationId xmlns:a16="http://schemas.microsoft.com/office/drawing/2014/main" id="{E08B7FE7-4B33-455C-8379-2848E6DF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00450"/>
            <a:ext cx="2228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per day; 50% × USD 90/tCO2</a:t>
            </a:r>
          </a:p>
        </p:txBody>
      </p:sp>
      <p:sp>
        <p:nvSpPr>
          <p:cNvPr id="18" name="bv4-bg">
            <a:extLst xmlns:a="http://schemas.openxmlformats.org/drawingml/2006/main">
              <a:ext uri="{FF2B5EF4-FFF2-40B4-BE49-F238E27FC236}">
                <a16:creationId xmlns:a16="http://schemas.microsoft.com/office/drawing/2014/main" id="{D9585675-BDCC-44DE-AFB3-EF6B77E2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571750"/>
            <a:ext cx="2000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bv4-label">
            <a:extLst xmlns:a="http://schemas.openxmlformats.org/drawingml/2006/main">
              <a:ext uri="{FF2B5EF4-FFF2-40B4-BE49-F238E27FC236}">
                <a16:creationId xmlns:a16="http://schemas.microsoft.com/office/drawing/2014/main" id="{441C2D81-BA18-421E-ADB8-D896839D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4320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Payback</a:t>
            </a:r>
          </a:p>
        </p:txBody>
      </p:sp>
      <p:sp>
        <p:nvSpPr>
          <p:cNvPr id="20" name="bv4-value">
            <a:extLst xmlns:a="http://schemas.openxmlformats.org/drawingml/2006/main">
              <a:ext uri="{FF2B5EF4-FFF2-40B4-BE49-F238E27FC236}">
                <a16:creationId xmlns:a16="http://schemas.microsoft.com/office/drawing/2014/main" id="{4E97E96F-9813-4FD5-B255-67CC1F03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19425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E7D4F"/>
                </a:solidFill>
              </a:defRPr>
            </a:pPr>
            <a:r>
              <a:rPr sz="3000" b="1">
                <a:solidFill>
                  <a:srgbClr val="1E7D4F"/>
                </a:solidFill>
              </a:rPr>
              <a:t>16.87</a:t>
            </a:r>
          </a:p>
        </p:txBody>
      </p:sp>
      <p:sp>
        <p:nvSpPr>
          <p:cNvPr id="21" name="bv4-sub">
            <a:extLst xmlns:a="http://schemas.openxmlformats.org/drawingml/2006/main">
              <a:ext uri="{FF2B5EF4-FFF2-40B4-BE49-F238E27FC236}">
                <a16:creationId xmlns:a16="http://schemas.microsoft.com/office/drawing/2014/main" id="{531E672D-7FC5-48FA-A663-FB0C15CE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600450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days; USD 40k / USD 2,370</a:t>
            </a:r>
          </a:p>
        </p:txBody>
      </p:sp>
      <p:sp>
        <p:nvSpPr>
          <p:cNvPr id="22" name="formula-bg">
            <a:extLst xmlns:a="http://schemas.openxmlformats.org/drawingml/2006/main">
              <a:ext uri="{FF2B5EF4-FFF2-40B4-BE49-F238E27FC236}">
                <a16:creationId xmlns:a16="http://schemas.microsoft.com/office/drawing/2014/main" id="{B00244FC-158E-451C-AC16-5945BE4C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24400"/>
            <a:ext cx="9448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formula">
            <a:extLst xmlns:a="http://schemas.openxmlformats.org/drawingml/2006/main">
              <a:ext uri="{FF2B5EF4-FFF2-40B4-BE49-F238E27FC236}">
                <a16:creationId xmlns:a16="http://schemas.microsoft.com/office/drawing/2014/main" id="{79720D53-05F3-485A-86E3-079523DB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943475"/>
            <a:ext cx="891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Decision rule: 低信心先水下檢查；高信心且 payback &lt; 45 天，排清潔/拋光 review；否則持續觀察。</a:t>
            </a:r>
          </a:p>
        </p:txBody>
      </p:sp>
      <p:sp>
        <p:nvSpPr>
          <p:cNvPr id="2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7F250FF-0F29-4259-88E7-C0DD0E08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9C977653-077C-4658-9CE2-0C40A44E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55555"/>
                </a:solidFill>
              </a:defRPr>
            </a:pPr>
            <a:r>
              <a:rPr sz="750" b="0">
                <a:solidFill>
                  <a:srgbClr val="555555"/>
                </a:solidFill>
              </a:rPr>
              <a:t>docs/15 §1 scenario + docs/13 D1-D4</a:t>
            </a:r>
          </a:p>
        </p:txBody>
      </p:sp>
      <p:sp>
        <p:nvSpPr>
          <p:cNvPr id="2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1478A21-FD88-475B-B240-84BBECCF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5555"/>
                </a:solidFill>
              </a:defRPr>
            </a:pPr>
            <a:r>
              <a:rPr sz="750" b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254054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9155AC6-A129-48B7-B4D7-3D395B1B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FleetMind / Yang Ming AWS AI Hackathon</a:t>
            </a:r>
          </a:p>
        </p:txBody>
      </p:sp>
      <p:sp>
        <p:nvSpPr>
          <p:cNvPr id="2" name="score-chip-bg">
            <a:extLst xmlns:a="http://schemas.openxmlformats.org/drawingml/2006/main">
              <a:ext uri="{FF2B5EF4-FFF2-40B4-BE49-F238E27FC236}">
                <a16:creationId xmlns:a16="http://schemas.microsoft.com/office/drawing/2014/main" id="{4ECD844C-4CDF-4869-B2E5-357300B9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3350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core-chip">
            <a:extLst xmlns:a="http://schemas.openxmlformats.org/drawingml/2006/main">
              <a:ext uri="{FF2B5EF4-FFF2-40B4-BE49-F238E27FC236}">
                <a16:creationId xmlns:a16="http://schemas.microsoft.com/office/drawing/2014/main" id="{9343456C-B23A-4710-A4A8-2B932547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050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Tech 15% + AI 10%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F1A6191-9221-430B-9CBD-B857DFEC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技術刻意做少，讓 3 天內可以真的跑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B3BFC65-5939-4322-B6AD-37B2247B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764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單服務同源減少 demo 風險；core-calc 是唯一數字來源；Bedrock 只解釋可引用指標。</a:t>
            </a:r>
          </a:p>
        </p:txBody>
      </p:sp>
      <p:sp>
        <p:nvSpPr>
          <p:cNvPr id="6" name="arch1-bg">
            <a:extLst xmlns:a="http://schemas.openxmlformats.org/drawingml/2006/main">
              <a:ext uri="{FF2B5EF4-FFF2-40B4-BE49-F238E27FC236}">
                <a16:creationId xmlns:a16="http://schemas.microsoft.com/office/drawing/2014/main" id="{C169C015-4D6E-4018-AC36-50EE48C5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1428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arch1-title">
            <a:extLst xmlns:a="http://schemas.openxmlformats.org/drawingml/2006/main">
              <a:ext uri="{FF2B5EF4-FFF2-40B4-BE49-F238E27FC236}">
                <a16:creationId xmlns:a16="http://schemas.microsoft.com/office/drawing/2014/main" id="{47AF48A0-D858-4F08-A81C-68D1EA9D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S3</a:t>
            </a:r>
          </a:p>
        </p:txBody>
      </p:sp>
      <p:sp>
        <p:nvSpPr>
          <p:cNvPr id="8" name="arch1-body">
            <a:extLst xmlns:a="http://schemas.openxmlformats.org/drawingml/2006/main">
              <a:ext uri="{FF2B5EF4-FFF2-40B4-BE49-F238E27FC236}">
                <a16:creationId xmlns:a16="http://schemas.microsoft.com/office/drawing/2014/main" id="{287EFC9E-1624-4DD3-ACDB-9D9513CB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1123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raw/</a:t>
            </a:r>
          </a:p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processed/</a:t>
            </a:r>
          </a:p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exports/</a:t>
            </a:r>
          </a:p>
        </p:txBody>
      </p:sp>
      <p:sp>
        <p:nvSpPr>
          <p:cNvPr id="9" name="arch-a1-line">
            <a:extLst xmlns:a="http://schemas.openxmlformats.org/drawingml/2006/main">
              <a:ext uri="{FF2B5EF4-FFF2-40B4-BE49-F238E27FC236}">
                <a16:creationId xmlns:a16="http://schemas.microsoft.com/office/drawing/2014/main" id="{6E07C65C-AEF7-42DF-A4BC-E8D0F180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480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rch-a1-head">
            <a:extLst xmlns:a="http://schemas.openxmlformats.org/drawingml/2006/main">
              <a:ext uri="{FF2B5EF4-FFF2-40B4-BE49-F238E27FC236}">
                <a16:creationId xmlns:a16="http://schemas.microsoft.com/office/drawing/2014/main" id="{33AA9B03-DCC0-478F-8A98-BDAF8599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000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rch2-bg">
            <a:extLst xmlns:a="http://schemas.openxmlformats.org/drawingml/2006/main">
              <a:ext uri="{FF2B5EF4-FFF2-40B4-BE49-F238E27FC236}">
                <a16:creationId xmlns:a16="http://schemas.microsoft.com/office/drawing/2014/main" id="{7742B81F-18BB-4B7F-B4E3-4C718486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76500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arch2-title">
            <a:extLst xmlns:a="http://schemas.openxmlformats.org/drawingml/2006/main">
              <a:ext uri="{FF2B5EF4-FFF2-40B4-BE49-F238E27FC236}">
                <a16:creationId xmlns:a16="http://schemas.microsoft.com/office/drawing/2014/main" id="{C7578EE8-72F7-4FC0-898C-D6205E11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098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core-calc</a:t>
            </a:r>
          </a:p>
        </p:txBody>
      </p:sp>
      <p:sp>
        <p:nvSpPr>
          <p:cNvPr id="13" name="arch2-body">
            <a:extLst xmlns:a="http://schemas.openxmlformats.org/drawingml/2006/main">
              <a:ext uri="{FF2B5EF4-FFF2-40B4-BE49-F238E27FC236}">
                <a16:creationId xmlns:a16="http://schemas.microsoft.com/office/drawing/2014/main" id="{AF6DA2F7-A660-46C6-A409-C6EC2399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14650"/>
            <a:ext cx="150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Java pure functions</a:t>
            </a:r>
          </a:p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golden checks</a:t>
            </a:r>
          </a:p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no I/O</a:t>
            </a:r>
          </a:p>
        </p:txBody>
      </p:sp>
      <p:sp>
        <p:nvSpPr>
          <p:cNvPr id="14" name="arch-a2-line">
            <a:extLst xmlns:a="http://schemas.openxmlformats.org/drawingml/2006/main">
              <a:ext uri="{FF2B5EF4-FFF2-40B4-BE49-F238E27FC236}">
                <a16:creationId xmlns:a16="http://schemas.microsoft.com/office/drawing/2014/main" id="{C6FAAEB0-5B94-4AC2-850F-C178FBDE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480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rch-a2-head">
            <a:extLst xmlns:a="http://schemas.openxmlformats.org/drawingml/2006/main">
              <a:ext uri="{FF2B5EF4-FFF2-40B4-BE49-F238E27FC236}">
                <a16:creationId xmlns:a16="http://schemas.microsoft.com/office/drawing/2014/main" id="{BF1756D9-751A-43DE-AFEE-B06D47D1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00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rch3-bg">
            <a:extLst xmlns:a="http://schemas.openxmlformats.org/drawingml/2006/main">
              <a:ext uri="{FF2B5EF4-FFF2-40B4-BE49-F238E27FC236}">
                <a16:creationId xmlns:a16="http://schemas.microsoft.com/office/drawing/2014/main" id="{6C3F57EA-F06E-4595-A5AA-48DBB00D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7650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arch3-title">
            <a:extLst xmlns:a="http://schemas.openxmlformats.org/drawingml/2006/main">
              <a:ext uri="{FF2B5EF4-FFF2-40B4-BE49-F238E27FC236}">
                <a16:creationId xmlns:a16="http://schemas.microsoft.com/office/drawing/2014/main" id="{E77BFF89-0836-48B5-821F-C5E49AFB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09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DynamoDB</a:t>
            </a:r>
          </a:p>
        </p:txBody>
      </p:sp>
      <p:sp>
        <p:nvSpPr>
          <p:cNvPr id="18" name="arch3-body">
            <a:extLst xmlns:a="http://schemas.openxmlformats.org/drawingml/2006/main">
              <a:ext uri="{FF2B5EF4-FFF2-40B4-BE49-F238E27FC236}">
                <a16:creationId xmlns:a16="http://schemas.microsoft.com/office/drawing/2014/main" id="{602D8EF1-0A44-4547-8D94-03163A2A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14650"/>
            <a:ext cx="1314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metrics</a:t>
            </a:r>
          </a:p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events</a:t>
            </a:r>
          </a:p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brief cache</a:t>
            </a:r>
          </a:p>
        </p:txBody>
      </p:sp>
      <p:sp>
        <p:nvSpPr>
          <p:cNvPr id="19" name="arch-a3-line">
            <a:extLst xmlns:a="http://schemas.openxmlformats.org/drawingml/2006/main">
              <a:ext uri="{FF2B5EF4-FFF2-40B4-BE49-F238E27FC236}">
                <a16:creationId xmlns:a16="http://schemas.microsoft.com/office/drawing/2014/main" id="{1E93A0DA-EAAC-4753-815E-DC5D2FE0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480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arch-a3-head">
            <a:extLst xmlns:a="http://schemas.openxmlformats.org/drawingml/2006/main">
              <a:ext uri="{FF2B5EF4-FFF2-40B4-BE49-F238E27FC236}">
                <a16:creationId xmlns:a16="http://schemas.microsoft.com/office/drawing/2014/main" id="{004B5821-C9E4-455D-9F9A-6BDED783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000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rch4-bg">
            <a:extLst xmlns:a="http://schemas.openxmlformats.org/drawingml/2006/main">
              <a:ext uri="{FF2B5EF4-FFF2-40B4-BE49-F238E27FC236}">
                <a16:creationId xmlns:a16="http://schemas.microsoft.com/office/drawing/2014/main" id="{7A6B0C4A-386F-4A06-9538-8110B236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76500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arch4-title">
            <a:extLst xmlns:a="http://schemas.openxmlformats.org/drawingml/2006/main">
              <a:ext uri="{FF2B5EF4-FFF2-40B4-BE49-F238E27FC236}">
                <a16:creationId xmlns:a16="http://schemas.microsoft.com/office/drawing/2014/main" id="{81DA203C-598F-4BEF-8E02-4BFC3BA5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098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Spring Boot</a:t>
            </a:r>
          </a:p>
        </p:txBody>
      </p:sp>
      <p:sp>
        <p:nvSpPr>
          <p:cNvPr id="23" name="arch4-body">
            <a:extLst xmlns:a="http://schemas.openxmlformats.org/drawingml/2006/main">
              <a:ext uri="{FF2B5EF4-FFF2-40B4-BE49-F238E27FC236}">
                <a16:creationId xmlns:a16="http://schemas.microsoft.com/office/drawing/2014/main" id="{1A87E5AB-227E-46FD-A753-C4C0B29C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14650"/>
            <a:ext cx="150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API + static dashboard</a:t>
            </a:r>
          </a:p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same origin</a:t>
            </a:r>
          </a:p>
        </p:txBody>
      </p:sp>
      <p:sp>
        <p:nvSpPr>
          <p:cNvPr id="24" name="arch-a4-line">
            <a:extLst xmlns:a="http://schemas.openxmlformats.org/drawingml/2006/main">
              <a:ext uri="{FF2B5EF4-FFF2-40B4-BE49-F238E27FC236}">
                <a16:creationId xmlns:a16="http://schemas.microsoft.com/office/drawing/2014/main" id="{29DAFE5C-232A-4523-BD85-9E062799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4800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arch-a4-head">
            <a:extLst xmlns:a="http://schemas.openxmlformats.org/drawingml/2006/main">
              <a:ext uri="{FF2B5EF4-FFF2-40B4-BE49-F238E27FC236}">
                <a16:creationId xmlns:a16="http://schemas.microsoft.com/office/drawing/2014/main" id="{ED47DCA5-367B-4D24-A057-3076C996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00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arch5-bg">
            <a:extLst xmlns:a="http://schemas.openxmlformats.org/drawingml/2006/main">
              <a:ext uri="{FF2B5EF4-FFF2-40B4-BE49-F238E27FC236}">
                <a16:creationId xmlns:a16="http://schemas.microsoft.com/office/drawing/2014/main" id="{52034B48-66E5-4C89-8556-DADC7341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476500"/>
            <a:ext cx="12954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arch5-title">
            <a:extLst xmlns:a="http://schemas.openxmlformats.org/drawingml/2006/main">
              <a:ext uri="{FF2B5EF4-FFF2-40B4-BE49-F238E27FC236}">
                <a16:creationId xmlns:a16="http://schemas.microsoft.com/office/drawing/2014/main" id="{3588B316-FF68-4B65-8994-58931CA7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60985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UI</a:t>
            </a:r>
          </a:p>
        </p:txBody>
      </p:sp>
      <p:sp>
        <p:nvSpPr>
          <p:cNvPr id="28" name="arch5-body">
            <a:extLst xmlns:a="http://schemas.openxmlformats.org/drawingml/2006/main">
              <a:ext uri="{FF2B5EF4-FFF2-40B4-BE49-F238E27FC236}">
                <a16:creationId xmlns:a16="http://schemas.microsoft.com/office/drawing/2014/main" id="{69D48035-0FFC-4D28-BD85-D3DD427B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914650"/>
            <a:ext cx="990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ranking</a:t>
            </a:r>
          </a:p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trends</a:t>
            </a:r>
          </a:p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brief</a:t>
            </a:r>
          </a:p>
        </p:txBody>
      </p:sp>
      <p:sp>
        <p:nvSpPr>
          <p:cNvPr id="29" name="guardrails-bg">
            <a:extLst xmlns:a="http://schemas.openxmlformats.org/drawingml/2006/main">
              <a:ext uri="{FF2B5EF4-FFF2-40B4-BE49-F238E27FC236}">
                <a16:creationId xmlns:a16="http://schemas.microsoft.com/office/drawing/2014/main" id="{185EFA20-AF6E-43B6-8724-E4882199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4762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guardrails-title">
            <a:extLst xmlns:a="http://schemas.openxmlformats.org/drawingml/2006/main">
              <a:ext uri="{FF2B5EF4-FFF2-40B4-BE49-F238E27FC236}">
                <a16:creationId xmlns:a16="http://schemas.microsoft.com/office/drawing/2014/main" id="{B8FEF2F1-DCE4-4FA0-9C32-4EEBB537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441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防幻覺三道線</a:t>
            </a:r>
          </a:p>
        </p:txBody>
      </p:sp>
      <p:sp>
        <p:nvSpPr>
          <p:cNvPr id="31" name="guardrails-body">
            <a:extLst xmlns:a="http://schemas.openxmlformats.org/drawingml/2006/main">
              <a:ext uri="{FF2B5EF4-FFF2-40B4-BE49-F238E27FC236}">
                <a16:creationId xmlns:a16="http://schemas.microsoft.com/office/drawing/2014/main" id="{5E0E429C-94AA-47F7-8C5E-F668A3D9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441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Prompt 只准引用 JSON 數字；後驗證抽取所有數字比對 citedMetrics；UI citation 可點回原始 metric。</a:t>
            </a:r>
          </a:p>
        </p:txBody>
      </p:sp>
      <p:sp>
        <p:nvSpPr>
          <p:cNvPr id="32" name="subtractions-bg">
            <a:extLst xmlns:a="http://schemas.openxmlformats.org/drawingml/2006/main">
              <a:ext uri="{FF2B5EF4-FFF2-40B4-BE49-F238E27FC236}">
                <a16:creationId xmlns:a16="http://schemas.microsoft.com/office/drawing/2014/main" id="{7DB91E28-4476-45EE-9D3B-91A9AD7E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71950"/>
            <a:ext cx="4762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subtractions-title">
            <a:extLst xmlns:a="http://schemas.openxmlformats.org/drawingml/2006/main">
              <a:ext uri="{FF2B5EF4-FFF2-40B4-BE49-F238E27FC236}">
                <a16:creationId xmlns:a16="http://schemas.microsoft.com/office/drawing/2014/main" id="{DEA84CFD-225A-4CBE-81A6-E25269B4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43400"/>
            <a:ext cx="441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刻意不用</a:t>
            </a:r>
          </a:p>
        </p:txBody>
      </p:sp>
      <p:sp>
        <p:nvSpPr>
          <p:cNvPr id="34" name="subtractions-body">
            <a:extLst xmlns:a="http://schemas.openxmlformats.org/drawingml/2006/main">
              <a:ext uri="{FF2B5EF4-FFF2-40B4-BE49-F238E27FC236}">
                <a16:creationId xmlns:a16="http://schemas.microsoft.com/office/drawing/2014/main" id="{CC4F6744-774C-4C7C-BBAB-03F1869B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43450"/>
            <a:ext cx="441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SageMaker：樣本太少且 25% 要公式。QuickSight：citation 深連結弱。CloudFront/RDS：3 天 demo 風險大。Bedrock Agents：炫技不換硬分。</a:t>
            </a:r>
          </a:p>
        </p:txBody>
      </p:sp>
      <p:sp>
        <p:nvSpPr>
          <p:cNvPr id="3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DC32A37-FEB0-4490-95F1-7BB0AF00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FA4D8BDA-A06F-40F2-A577-CC30B1AD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55555"/>
                </a:solidFill>
              </a:defRPr>
            </a:pPr>
            <a:r>
              <a:rPr sz="750" b="0">
                <a:solidFill>
                  <a:srgbClr val="555555"/>
                </a:solidFill>
              </a:rPr>
              <a:t>docs/09 §2 + docs/12 §4 + apps/api guardrails</a:t>
            </a:r>
          </a:p>
        </p:txBody>
      </p:sp>
      <p:sp>
        <p:nvSpPr>
          <p:cNvPr id="3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190AF3A-6D25-408B-91FD-F11AFFAF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5555"/>
                </a:solidFill>
              </a:defRPr>
            </a:pPr>
            <a:r>
              <a:rPr sz="750" b="0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23088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A6525F0-C6C0-4ED7-9846-26040CE8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FleetMind / Yang Ming AWS AI Hackathon</a:t>
            </a:r>
          </a:p>
        </p:txBody>
      </p:sp>
      <p:sp>
        <p:nvSpPr>
          <p:cNvPr id="2" name="score-chip-bg">
            <a:extLst xmlns:a="http://schemas.openxmlformats.org/drawingml/2006/main">
              <a:ext uri="{FF2B5EF4-FFF2-40B4-BE49-F238E27FC236}">
                <a16:creationId xmlns:a16="http://schemas.microsoft.com/office/drawing/2014/main" id="{15E30301-B0F4-4C56-87E0-B4DBFA81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3350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core-chip">
            <a:extLst xmlns:a="http://schemas.openxmlformats.org/drawingml/2006/main">
              <a:ext uri="{FF2B5EF4-FFF2-40B4-BE49-F238E27FC236}">
                <a16:creationId xmlns:a16="http://schemas.microsoft.com/office/drawing/2014/main" id="{67AA8124-D4F7-426A-87E2-A3921D7D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050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Method defense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0D8F2D-23F6-42FC-8236-1E9AC96F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76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限制先講，Q&amp;A 攻擊會變成可信度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A96DF7D-6029-4FBD-B1F2-A820D60A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764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本方案參考 ISO 19030 精神，但清楚標出正午報表限制與緩解。</a:t>
            </a:r>
          </a:p>
        </p:txBody>
      </p:sp>
      <p:sp>
        <p:nvSpPr>
          <p:cNvPr id="6" name="iso-0-0-bg">
            <a:extLst xmlns:a="http://schemas.openxmlformats.org/drawingml/2006/main">
              <a:ext uri="{FF2B5EF4-FFF2-40B4-BE49-F238E27FC236}">
                <a16:creationId xmlns:a16="http://schemas.microsoft.com/office/drawing/2014/main" id="{B0FEDBFB-AEB9-4805-82DF-AD55C216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iso-0-0-txt">
            <a:extLst xmlns:a="http://schemas.openxmlformats.org/drawingml/2006/main">
              <a:ext uri="{FF2B5EF4-FFF2-40B4-BE49-F238E27FC236}">
                <a16:creationId xmlns:a16="http://schemas.microsoft.com/office/drawing/2014/main" id="{0C98B9B2-9C2D-47C1-B221-F2DEB0C4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ISO 19030 要求</a:t>
            </a:r>
          </a:p>
        </p:txBody>
      </p:sp>
      <p:sp>
        <p:nvSpPr>
          <p:cNvPr id="8" name="iso-0-1-bg">
            <a:extLst xmlns:a="http://schemas.openxmlformats.org/drawingml/2006/main">
              <a:ext uri="{FF2B5EF4-FFF2-40B4-BE49-F238E27FC236}">
                <a16:creationId xmlns:a16="http://schemas.microsoft.com/office/drawing/2014/main" id="{87DBFA6A-D543-4EB3-A77C-ACA59C43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5745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iso-0-1-txt">
            <a:extLst xmlns:a="http://schemas.openxmlformats.org/drawingml/2006/main">
              <a:ext uri="{FF2B5EF4-FFF2-40B4-BE49-F238E27FC236}">
                <a16:creationId xmlns:a16="http://schemas.microsoft.com/office/drawing/2014/main" id="{8419A5FE-7752-45C9-85C3-8E8691C7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336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本方案</a:t>
            </a:r>
          </a:p>
        </p:txBody>
      </p:sp>
      <p:sp>
        <p:nvSpPr>
          <p:cNvPr id="10" name="iso-0-2-bg">
            <a:extLst xmlns:a="http://schemas.openxmlformats.org/drawingml/2006/main">
              <a:ext uri="{FF2B5EF4-FFF2-40B4-BE49-F238E27FC236}">
                <a16:creationId xmlns:a16="http://schemas.microsoft.com/office/drawing/2014/main" id="{2F9C8485-4CC9-4E6D-8C0F-D232845A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57450"/>
            <a:ext cx="4438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iso-0-2-txt">
            <a:extLst xmlns:a="http://schemas.openxmlformats.org/drawingml/2006/main">
              <a:ext uri="{FF2B5EF4-FFF2-40B4-BE49-F238E27FC236}">
                <a16:creationId xmlns:a16="http://schemas.microsoft.com/office/drawing/2014/main" id="{CAD27C4F-8E19-49EC-ACEE-1EF1EE32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33650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影響與緩解</a:t>
            </a:r>
          </a:p>
        </p:txBody>
      </p:sp>
      <p:sp>
        <p:nvSpPr>
          <p:cNvPr id="12" name="iso-1-0-bg">
            <a:extLst xmlns:a="http://schemas.openxmlformats.org/drawingml/2006/main">
              <a:ext uri="{FF2B5EF4-FFF2-40B4-BE49-F238E27FC236}">
                <a16:creationId xmlns:a16="http://schemas.microsoft.com/office/drawing/2014/main" id="{C3026CFC-AB8E-4F91-B09D-0B3A7999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iso-1-0-txt">
            <a:extLst xmlns:a="http://schemas.openxmlformats.org/drawingml/2006/main">
              <a:ext uri="{FF2B5EF4-FFF2-40B4-BE49-F238E27FC236}">
                <a16:creationId xmlns:a16="http://schemas.microsoft.com/office/drawing/2014/main" id="{7B4E4006-D5D6-4801-AD01-B1F4089E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22222"/>
                </a:solidFill>
              </a:defRPr>
            </a:pPr>
            <a:r>
              <a:rPr sz="900" b="0">
                <a:solidFill>
                  <a:srgbClr val="222222"/>
                </a:solidFill>
              </a:rPr>
              <a:t>對水速 STW</a:t>
            </a:r>
          </a:p>
        </p:txBody>
      </p:sp>
      <p:sp>
        <p:nvSpPr>
          <p:cNvPr id="14" name="iso-1-1-bg">
            <a:extLst xmlns:a="http://schemas.openxmlformats.org/drawingml/2006/main">
              <a:ext uri="{FF2B5EF4-FFF2-40B4-BE49-F238E27FC236}">
                <a16:creationId xmlns:a16="http://schemas.microsoft.com/office/drawing/2014/main" id="{B5924893-C00F-4C10-8E6A-1E77A7B4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4800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iso-1-1-txt">
            <a:extLst xmlns:a="http://schemas.openxmlformats.org/drawingml/2006/main">
              <a:ext uri="{FF2B5EF4-FFF2-40B4-BE49-F238E27FC236}">
                <a16:creationId xmlns:a16="http://schemas.microsoft.com/office/drawing/2014/main" id="{BCC9DECF-59BA-4D4A-AA5F-1A808E15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1242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22222"/>
                </a:solidFill>
              </a:defRPr>
            </a:pPr>
            <a:r>
              <a:rPr sz="900" b="0">
                <a:solidFill>
                  <a:srgbClr val="222222"/>
                </a:solidFill>
              </a:rPr>
              <a:t>多半是對地速 SOG</a:t>
            </a:r>
          </a:p>
        </p:txBody>
      </p:sp>
      <p:sp>
        <p:nvSpPr>
          <p:cNvPr id="16" name="iso-1-2-bg">
            <a:extLst xmlns:a="http://schemas.openxmlformats.org/drawingml/2006/main">
              <a:ext uri="{FF2B5EF4-FFF2-40B4-BE49-F238E27FC236}">
                <a16:creationId xmlns:a16="http://schemas.microsoft.com/office/drawing/2014/main" id="{203467B3-AD4F-4524-94DD-1766148D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48000"/>
            <a:ext cx="4438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iso-1-2-txt">
            <a:extLst xmlns:a="http://schemas.openxmlformats.org/drawingml/2006/main">
              <a:ext uri="{FF2B5EF4-FFF2-40B4-BE49-F238E27FC236}">
                <a16:creationId xmlns:a16="http://schemas.microsoft.com/office/drawing/2014/main" id="{80CB68B4-9C84-4D9A-9E9B-5064C71E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22222"/>
                </a:solidFill>
              </a:defRPr>
            </a:pPr>
            <a:r>
              <a:rPr sz="900" b="0">
                <a:solidFill>
                  <a:srgbClr val="222222"/>
                </a:solidFill>
              </a:rPr>
              <a:t>洋流系統性偏差；同航線配對與長窗 median，殘差不歸因給污損。</a:t>
            </a:r>
          </a:p>
        </p:txBody>
      </p:sp>
      <p:sp>
        <p:nvSpPr>
          <p:cNvPr id="18" name="iso-2-0-bg">
            <a:extLst xmlns:a="http://schemas.openxmlformats.org/drawingml/2006/main">
              <a:ext uri="{FF2B5EF4-FFF2-40B4-BE49-F238E27FC236}">
                <a16:creationId xmlns:a16="http://schemas.microsoft.com/office/drawing/2014/main" id="{D870C32E-E70D-4E88-A279-CCAD9830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iso-2-0-txt">
            <a:extLst xmlns:a="http://schemas.openxmlformats.org/drawingml/2006/main">
              <a:ext uri="{FF2B5EF4-FFF2-40B4-BE49-F238E27FC236}">
                <a16:creationId xmlns:a16="http://schemas.microsoft.com/office/drawing/2014/main" id="{A010BE36-E5CF-4ADE-8D2A-3F74DB7C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22222"/>
                </a:solidFill>
              </a:defRPr>
            </a:pPr>
            <a:r>
              <a:rPr sz="900" b="0">
                <a:solidFill>
                  <a:srgbClr val="222222"/>
                </a:solidFill>
              </a:rPr>
              <a:t>高頻自動感測</a:t>
            </a:r>
          </a:p>
        </p:txBody>
      </p:sp>
      <p:sp>
        <p:nvSpPr>
          <p:cNvPr id="20" name="iso-2-1-bg">
            <a:extLst xmlns:a="http://schemas.openxmlformats.org/drawingml/2006/main">
              <a:ext uri="{FF2B5EF4-FFF2-40B4-BE49-F238E27FC236}">
                <a16:creationId xmlns:a16="http://schemas.microsoft.com/office/drawing/2014/main" id="{C34666F9-2376-45E0-A363-AC226932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3855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iso-2-1-txt">
            <a:extLst xmlns:a="http://schemas.openxmlformats.org/drawingml/2006/main">
              <a:ext uri="{FF2B5EF4-FFF2-40B4-BE49-F238E27FC236}">
                <a16:creationId xmlns:a16="http://schemas.microsoft.com/office/drawing/2014/main" id="{39926DC1-8DA4-414D-942A-A25E3D5F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147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22222"/>
                </a:solidFill>
              </a:defRPr>
            </a:pPr>
            <a:r>
              <a:rPr sz="900" b="0">
                <a:solidFill>
                  <a:srgbClr val="222222"/>
                </a:solidFill>
              </a:rPr>
              <a:t>每日人工正午報表</a:t>
            </a:r>
          </a:p>
        </p:txBody>
      </p:sp>
      <p:sp>
        <p:nvSpPr>
          <p:cNvPr id="22" name="iso-2-2-bg">
            <a:extLst xmlns:a="http://schemas.openxmlformats.org/drawingml/2006/main">
              <a:ext uri="{FF2B5EF4-FFF2-40B4-BE49-F238E27FC236}">
                <a16:creationId xmlns:a16="http://schemas.microsoft.com/office/drawing/2014/main" id="{B70234D0-2F1C-42B5-A540-EF2F47CD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38550"/>
            <a:ext cx="4438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iso-2-2-txt">
            <a:extLst xmlns:a="http://schemas.openxmlformats.org/drawingml/2006/main">
              <a:ext uri="{FF2B5EF4-FFF2-40B4-BE49-F238E27FC236}">
                <a16:creationId xmlns:a16="http://schemas.microsoft.com/office/drawing/2014/main" id="{CAB295A3-60D2-40DE-A837-B1B1BE75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14750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22222"/>
                </a:solidFill>
              </a:defRPr>
            </a:pPr>
            <a:r>
              <a:rPr sz="900" b="0">
                <a:solidFill>
                  <a:srgbClr val="222222"/>
                </a:solidFill>
              </a:rPr>
              <a:t>噪音大；使用 median、信心等級、樣本數揭露。</a:t>
            </a:r>
          </a:p>
        </p:txBody>
      </p:sp>
      <p:sp>
        <p:nvSpPr>
          <p:cNvPr id="24" name="iso-3-0-bg">
            <a:extLst xmlns:a="http://schemas.openxmlformats.org/drawingml/2006/main">
              <a:ext uri="{FF2B5EF4-FFF2-40B4-BE49-F238E27FC236}">
                <a16:creationId xmlns:a16="http://schemas.microsoft.com/office/drawing/2014/main" id="{0D754A20-5DF1-4E8F-816A-26A01BC5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iso-3-0-txt">
            <a:extLst xmlns:a="http://schemas.openxmlformats.org/drawingml/2006/main">
              <a:ext uri="{FF2B5EF4-FFF2-40B4-BE49-F238E27FC236}">
                <a16:creationId xmlns:a16="http://schemas.microsoft.com/office/drawing/2014/main" id="{FF137D65-C592-4D2D-93F5-34536275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22222"/>
                </a:solidFill>
              </a:defRPr>
            </a:pPr>
            <a:r>
              <a:rPr sz="900" b="0">
                <a:solidFill>
                  <a:srgbClr val="222222"/>
                </a:solidFill>
              </a:rPr>
              <a:t>軸功率計</a:t>
            </a:r>
          </a:p>
        </p:txBody>
      </p:sp>
      <p:sp>
        <p:nvSpPr>
          <p:cNvPr id="26" name="iso-3-1-bg">
            <a:extLst xmlns:a="http://schemas.openxmlformats.org/drawingml/2006/main">
              <a:ext uri="{FF2B5EF4-FFF2-40B4-BE49-F238E27FC236}">
                <a16:creationId xmlns:a16="http://schemas.microsoft.com/office/drawing/2014/main" id="{5FCE2753-5908-4D3C-BEBD-7E8293E6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22910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iso-3-1-txt">
            <a:extLst xmlns:a="http://schemas.openxmlformats.org/drawingml/2006/main">
              <a:ext uri="{FF2B5EF4-FFF2-40B4-BE49-F238E27FC236}">
                <a16:creationId xmlns:a16="http://schemas.microsoft.com/office/drawing/2014/main" id="{941DE457-F838-4EF6-842A-6DAE4C44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3053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22222"/>
                </a:solidFill>
              </a:defRPr>
            </a:pPr>
            <a:r>
              <a:rPr sz="900" b="0">
                <a:solidFill>
                  <a:srgbClr val="222222"/>
                </a:solidFill>
              </a:rPr>
              <a:t>主機油耗 proxy</a:t>
            </a:r>
          </a:p>
        </p:txBody>
      </p:sp>
      <p:sp>
        <p:nvSpPr>
          <p:cNvPr id="28" name="iso-3-2-bg">
            <a:extLst xmlns:a="http://schemas.openxmlformats.org/drawingml/2006/main">
              <a:ext uri="{FF2B5EF4-FFF2-40B4-BE49-F238E27FC236}">
                <a16:creationId xmlns:a16="http://schemas.microsoft.com/office/drawing/2014/main" id="{1AA1431D-88F1-4468-B958-14CCE5D8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29100"/>
            <a:ext cx="4438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iso-3-2-txt">
            <a:extLst xmlns:a="http://schemas.openxmlformats.org/drawingml/2006/main">
              <a:ext uri="{FF2B5EF4-FFF2-40B4-BE49-F238E27FC236}">
                <a16:creationId xmlns:a16="http://schemas.microsoft.com/office/drawing/2014/main" id="{836F4CA3-7E84-4F7C-83B4-87E36873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05300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22222"/>
                </a:solidFill>
              </a:defRPr>
            </a:pPr>
            <a:r>
              <a:rPr sz="900" b="0">
                <a:solidFill>
                  <a:srgbClr val="222222"/>
                </a:solidFill>
              </a:rPr>
              <a:t>SFOC 隨負載變動；只做同速度帶比較。</a:t>
            </a:r>
          </a:p>
        </p:txBody>
      </p:sp>
      <p:sp>
        <p:nvSpPr>
          <p:cNvPr id="30" name="iso-4-0-bg">
            <a:extLst xmlns:a="http://schemas.openxmlformats.org/drawingml/2006/main">
              <a:ext uri="{FF2B5EF4-FFF2-40B4-BE49-F238E27FC236}">
                <a16:creationId xmlns:a16="http://schemas.microsoft.com/office/drawing/2014/main" id="{CB13AF15-E751-41C4-8288-6AC4EF59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iso-4-0-txt">
            <a:extLst xmlns:a="http://schemas.openxmlformats.org/drawingml/2006/main">
              <a:ext uri="{FF2B5EF4-FFF2-40B4-BE49-F238E27FC236}">
                <a16:creationId xmlns:a16="http://schemas.microsoft.com/office/drawing/2014/main" id="{C8BEDDEC-AFDE-4138-9554-FB8A1540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22222"/>
                </a:solidFill>
              </a:defRPr>
            </a:pPr>
            <a:r>
              <a:rPr sz="900" b="0">
                <a:solidFill>
                  <a:srgbClr val="222222"/>
                </a:solidFill>
              </a:rPr>
              <a:t>吃水/trim 修正</a:t>
            </a:r>
          </a:p>
        </p:txBody>
      </p:sp>
      <p:sp>
        <p:nvSpPr>
          <p:cNvPr id="32" name="iso-4-1-bg">
            <a:extLst xmlns:a="http://schemas.openxmlformats.org/drawingml/2006/main">
              <a:ext uri="{FF2B5EF4-FFF2-40B4-BE49-F238E27FC236}">
                <a16:creationId xmlns:a16="http://schemas.microsoft.com/office/drawing/2014/main" id="{40187FED-7CC2-4D9B-988D-EAD9EC78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81965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iso-4-1-txt">
            <a:extLst xmlns:a="http://schemas.openxmlformats.org/drawingml/2006/main">
              <a:ext uri="{FF2B5EF4-FFF2-40B4-BE49-F238E27FC236}">
                <a16:creationId xmlns:a16="http://schemas.microsoft.com/office/drawing/2014/main" id="{7D20ED4C-C76D-4A71-985D-34CB2CA3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8958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22222"/>
                </a:solidFill>
              </a:defRPr>
            </a:pPr>
            <a:r>
              <a:rPr sz="900" b="0">
                <a:solidFill>
                  <a:srgbClr val="222222"/>
                </a:solidFill>
              </a:rPr>
              <a:t>有欄位才修正</a:t>
            </a:r>
          </a:p>
        </p:txBody>
      </p:sp>
      <p:sp>
        <p:nvSpPr>
          <p:cNvPr id="34" name="iso-4-2-bg">
            <a:extLst xmlns:a="http://schemas.openxmlformats.org/drawingml/2006/main">
              <a:ext uri="{FF2B5EF4-FFF2-40B4-BE49-F238E27FC236}">
                <a16:creationId xmlns:a16="http://schemas.microsoft.com/office/drawing/2014/main" id="{C2E78C53-EAEC-447E-AD3E-71D13B3D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819650"/>
            <a:ext cx="4438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iso-4-2-txt">
            <a:extLst xmlns:a="http://schemas.openxmlformats.org/drawingml/2006/main">
              <a:ext uri="{FF2B5EF4-FFF2-40B4-BE49-F238E27FC236}">
                <a16:creationId xmlns:a16="http://schemas.microsoft.com/office/drawing/2014/main" id="{296FA54F-BCF1-4C28-BB31-F7BA151E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895850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22222"/>
                </a:solidFill>
              </a:defRPr>
            </a:pPr>
            <a:r>
              <a:rPr sz="900" b="0">
                <a:solidFill>
                  <a:srgbClr val="222222"/>
                </a:solidFill>
              </a:rPr>
              <a:t>無欄位時信心降級，不把假精確放進主 KPI。</a:t>
            </a:r>
          </a:p>
        </p:txBody>
      </p:sp>
      <p:sp>
        <p:nvSpPr>
          <p:cNvPr id="3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8A0E812-5FDD-4ACD-B36B-416D8A10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4779C6A3-97F5-4B93-9417-A92B51BE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55555"/>
                </a:solidFill>
              </a:defRPr>
            </a:pPr>
            <a:r>
              <a:rPr sz="750" b="0">
                <a:solidFill>
                  <a:srgbClr val="555555"/>
                </a:solidFill>
              </a:rPr>
              <a:t>docs/09 §4.4 ISO deviation table</a:t>
            </a:r>
          </a:p>
        </p:txBody>
      </p:sp>
      <p:sp>
        <p:nvSpPr>
          <p:cNvPr id="3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69D8670-D74F-4EF6-8B41-E431E835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5555"/>
                </a:solidFill>
              </a:defRPr>
            </a:pPr>
            <a:r>
              <a:rPr sz="750" b="0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56805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2B4B452-D4A3-4AE0-ABC9-F9C59667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Closing</a:t>
            </a:r>
          </a:p>
        </p:txBody>
      </p:sp>
      <p:sp>
        <p:nvSpPr>
          <p:cNvPr id="2" name="score-chip-bg">
            <a:extLst xmlns:a="http://schemas.openxmlformats.org/drawingml/2006/main">
              <a:ext uri="{FF2B5EF4-FFF2-40B4-BE49-F238E27FC236}">
                <a16:creationId xmlns:a16="http://schemas.microsoft.com/office/drawing/2014/main" id="{02E4C641-4691-42ED-94F7-89909A22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3350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core-chip">
            <a:extLst xmlns:a="http://schemas.openxmlformats.org/drawingml/2006/main">
              <a:ext uri="{FF2B5EF4-FFF2-40B4-BE49-F238E27FC236}">
                <a16:creationId xmlns:a16="http://schemas.microsoft.com/office/drawing/2014/main" id="{A13F7483-F551-4028-A6A0-8C645C11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050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15 → 97 vessels</a:t>
            </a:r>
          </a:p>
        </p:txBody>
      </p:sp>
      <p:sp>
        <p:nvSpPr>
          <p:cNvPr id="4" name="close-title">
            <a:extLst xmlns:a="http://schemas.openxmlformats.org/drawingml/2006/main">
              <a:ext uri="{FF2B5EF4-FFF2-40B4-BE49-F238E27FC236}">
                <a16:creationId xmlns:a16="http://schemas.microsoft.com/office/drawing/2014/main" id="{3008352C-0CCD-4F3D-AD06-B9CF977F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000000"/>
                </a:solidFill>
              </a:defRPr>
            </a:pPr>
            <a:r>
              <a:rPr sz="4800" b="1">
                <a:solidFill>
                  <a:srgbClr val="000000"/>
                </a:solidFill>
              </a:rPr>
              <a:t>數字來自計算，語言來自 AI，決策留給人</a:t>
            </a:r>
          </a:p>
        </p:txBody>
      </p:sp>
      <p:sp>
        <p:nvSpPr>
          <p:cNvPr id="5" name="close1-bg">
            <a:extLst xmlns:a="http://schemas.openxmlformats.org/drawingml/2006/main">
              <a:ext uri="{FF2B5EF4-FFF2-40B4-BE49-F238E27FC236}">
                <a16:creationId xmlns:a16="http://schemas.microsoft.com/office/drawing/2014/main" id="{DCA52A75-6651-4432-BBD1-8F0BBBD1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57550"/>
            <a:ext cx="2762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close1-title">
            <a:extLst xmlns:a="http://schemas.openxmlformats.org/drawingml/2006/main">
              <a:ext uri="{FF2B5EF4-FFF2-40B4-BE49-F238E27FC236}">
                <a16:creationId xmlns:a16="http://schemas.microsoft.com/office/drawing/2014/main" id="{7FD4D072-4F89-4DAB-95FD-A2EF4E89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現在能做</a:t>
            </a:r>
          </a:p>
        </p:txBody>
      </p:sp>
      <p:sp>
        <p:nvSpPr>
          <p:cNvPr id="7" name="close1-body">
            <a:extLst xmlns:a="http://schemas.openxmlformats.org/drawingml/2006/main">
              <a:ext uri="{FF2B5EF4-FFF2-40B4-BE49-F238E27FC236}">
                <a16:creationId xmlns:a16="http://schemas.microsoft.com/office/drawing/2014/main" id="{B83CD227-A675-41C8-9945-AD932E3B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29050"/>
            <a:ext cx="2419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15 艘船排名、FUEL_CONSUMP export、before-after、AI ops brief。</a:t>
            </a:r>
          </a:p>
        </p:txBody>
      </p:sp>
      <p:sp>
        <p:nvSpPr>
          <p:cNvPr id="8" name="close2-bg">
            <a:extLst xmlns:a="http://schemas.openxmlformats.org/drawingml/2006/main">
              <a:ext uri="{FF2B5EF4-FFF2-40B4-BE49-F238E27FC236}">
                <a16:creationId xmlns:a16="http://schemas.microsoft.com/office/drawing/2014/main" id="{49E199DC-D05C-4BE5-9957-A60764E5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57550"/>
            <a:ext cx="2762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close2-title">
            <a:extLst xmlns:a="http://schemas.openxmlformats.org/drawingml/2006/main">
              <a:ext uri="{FF2B5EF4-FFF2-40B4-BE49-F238E27FC236}">
                <a16:creationId xmlns:a16="http://schemas.microsoft.com/office/drawing/2014/main" id="{FE35072C-4FB3-4750-BED8-A7ACF4B6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2900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比賽後擴展</a:t>
            </a:r>
          </a:p>
        </p:txBody>
      </p:sp>
      <p:sp>
        <p:nvSpPr>
          <p:cNvPr id="10" name="close2-body">
            <a:extLst xmlns:a="http://schemas.openxmlformats.org/drawingml/2006/main">
              <a:ext uri="{FF2B5EF4-FFF2-40B4-BE49-F238E27FC236}">
                <a16:creationId xmlns:a16="http://schemas.microsoft.com/office/drawing/2014/main" id="{25B4D0ED-D094-4801-9C99-8E48E5BA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29050"/>
            <a:ext cx="2419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97 艘船同一管線；資料量增加不改架構。</a:t>
            </a:r>
          </a:p>
        </p:txBody>
      </p:sp>
      <p:sp>
        <p:nvSpPr>
          <p:cNvPr id="11" name="close3-bg">
            <a:extLst xmlns:a="http://schemas.openxmlformats.org/drawingml/2006/main">
              <a:ext uri="{FF2B5EF4-FFF2-40B4-BE49-F238E27FC236}">
                <a16:creationId xmlns:a16="http://schemas.microsoft.com/office/drawing/2014/main" id="{A5B81438-B665-4BA9-A971-18E79FCD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57550"/>
            <a:ext cx="2762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close3-title">
            <a:extLst xmlns:a="http://schemas.openxmlformats.org/drawingml/2006/main">
              <a:ext uri="{FF2B5EF4-FFF2-40B4-BE49-F238E27FC236}">
                <a16:creationId xmlns:a16="http://schemas.microsoft.com/office/drawing/2014/main" id="{E5B38DDD-1CF0-48CD-A12F-16F43F16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2900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決策邊界</a:t>
            </a:r>
          </a:p>
        </p:txBody>
      </p:sp>
      <p:sp>
        <p:nvSpPr>
          <p:cNvPr id="13" name="close3-body">
            <a:extLst xmlns:a="http://schemas.openxmlformats.org/drawingml/2006/main">
              <a:ext uri="{FF2B5EF4-FFF2-40B4-BE49-F238E27FC236}">
                <a16:creationId xmlns:a16="http://schemas.microsoft.com/office/drawing/2014/main" id="{642ABBDC-D18D-4527-B517-E95EBA15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29050"/>
            <a:ext cx="2419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AI 不下令清潔；AI 把證據變成更快的人類審核。</a:t>
            </a:r>
          </a:p>
        </p:txBody>
      </p:sp>
      <p:sp>
        <p:nvSpPr>
          <p:cNvPr id="1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863A9B6-2355-4D04-B98A-8EAF4DF6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1DE7D164-4E5B-4BA1-AF6A-D91E4A52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55555"/>
                </a:solidFill>
              </a:defRPr>
            </a:pPr>
            <a:r>
              <a:rPr sz="750" b="0">
                <a:solidFill>
                  <a:srgbClr val="555555"/>
                </a:solidFill>
              </a:rPr>
              <a:t>README product framing + docs/10 closing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1551549-B4FB-4B2A-8536-871BEB38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5555"/>
                </a:solidFill>
              </a:defRPr>
            </a:pPr>
            <a:r>
              <a:rPr sz="750" b="0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579701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7A7BD81-B2B5-4AF2-8020-6070E9D2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Backup Q&amp;A</a:t>
            </a:r>
          </a:p>
        </p:txBody>
      </p:sp>
      <p:sp>
        <p:nvSpPr>
          <p:cNvPr id="2" name="score-chip-bg">
            <a:extLst xmlns:a="http://schemas.openxmlformats.org/drawingml/2006/main">
              <a:ext uri="{FF2B5EF4-FFF2-40B4-BE49-F238E27FC236}">
                <a16:creationId xmlns:a16="http://schemas.microsoft.com/office/drawing/2014/main" id="{1CACC64C-824B-47F0-97BC-4A842E80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3350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core-chip">
            <a:extLst xmlns:a="http://schemas.openxmlformats.org/drawingml/2006/main">
              <a:ext uri="{FF2B5EF4-FFF2-40B4-BE49-F238E27FC236}">
                <a16:creationId xmlns:a16="http://schemas.microsoft.com/office/drawing/2014/main" id="{F9F9AD38-8318-4BA8-B705-C19F0BA5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050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4" name="b1-route-optimization-title">
            <a:extLst xmlns:a="http://schemas.openxmlformats.org/drawingml/2006/main">
              <a:ext uri="{FF2B5EF4-FFF2-40B4-BE49-F238E27FC236}">
                <a16:creationId xmlns:a16="http://schemas.microsoft.com/office/drawing/2014/main" id="{BBA75E7B-8DD0-4FFF-BA08-9A2BF13C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B1 為什麼不做 route optimization</a:t>
            </a:r>
          </a:p>
        </p:txBody>
      </p:sp>
      <p:sp>
        <p:nvSpPr>
          <p:cNvPr id="5" name="answer-bg">
            <a:extLst xmlns:a="http://schemas.openxmlformats.org/drawingml/2006/main">
              <a:ext uri="{FF2B5EF4-FFF2-40B4-BE49-F238E27FC236}">
                <a16:creationId xmlns:a16="http://schemas.microsoft.com/office/drawing/2014/main" id="{30ADBC16-E74D-4969-8E10-504EFFE3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51054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28C2D6AA-1635-443E-B33B-7C6457D0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短答</a:t>
            </a:r>
          </a:p>
        </p:txBody>
      </p:sp>
      <p:sp>
        <p:nvSpPr>
          <p:cNvPr id="7" name="answer-body">
            <a:extLst xmlns:a="http://schemas.openxmlformats.org/drawingml/2006/main">
              <a:ext uri="{FF2B5EF4-FFF2-40B4-BE49-F238E27FC236}">
                <a16:creationId xmlns:a16="http://schemas.microsoft.com/office/drawing/2014/main" id="{AD228AF2-78C1-4240-812B-FA3F4CBA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題目重點是船體效率、Speed Loss、FUEL_CONSUMP 與水下清潔/拋光。航線最佳化範圍更大，3 天內難以驗證，也會稀釋 55% 硬分。</a:t>
            </a:r>
          </a:p>
        </p:txBody>
      </p:sp>
      <p:sp>
        <p:nvSpPr>
          <p:cNvPr id="8" name="evidence-bg">
            <a:extLst xmlns:a="http://schemas.openxmlformats.org/drawingml/2006/main">
              <a:ext uri="{FF2B5EF4-FFF2-40B4-BE49-F238E27FC236}">
                <a16:creationId xmlns:a16="http://schemas.microsoft.com/office/drawing/2014/main" id="{C97B6CF2-147A-44EA-BFE7-E6B5CC00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81200"/>
            <a:ext cx="428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F444D161-6BC4-4EAA-AA49-20D13DAE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5265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證據</a:t>
            </a:r>
          </a:p>
        </p:txBody>
      </p:sp>
      <p:sp>
        <p:nvSpPr>
          <p:cNvPr id="10" name="evidence-body">
            <a:extLst xmlns:a="http://schemas.openxmlformats.org/drawingml/2006/main">
              <a:ext uri="{FF2B5EF4-FFF2-40B4-BE49-F238E27FC236}">
                <a16:creationId xmlns:a16="http://schemas.microsoft.com/office/drawing/2014/main" id="{5CBE1689-2A9C-4F38-A376-2D5872C6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527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docs/03 focus; docs/07 Q&amp;A</a:t>
            </a:r>
          </a:p>
        </p:txBody>
      </p:sp>
      <p:sp>
        <p:nvSpPr>
          <p:cNvPr id="11" name="limit-bg">
            <a:extLst xmlns:a="http://schemas.openxmlformats.org/drawingml/2006/main">
              <a:ext uri="{FF2B5EF4-FFF2-40B4-BE49-F238E27FC236}">
                <a16:creationId xmlns:a16="http://schemas.microsoft.com/office/drawing/2014/main" id="{19745F6D-342E-48F9-A8F4-2A03EEFC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4286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limit-title">
            <a:extLst xmlns:a="http://schemas.openxmlformats.org/drawingml/2006/main">
              <a:ext uri="{FF2B5EF4-FFF2-40B4-BE49-F238E27FC236}">
                <a16:creationId xmlns:a16="http://schemas.microsoft.com/office/drawing/2014/main" id="{36CE6A7F-E01B-4BA2-A343-A17C0D8F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限制</a:t>
            </a:r>
          </a:p>
        </p:txBody>
      </p:sp>
      <p:sp>
        <p:nvSpPr>
          <p:cNvPr id="13" name="limit-body">
            <a:extLst xmlns:a="http://schemas.openxmlformats.org/drawingml/2006/main">
              <a:ext uri="{FF2B5EF4-FFF2-40B4-BE49-F238E27FC236}">
                <a16:creationId xmlns:a16="http://schemas.microsoft.com/office/drawing/2014/main" id="{993053BC-B80B-4F48-B0F4-C86316E8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43350"/>
            <a:ext cx="3943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若賽後取得天候預報與航線限制，可把 FleetMind 指標接到航線決策，但不是本次 MVP。</a:t>
            </a:r>
          </a:p>
        </p:txBody>
      </p:sp>
      <p:sp>
        <p:nvSpPr>
          <p:cNvPr id="14" name="backup-mark">
            <a:extLst xmlns:a="http://schemas.openxmlformats.org/drawingml/2006/main">
              <a:ext uri="{FF2B5EF4-FFF2-40B4-BE49-F238E27FC236}">
                <a16:creationId xmlns:a16="http://schemas.microsoft.com/office/drawing/2014/main" id="{CB9C93D0-77BF-474D-9C9E-C10CC377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backup-return">
            <a:extLst xmlns:a="http://schemas.openxmlformats.org/drawingml/2006/main">
              <a:ext uri="{FF2B5EF4-FFF2-40B4-BE49-F238E27FC236}">
                <a16:creationId xmlns:a16="http://schemas.microsoft.com/office/drawing/2014/main" id="{0C2E31F2-7928-4B7D-80FA-B0800D96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72050"/>
            <a:ext cx="942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回答格式：一句結論 + 一個證據 + 一個限制，最後回到「數字確定性、AI 可追溯、決策留給人」。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BFE38E7-EA23-46C8-B4B0-CA4BE8BA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681D27B8-E619-4C47-8552-E392245F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55555"/>
                </a:solidFill>
              </a:defRPr>
            </a:pPr>
            <a:r>
              <a:rPr sz="750" b="0">
                <a:solidFill>
                  <a:srgbClr val="555555"/>
                </a:solidFill>
              </a:rPr>
              <a:t>docs/07 judge Q&amp;A + docs/15 backup list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6C6D2A6-7D5B-4418-B1A6-979ED320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5555"/>
                </a:solidFill>
              </a:defRPr>
            </a:pPr>
            <a:r>
              <a:rPr sz="750" b="0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129713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0D07952-E63E-48BE-B6B6-A0787A2F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Backup Q&amp;A</a:t>
            </a:r>
          </a:p>
        </p:txBody>
      </p:sp>
      <p:sp>
        <p:nvSpPr>
          <p:cNvPr id="2" name="score-chip-bg">
            <a:extLst xmlns:a="http://schemas.openxmlformats.org/drawingml/2006/main">
              <a:ext uri="{FF2B5EF4-FFF2-40B4-BE49-F238E27FC236}">
                <a16:creationId xmlns:a16="http://schemas.microsoft.com/office/drawing/2014/main" id="{E7560BF1-2E42-4E86-BB33-6C4F4D1E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3350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core-chip">
            <a:extLst xmlns:a="http://schemas.openxmlformats.org/drawingml/2006/main">
              <a:ext uri="{FF2B5EF4-FFF2-40B4-BE49-F238E27FC236}">
                <a16:creationId xmlns:a16="http://schemas.microsoft.com/office/drawing/2014/main" id="{792DB361-8777-4BB6-A35C-767E8E7A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050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4" name="b2-ai-title">
            <a:extLst xmlns:a="http://schemas.openxmlformats.org/drawingml/2006/main">
              <a:ext uri="{FF2B5EF4-FFF2-40B4-BE49-F238E27FC236}">
                <a16:creationId xmlns:a16="http://schemas.microsoft.com/office/drawing/2014/main" id="{E038A9D4-06D3-4D12-A813-1ABAAB13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B2 AI 是否做維修決策</a:t>
            </a:r>
          </a:p>
        </p:txBody>
      </p:sp>
      <p:sp>
        <p:nvSpPr>
          <p:cNvPr id="5" name="answer-bg">
            <a:extLst xmlns:a="http://schemas.openxmlformats.org/drawingml/2006/main">
              <a:ext uri="{FF2B5EF4-FFF2-40B4-BE49-F238E27FC236}">
                <a16:creationId xmlns:a16="http://schemas.microsoft.com/office/drawing/2014/main" id="{6A751388-F7CB-4F2B-BD2A-AB493B83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51054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F174DF99-5252-40F4-95CA-1E68EF64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短答</a:t>
            </a:r>
          </a:p>
        </p:txBody>
      </p:sp>
      <p:sp>
        <p:nvSpPr>
          <p:cNvPr id="7" name="answer-body">
            <a:extLst xmlns:a="http://schemas.openxmlformats.org/drawingml/2006/main">
              <a:ext uri="{FF2B5EF4-FFF2-40B4-BE49-F238E27FC236}">
                <a16:creationId xmlns:a16="http://schemas.microsoft.com/office/drawing/2014/main" id="{D06524B0-C0B8-400D-BA53-AB5A3B32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否。系統只排序、舉證、產生 operations brief；維修與清潔決策保留給海事專家。</a:t>
            </a:r>
          </a:p>
        </p:txBody>
      </p:sp>
      <p:sp>
        <p:nvSpPr>
          <p:cNvPr id="8" name="evidence-bg">
            <a:extLst xmlns:a="http://schemas.openxmlformats.org/drawingml/2006/main">
              <a:ext uri="{FF2B5EF4-FFF2-40B4-BE49-F238E27FC236}">
                <a16:creationId xmlns:a16="http://schemas.microsoft.com/office/drawing/2014/main" id="{D107DFE1-BAB1-4C3C-97AA-FA395393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81200"/>
            <a:ext cx="428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230859AB-809C-49D9-97AB-22FFAFE1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5265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證據</a:t>
            </a:r>
          </a:p>
        </p:txBody>
      </p:sp>
      <p:sp>
        <p:nvSpPr>
          <p:cNvPr id="10" name="evidence-body">
            <a:extLst xmlns:a="http://schemas.openxmlformats.org/drawingml/2006/main">
              <a:ext uri="{FF2B5EF4-FFF2-40B4-BE49-F238E27FC236}">
                <a16:creationId xmlns:a16="http://schemas.microsoft.com/office/drawing/2014/main" id="{D8C2E7B5-4DAE-4271-9DBE-654E877E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527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AGENTS.md product framing; docs/09 §1</a:t>
            </a:r>
          </a:p>
        </p:txBody>
      </p:sp>
      <p:sp>
        <p:nvSpPr>
          <p:cNvPr id="11" name="limit-bg">
            <a:extLst xmlns:a="http://schemas.openxmlformats.org/drawingml/2006/main">
              <a:ext uri="{FF2B5EF4-FFF2-40B4-BE49-F238E27FC236}">
                <a16:creationId xmlns:a16="http://schemas.microsoft.com/office/drawing/2014/main" id="{CEB514D5-9EBD-4FE9-AE3A-1BA15A13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4286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limit-title">
            <a:extLst xmlns:a="http://schemas.openxmlformats.org/drawingml/2006/main">
              <a:ext uri="{FF2B5EF4-FFF2-40B4-BE49-F238E27FC236}">
                <a16:creationId xmlns:a16="http://schemas.microsoft.com/office/drawing/2014/main" id="{3A2F7B88-3360-4238-8BA9-2E3F5DF2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限制</a:t>
            </a:r>
          </a:p>
        </p:txBody>
      </p:sp>
      <p:sp>
        <p:nvSpPr>
          <p:cNvPr id="13" name="limit-body">
            <a:extLst xmlns:a="http://schemas.openxmlformats.org/drawingml/2006/main">
              <a:ext uri="{FF2B5EF4-FFF2-40B4-BE49-F238E27FC236}">
                <a16:creationId xmlns:a16="http://schemas.microsoft.com/office/drawing/2014/main" id="{20EAC722-94DE-4B4E-8FC0-43488E7F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43350"/>
            <a:ext cx="3943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低信心時只建議 inspection，不直接建議 cleaning。</a:t>
            </a:r>
          </a:p>
        </p:txBody>
      </p:sp>
      <p:sp>
        <p:nvSpPr>
          <p:cNvPr id="14" name="backup-mark">
            <a:extLst xmlns:a="http://schemas.openxmlformats.org/drawingml/2006/main">
              <a:ext uri="{FF2B5EF4-FFF2-40B4-BE49-F238E27FC236}">
                <a16:creationId xmlns:a16="http://schemas.microsoft.com/office/drawing/2014/main" id="{43DDCF72-4D3D-4E03-BCD1-C6CE38D0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backup-return">
            <a:extLst xmlns:a="http://schemas.openxmlformats.org/drawingml/2006/main">
              <a:ext uri="{FF2B5EF4-FFF2-40B4-BE49-F238E27FC236}">
                <a16:creationId xmlns:a16="http://schemas.microsoft.com/office/drawing/2014/main" id="{F29A0CA8-382D-4F6B-827C-0E431BE4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72050"/>
            <a:ext cx="942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回答格式：一句結論 + 一個證據 + 一個限制，最後回到「數字確定性、AI 可追溯、決策留給人」。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27D0D6A-659B-4DDD-AF0D-57388387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733459C9-BE97-441C-86BC-D14032E0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55555"/>
                </a:solidFill>
              </a:defRPr>
            </a:pPr>
            <a:r>
              <a:rPr sz="750" b="0">
                <a:solidFill>
                  <a:srgbClr val="555555"/>
                </a:solidFill>
              </a:rPr>
              <a:t>docs/07 judge Q&amp;A + docs/15 backup list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BB12A02-49A9-46D9-9EC1-A57EF487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5555"/>
                </a:solidFill>
              </a:defRPr>
            </a:pPr>
            <a:r>
              <a:rPr sz="750" b="0">
                <a:solidFill>
                  <a:srgbClr val="55555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875885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71E4BD1-8263-48EE-B9D8-C309D99A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Backup Q&amp;A</a:t>
            </a:r>
          </a:p>
        </p:txBody>
      </p:sp>
      <p:sp>
        <p:nvSpPr>
          <p:cNvPr id="2" name="score-chip-bg">
            <a:extLst xmlns:a="http://schemas.openxmlformats.org/drawingml/2006/main">
              <a:ext uri="{FF2B5EF4-FFF2-40B4-BE49-F238E27FC236}">
                <a16:creationId xmlns:a16="http://schemas.microsoft.com/office/drawing/2014/main" id="{E5751D14-B56B-4122-96A5-F47F9333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3350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core-chip">
            <a:extLst xmlns:a="http://schemas.openxmlformats.org/drawingml/2006/main">
              <a:ext uri="{FF2B5EF4-FFF2-40B4-BE49-F238E27FC236}">
                <a16:creationId xmlns:a16="http://schemas.microsoft.com/office/drawing/2014/main" id="{4C2245E1-8597-4F2B-9753-226FBDBA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050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4" name="b3-title">
            <a:extLst xmlns:a="http://schemas.openxmlformats.org/drawingml/2006/main">
              <a:ext uri="{FF2B5EF4-FFF2-40B4-BE49-F238E27FC236}">
                <a16:creationId xmlns:a16="http://schemas.microsoft.com/office/drawing/2014/main" id="{6E6BADC8-D28A-4852-B630-68E41F78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B3 防幻覺三道線</a:t>
            </a:r>
          </a:p>
        </p:txBody>
      </p:sp>
      <p:sp>
        <p:nvSpPr>
          <p:cNvPr id="5" name="answer-bg">
            <a:extLst xmlns:a="http://schemas.openxmlformats.org/drawingml/2006/main">
              <a:ext uri="{FF2B5EF4-FFF2-40B4-BE49-F238E27FC236}">
                <a16:creationId xmlns:a16="http://schemas.microsoft.com/office/drawing/2014/main" id="{3A9CA0DF-62C6-4BE7-815C-C5E3632F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51054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D2FB7821-D648-4792-9A18-7DF4442D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短答</a:t>
            </a:r>
          </a:p>
        </p:txBody>
      </p:sp>
      <p:sp>
        <p:nvSpPr>
          <p:cNvPr id="7" name="answer-body">
            <a:extLst xmlns:a="http://schemas.openxmlformats.org/drawingml/2006/main">
              <a:ext uri="{FF2B5EF4-FFF2-40B4-BE49-F238E27FC236}">
                <a16:creationId xmlns:a16="http://schemas.microsoft.com/office/drawing/2014/main" id="{389FD3BC-3456-4D0A-B09B-4E6AE39F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數字只來自 core-calc 與 processed metrics。Bedrock prompt 不准推算新數字；後驗證比對 citedMetrics；UI citation 可回原始 metric。</a:t>
            </a:r>
          </a:p>
        </p:txBody>
      </p:sp>
      <p:sp>
        <p:nvSpPr>
          <p:cNvPr id="8" name="evidence-bg">
            <a:extLst xmlns:a="http://schemas.openxmlformats.org/drawingml/2006/main">
              <a:ext uri="{FF2B5EF4-FFF2-40B4-BE49-F238E27FC236}">
                <a16:creationId xmlns:a16="http://schemas.microsoft.com/office/drawing/2014/main" id="{AE81000D-FE20-414A-B754-9D570DAF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81200"/>
            <a:ext cx="428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84CEDDCA-86C3-4CB8-AD0C-F9DEB9DE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5265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證據</a:t>
            </a:r>
          </a:p>
        </p:txBody>
      </p:sp>
      <p:sp>
        <p:nvSpPr>
          <p:cNvPr id="10" name="evidence-body">
            <a:extLst xmlns:a="http://schemas.openxmlformats.org/drawingml/2006/main">
              <a:ext uri="{FF2B5EF4-FFF2-40B4-BE49-F238E27FC236}">
                <a16:creationId xmlns:a16="http://schemas.microsoft.com/office/drawing/2014/main" id="{C28D6C88-6173-4B25-8B2B-66D0114E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527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apps/api AiBriefPrompt + AiBriefGuardrail; docs/09 §5</a:t>
            </a:r>
          </a:p>
        </p:txBody>
      </p:sp>
      <p:sp>
        <p:nvSpPr>
          <p:cNvPr id="11" name="limit-bg">
            <a:extLst xmlns:a="http://schemas.openxmlformats.org/drawingml/2006/main">
              <a:ext uri="{FF2B5EF4-FFF2-40B4-BE49-F238E27FC236}">
                <a16:creationId xmlns:a16="http://schemas.microsoft.com/office/drawing/2014/main" id="{03612D30-ABBC-4897-9D95-25B8D286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4286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limit-title">
            <a:extLst xmlns:a="http://schemas.openxmlformats.org/drawingml/2006/main">
              <a:ext uri="{FF2B5EF4-FFF2-40B4-BE49-F238E27FC236}">
                <a16:creationId xmlns:a16="http://schemas.microsoft.com/office/drawing/2014/main" id="{AC13BC2B-495A-4639-BBE6-575EE788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限制</a:t>
            </a:r>
          </a:p>
        </p:txBody>
      </p:sp>
      <p:sp>
        <p:nvSpPr>
          <p:cNvPr id="13" name="limit-body">
            <a:extLst xmlns:a="http://schemas.openxmlformats.org/drawingml/2006/main">
              <a:ext uri="{FF2B5EF4-FFF2-40B4-BE49-F238E27FC236}">
                <a16:creationId xmlns:a16="http://schemas.microsoft.com/office/drawing/2014/main" id="{31F2EEF5-B309-4A4D-9311-A2011D35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43350"/>
            <a:ext cx="3943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語意仍需 human review，所以 brief 明確標示待人工審核。</a:t>
            </a:r>
          </a:p>
        </p:txBody>
      </p:sp>
      <p:sp>
        <p:nvSpPr>
          <p:cNvPr id="14" name="backup-mark">
            <a:extLst xmlns:a="http://schemas.openxmlformats.org/drawingml/2006/main">
              <a:ext uri="{FF2B5EF4-FFF2-40B4-BE49-F238E27FC236}">
                <a16:creationId xmlns:a16="http://schemas.microsoft.com/office/drawing/2014/main" id="{9D4C657B-3448-4804-ACAA-A58A78CD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backup-return">
            <a:extLst xmlns:a="http://schemas.openxmlformats.org/drawingml/2006/main">
              <a:ext uri="{FF2B5EF4-FFF2-40B4-BE49-F238E27FC236}">
                <a16:creationId xmlns:a16="http://schemas.microsoft.com/office/drawing/2014/main" id="{4EAB0F11-7170-4B05-A70D-DC698FCF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72050"/>
            <a:ext cx="942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回答格式：一句結論 + 一個證據 + 一個限制，最後回到「數字確定性、AI 可追溯、決策留給人」。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F46B2FB-09F1-41DF-8C87-E4AA4998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E10EA109-DCB0-4C21-A59F-CA447419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55555"/>
                </a:solidFill>
              </a:defRPr>
            </a:pPr>
            <a:r>
              <a:rPr sz="750" b="0">
                <a:solidFill>
                  <a:srgbClr val="555555"/>
                </a:solidFill>
              </a:rPr>
              <a:t>docs/07 judge Q&amp;A + docs/15 backup list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50FD506-1291-43B4-BD88-28D81E0A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5555"/>
                </a:solidFill>
              </a:defRPr>
            </a:pPr>
            <a:r>
              <a:rPr sz="750" b="0">
                <a:solidFill>
                  <a:srgbClr val="55555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926778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0FCE4AB-E467-4EB9-B9FC-DB4C5874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Backup Q&amp;A</a:t>
            </a:r>
          </a:p>
        </p:txBody>
      </p:sp>
      <p:sp>
        <p:nvSpPr>
          <p:cNvPr id="2" name="score-chip-bg">
            <a:extLst xmlns:a="http://schemas.openxmlformats.org/drawingml/2006/main">
              <a:ext uri="{FF2B5EF4-FFF2-40B4-BE49-F238E27FC236}">
                <a16:creationId xmlns:a16="http://schemas.microsoft.com/office/drawing/2014/main" id="{DE179B37-8FDA-4124-9151-C6DC778E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3350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core-chip">
            <a:extLst xmlns:a="http://schemas.openxmlformats.org/drawingml/2006/main">
              <a:ext uri="{FF2B5EF4-FFF2-40B4-BE49-F238E27FC236}">
                <a16:creationId xmlns:a16="http://schemas.microsoft.com/office/drawing/2014/main" id="{EE26552E-7921-44AE-A334-12A9C3B0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050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4" name="b4-title">
            <a:extLst xmlns:a="http://schemas.openxmlformats.org/drawingml/2006/main">
              <a:ext uri="{FF2B5EF4-FFF2-40B4-BE49-F238E27FC236}">
                <a16:creationId xmlns:a16="http://schemas.microsoft.com/office/drawing/2014/main" id="{0FAC0B0D-D78A-402E-B72E-89EA4D55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B4 品質差時怎麼辦</a:t>
            </a:r>
          </a:p>
        </p:txBody>
      </p:sp>
      <p:sp>
        <p:nvSpPr>
          <p:cNvPr id="5" name="answer-bg">
            <a:extLst xmlns:a="http://schemas.openxmlformats.org/drawingml/2006/main">
              <a:ext uri="{FF2B5EF4-FFF2-40B4-BE49-F238E27FC236}">
                <a16:creationId xmlns:a16="http://schemas.microsoft.com/office/drawing/2014/main" id="{2D2E3820-CDEA-4D14-AA41-A6632DB4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51054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C6F8D0C5-C62C-4F64-B8A6-3D205E8C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短答</a:t>
            </a:r>
          </a:p>
        </p:txBody>
      </p:sp>
      <p:sp>
        <p:nvSpPr>
          <p:cNvPr id="7" name="answer-body">
            <a:extLst xmlns:a="http://schemas.openxmlformats.org/drawingml/2006/main">
              <a:ext uri="{FF2B5EF4-FFF2-40B4-BE49-F238E27FC236}">
                <a16:creationId xmlns:a16="http://schemas.microsoft.com/office/drawing/2014/main" id="{73EC7C56-DA26-4EEE-A965-86ABED52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資料不丟列。FUEL_CONSUMP 全量輸出；Speed Loss 使用合格列；品質差會降信心並顯示原因碼統計。</a:t>
            </a:r>
          </a:p>
        </p:txBody>
      </p:sp>
      <p:sp>
        <p:nvSpPr>
          <p:cNvPr id="8" name="evidence-bg">
            <a:extLst xmlns:a="http://schemas.openxmlformats.org/drawingml/2006/main">
              <a:ext uri="{FF2B5EF4-FFF2-40B4-BE49-F238E27FC236}">
                <a16:creationId xmlns:a16="http://schemas.microsoft.com/office/drawing/2014/main" id="{A630B5C0-D132-40B1-A9FE-0274ED0D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81200"/>
            <a:ext cx="428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7F64B46E-0FD0-4457-9815-899500BD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5265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證據</a:t>
            </a:r>
          </a:p>
        </p:txBody>
      </p:sp>
      <p:sp>
        <p:nvSpPr>
          <p:cNvPr id="10" name="evidence-body">
            <a:extLst xmlns:a="http://schemas.openxmlformats.org/drawingml/2006/main">
              <a:ext uri="{FF2B5EF4-FFF2-40B4-BE49-F238E27FC236}">
                <a16:creationId xmlns:a16="http://schemas.microsoft.com/office/drawing/2014/main" id="{AC51003D-4FBD-4311-8D08-A9E2AC7A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527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docs/09 §3.1; docs/12 R9</a:t>
            </a:r>
          </a:p>
        </p:txBody>
      </p:sp>
      <p:sp>
        <p:nvSpPr>
          <p:cNvPr id="11" name="limit-bg">
            <a:extLst xmlns:a="http://schemas.openxmlformats.org/drawingml/2006/main">
              <a:ext uri="{FF2B5EF4-FFF2-40B4-BE49-F238E27FC236}">
                <a16:creationId xmlns:a16="http://schemas.microsoft.com/office/drawing/2014/main" id="{8B1F0103-5983-4F0B-994F-DA201512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4286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limit-title">
            <a:extLst xmlns:a="http://schemas.openxmlformats.org/drawingml/2006/main">
              <a:ext uri="{FF2B5EF4-FFF2-40B4-BE49-F238E27FC236}">
                <a16:creationId xmlns:a16="http://schemas.microsoft.com/office/drawing/2014/main" id="{CA96BB83-E051-4398-9380-CBED33FC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限制</a:t>
            </a:r>
          </a:p>
        </p:txBody>
      </p:sp>
      <p:sp>
        <p:nvSpPr>
          <p:cNvPr id="13" name="limit-body">
            <a:extLst xmlns:a="http://schemas.openxmlformats.org/drawingml/2006/main">
              <a:ext uri="{FF2B5EF4-FFF2-40B4-BE49-F238E27FC236}">
                <a16:creationId xmlns:a16="http://schemas.microsoft.com/office/drawing/2014/main" id="{9BBBCBE5-A0C7-4B8A-9AD1-BA3D012B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43350"/>
            <a:ext cx="3943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樣本太少時只做觀察或 inspection，不給高信心清潔建議。</a:t>
            </a:r>
          </a:p>
        </p:txBody>
      </p:sp>
      <p:sp>
        <p:nvSpPr>
          <p:cNvPr id="14" name="backup-mark">
            <a:extLst xmlns:a="http://schemas.openxmlformats.org/drawingml/2006/main">
              <a:ext uri="{FF2B5EF4-FFF2-40B4-BE49-F238E27FC236}">
                <a16:creationId xmlns:a16="http://schemas.microsoft.com/office/drawing/2014/main" id="{FD2CE660-C92B-428A-8C50-017B9F58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backup-return">
            <a:extLst xmlns:a="http://schemas.openxmlformats.org/drawingml/2006/main">
              <a:ext uri="{FF2B5EF4-FFF2-40B4-BE49-F238E27FC236}">
                <a16:creationId xmlns:a16="http://schemas.microsoft.com/office/drawing/2014/main" id="{F2249C44-04E3-4300-9074-A314DA42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72050"/>
            <a:ext cx="942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回答格式：一句結論 + 一個證據 + 一個限制，最後回到「數字確定性、AI 可追溯、決策留給人」。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E3F1B6B-4072-4B97-8189-C799E0A4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22564B82-B55D-47C5-AD92-51CE9FE1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55555"/>
                </a:solidFill>
              </a:defRPr>
            </a:pPr>
            <a:r>
              <a:rPr sz="750" b="0">
                <a:solidFill>
                  <a:srgbClr val="555555"/>
                </a:solidFill>
              </a:rPr>
              <a:t>docs/07 judge Q&amp;A + docs/15 backup list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4EE106A-88BD-4795-803A-FADB2373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5555"/>
                </a:solidFill>
              </a:defRPr>
            </a:pPr>
            <a:r>
              <a:rPr sz="750" b="0">
                <a:solidFill>
                  <a:srgbClr val="555555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660496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A61D06C-7D61-4F86-9473-1B67290E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Backup Q&amp;A</a:t>
            </a:r>
          </a:p>
        </p:txBody>
      </p:sp>
      <p:sp>
        <p:nvSpPr>
          <p:cNvPr id="2" name="score-chip-bg">
            <a:extLst xmlns:a="http://schemas.openxmlformats.org/drawingml/2006/main">
              <a:ext uri="{FF2B5EF4-FFF2-40B4-BE49-F238E27FC236}">
                <a16:creationId xmlns:a16="http://schemas.microsoft.com/office/drawing/2014/main" id="{70AE35EF-1904-4464-B308-D2300626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3350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core-chip">
            <a:extLst xmlns:a="http://schemas.openxmlformats.org/drawingml/2006/main">
              <a:ext uri="{FF2B5EF4-FFF2-40B4-BE49-F238E27FC236}">
                <a16:creationId xmlns:a16="http://schemas.microsoft.com/office/drawing/2014/main" id="{7E1685F5-32F5-4C0D-AC71-AC30BA5E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050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4" name="b5-baseline-title">
            <a:extLst xmlns:a="http://schemas.openxmlformats.org/drawingml/2006/main">
              <a:ext uri="{FF2B5EF4-FFF2-40B4-BE49-F238E27FC236}">
                <a16:creationId xmlns:a16="http://schemas.microsoft.com/office/drawing/2014/main" id="{4A7F0F24-60E2-4162-A0FB-EBEE9763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B5 Baseline 怎麼定</a:t>
            </a:r>
          </a:p>
        </p:txBody>
      </p:sp>
      <p:sp>
        <p:nvSpPr>
          <p:cNvPr id="5" name="answer-bg">
            <a:extLst xmlns:a="http://schemas.openxmlformats.org/drawingml/2006/main">
              <a:ext uri="{FF2B5EF4-FFF2-40B4-BE49-F238E27FC236}">
                <a16:creationId xmlns:a16="http://schemas.microsoft.com/office/drawing/2014/main" id="{5315B6F3-68F9-47C5-8194-B0D791F4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51054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1165901D-6938-42ED-AE00-A47F6958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短答</a:t>
            </a:r>
          </a:p>
        </p:txBody>
      </p:sp>
      <p:sp>
        <p:nvSpPr>
          <p:cNvPr id="7" name="answer-body">
            <a:extLst xmlns:a="http://schemas.openxmlformats.org/drawingml/2006/main">
              <a:ext uri="{FF2B5EF4-FFF2-40B4-BE49-F238E27FC236}">
                <a16:creationId xmlns:a16="http://schemas.microsoft.com/office/drawing/2014/main" id="{D09246E7-7C3A-454D-AF49-18DC853F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每船按水下清潔/拋光與 unknown breakpoint 切段；事件後首 10-15 個合格天作參考窗，最多 60 calendar days。</a:t>
            </a:r>
          </a:p>
        </p:txBody>
      </p:sp>
      <p:sp>
        <p:nvSpPr>
          <p:cNvPr id="8" name="evidence-bg">
            <a:extLst xmlns:a="http://schemas.openxmlformats.org/drawingml/2006/main">
              <a:ext uri="{FF2B5EF4-FFF2-40B4-BE49-F238E27FC236}">
                <a16:creationId xmlns:a16="http://schemas.microsoft.com/office/drawing/2014/main" id="{B0E9DAE3-63DC-4DD0-B0B1-266F8FC4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81200"/>
            <a:ext cx="428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D8E9556A-C2C6-4FA9-B7DD-407769EB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5265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證據</a:t>
            </a:r>
          </a:p>
        </p:txBody>
      </p:sp>
      <p:sp>
        <p:nvSpPr>
          <p:cNvPr id="10" name="evidence-body">
            <a:extLst xmlns:a="http://schemas.openxmlformats.org/drawingml/2006/main">
              <a:ext uri="{FF2B5EF4-FFF2-40B4-BE49-F238E27FC236}">
                <a16:creationId xmlns:a16="http://schemas.microsoft.com/office/drawing/2014/main" id="{04FEFC32-7A24-4CE9-B877-76ABCEE5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527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docs/09 §4.1; docs/07 baseline answer</a:t>
            </a:r>
          </a:p>
        </p:txBody>
      </p:sp>
      <p:sp>
        <p:nvSpPr>
          <p:cNvPr id="11" name="limit-bg">
            <a:extLst xmlns:a="http://schemas.openxmlformats.org/drawingml/2006/main">
              <a:ext uri="{FF2B5EF4-FFF2-40B4-BE49-F238E27FC236}">
                <a16:creationId xmlns:a16="http://schemas.microsoft.com/office/drawing/2014/main" id="{294948C0-7276-4E39-8379-551EBC76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4286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limit-title">
            <a:extLst xmlns:a="http://schemas.openxmlformats.org/drawingml/2006/main">
              <a:ext uri="{FF2B5EF4-FFF2-40B4-BE49-F238E27FC236}">
                <a16:creationId xmlns:a16="http://schemas.microsoft.com/office/drawing/2014/main" id="{5312FB11-056E-4045-98C8-9B3014ED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限制</a:t>
            </a:r>
          </a:p>
        </p:txBody>
      </p:sp>
      <p:sp>
        <p:nvSpPr>
          <p:cNvPr id="13" name="limit-body">
            <a:extLst xmlns:a="http://schemas.openxmlformats.org/drawingml/2006/main">
              <a:ext uri="{FF2B5EF4-FFF2-40B4-BE49-F238E27FC236}">
                <a16:creationId xmlns:a16="http://schemas.microsoft.com/office/drawing/2014/main" id="{572A5AEA-067C-47CF-BDE4-B8D4599F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43350"/>
            <a:ext cx="3943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若事件表漏掉 dry-dock，以 k 值持續驟降偵測 unknown breakpoint。</a:t>
            </a:r>
          </a:p>
        </p:txBody>
      </p:sp>
      <p:sp>
        <p:nvSpPr>
          <p:cNvPr id="14" name="backup-mark">
            <a:extLst xmlns:a="http://schemas.openxmlformats.org/drawingml/2006/main">
              <a:ext uri="{FF2B5EF4-FFF2-40B4-BE49-F238E27FC236}">
                <a16:creationId xmlns:a16="http://schemas.microsoft.com/office/drawing/2014/main" id="{7CBDB804-85AC-4F6E-8CC7-294B186E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backup-return">
            <a:extLst xmlns:a="http://schemas.openxmlformats.org/drawingml/2006/main">
              <a:ext uri="{FF2B5EF4-FFF2-40B4-BE49-F238E27FC236}">
                <a16:creationId xmlns:a16="http://schemas.microsoft.com/office/drawing/2014/main" id="{DF491C02-0492-48A8-8B64-F53FAED0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72050"/>
            <a:ext cx="942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回答格式：一句結論 + 一個證據 + 一個限制，最後回到「數字確定性、AI 可追溯、決策留給人」。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C6DCAB9-F16E-4C59-A6A5-5986CAD6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60546F28-D384-43FC-9881-A6DD132E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55555"/>
                </a:solidFill>
              </a:defRPr>
            </a:pPr>
            <a:r>
              <a:rPr sz="750" b="0">
                <a:solidFill>
                  <a:srgbClr val="555555"/>
                </a:solidFill>
              </a:rPr>
              <a:t>docs/07 judge Q&amp;A + docs/15 backup list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15027FB-E21E-4F20-822F-4E54050A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5555"/>
                </a:solidFill>
              </a:defRPr>
            </a:pPr>
            <a:r>
              <a:rPr sz="750" b="0">
                <a:solidFill>
                  <a:srgbClr val="555555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9045723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965632D-3608-4792-A7C8-8784C3A6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Backup Q&amp;A</a:t>
            </a:r>
          </a:p>
        </p:txBody>
      </p:sp>
      <p:sp>
        <p:nvSpPr>
          <p:cNvPr id="2" name="score-chip-bg">
            <a:extLst xmlns:a="http://schemas.openxmlformats.org/drawingml/2006/main">
              <a:ext uri="{FF2B5EF4-FFF2-40B4-BE49-F238E27FC236}">
                <a16:creationId xmlns:a16="http://schemas.microsoft.com/office/drawing/2014/main" id="{5F2090A1-945A-4F60-AC59-BD80E497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3350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core-chip">
            <a:extLst xmlns:a="http://schemas.openxmlformats.org/drawingml/2006/main">
              <a:ext uri="{FF2B5EF4-FFF2-40B4-BE49-F238E27FC236}">
                <a16:creationId xmlns:a16="http://schemas.microsoft.com/office/drawing/2014/main" id="{18332CFA-42EE-4DC2-AFDE-95856D44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050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4" name="b6-slow-steaming-title">
            <a:extLst xmlns:a="http://schemas.openxmlformats.org/drawingml/2006/main">
              <a:ext uri="{FF2B5EF4-FFF2-40B4-BE49-F238E27FC236}">
                <a16:creationId xmlns:a16="http://schemas.microsoft.com/office/drawing/2014/main" id="{FCAD5D63-81EF-4E92-B132-D6F7373E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B6 Slow steaming 怎麼分離</a:t>
            </a:r>
          </a:p>
        </p:txBody>
      </p:sp>
      <p:sp>
        <p:nvSpPr>
          <p:cNvPr id="5" name="answer-bg">
            <a:extLst xmlns:a="http://schemas.openxmlformats.org/drawingml/2006/main">
              <a:ext uri="{FF2B5EF4-FFF2-40B4-BE49-F238E27FC236}">
                <a16:creationId xmlns:a16="http://schemas.microsoft.com/office/drawing/2014/main" id="{A154A141-CB81-4084-A919-FA8C0FC5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51054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851E400C-D939-47E3-8D95-40B03048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短答</a:t>
            </a:r>
          </a:p>
        </p:txBody>
      </p:sp>
      <p:sp>
        <p:nvSpPr>
          <p:cNvPr id="7" name="answer-body">
            <a:extLst xmlns:a="http://schemas.openxmlformats.org/drawingml/2006/main">
              <a:ext uri="{FF2B5EF4-FFF2-40B4-BE49-F238E27FC236}">
                <a16:creationId xmlns:a16="http://schemas.microsoft.com/office/drawing/2014/main" id="{396567A8-3F05-465B-981D-63C53B42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不比較 raw FOC 或 raw speed。用 k = FOC/V^n 正規化，且只在參考窗 ±1 kn 同速度帶比較。</a:t>
            </a:r>
          </a:p>
        </p:txBody>
      </p:sp>
      <p:sp>
        <p:nvSpPr>
          <p:cNvPr id="8" name="evidence-bg">
            <a:extLst xmlns:a="http://schemas.openxmlformats.org/drawingml/2006/main">
              <a:ext uri="{FF2B5EF4-FFF2-40B4-BE49-F238E27FC236}">
                <a16:creationId xmlns:a16="http://schemas.microsoft.com/office/drawing/2014/main" id="{FF9AFC7C-6556-4935-9434-42EB1C38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81200"/>
            <a:ext cx="428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4EDB9ED8-F199-48EC-8CA3-E2A45D71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5265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證據</a:t>
            </a:r>
          </a:p>
        </p:txBody>
      </p:sp>
      <p:sp>
        <p:nvSpPr>
          <p:cNvPr id="10" name="evidence-body">
            <a:extLst xmlns:a="http://schemas.openxmlformats.org/drawingml/2006/main">
              <a:ext uri="{FF2B5EF4-FFF2-40B4-BE49-F238E27FC236}">
                <a16:creationId xmlns:a16="http://schemas.microsoft.com/office/drawing/2014/main" id="{9FE0A699-C178-4C06-97A0-338D28C2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527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docs/09 §4.1; docs/07 slow steaming answer</a:t>
            </a:r>
          </a:p>
        </p:txBody>
      </p:sp>
      <p:sp>
        <p:nvSpPr>
          <p:cNvPr id="11" name="limit-bg">
            <a:extLst xmlns:a="http://schemas.openxmlformats.org/drawingml/2006/main">
              <a:ext uri="{FF2B5EF4-FFF2-40B4-BE49-F238E27FC236}">
                <a16:creationId xmlns:a16="http://schemas.microsoft.com/office/drawing/2014/main" id="{B79DB8B6-0721-4191-BA1F-FBAC1187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4286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limit-title">
            <a:extLst xmlns:a="http://schemas.openxmlformats.org/drawingml/2006/main">
              <a:ext uri="{FF2B5EF4-FFF2-40B4-BE49-F238E27FC236}">
                <a16:creationId xmlns:a16="http://schemas.microsoft.com/office/drawing/2014/main" id="{D946CC53-9924-4CFB-BF87-40EB80E8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限制</a:t>
            </a:r>
          </a:p>
        </p:txBody>
      </p:sp>
      <p:sp>
        <p:nvSpPr>
          <p:cNvPr id="13" name="limit-body">
            <a:extLst xmlns:a="http://schemas.openxmlformats.org/drawingml/2006/main">
              <a:ext uri="{FF2B5EF4-FFF2-40B4-BE49-F238E27FC236}">
                <a16:creationId xmlns:a16="http://schemas.microsoft.com/office/drawing/2014/main" id="{EB4059C2-5D4C-447B-8295-1F987BE8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43350"/>
            <a:ext cx="3943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若速度偏離過大，信心等級降低，而不是硬歸因給污損。</a:t>
            </a:r>
          </a:p>
        </p:txBody>
      </p:sp>
      <p:sp>
        <p:nvSpPr>
          <p:cNvPr id="14" name="backup-mark">
            <a:extLst xmlns:a="http://schemas.openxmlformats.org/drawingml/2006/main">
              <a:ext uri="{FF2B5EF4-FFF2-40B4-BE49-F238E27FC236}">
                <a16:creationId xmlns:a16="http://schemas.microsoft.com/office/drawing/2014/main" id="{75E3872B-C493-468A-AA5E-42A6681F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backup-return">
            <a:extLst xmlns:a="http://schemas.openxmlformats.org/drawingml/2006/main">
              <a:ext uri="{FF2B5EF4-FFF2-40B4-BE49-F238E27FC236}">
                <a16:creationId xmlns:a16="http://schemas.microsoft.com/office/drawing/2014/main" id="{D2735ECD-5B2F-475E-9B56-E515CB67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72050"/>
            <a:ext cx="942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回答格式：一句結論 + 一個證據 + 一個限制，最後回到「數字確定性、AI 可追溯、決策留給人」。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8649C99-6AC5-4809-A2AE-F98D83E0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934860D6-A300-46C2-8C90-150F5707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55555"/>
                </a:solidFill>
              </a:defRPr>
            </a:pPr>
            <a:r>
              <a:rPr sz="750" b="0">
                <a:solidFill>
                  <a:srgbClr val="555555"/>
                </a:solidFill>
              </a:rPr>
              <a:t>docs/07 judge Q&amp;A + docs/15 backup list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A60851D-77F7-48D4-86E7-751157C8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5555"/>
                </a:solidFill>
              </a:defRPr>
            </a:pPr>
            <a:r>
              <a:rPr sz="750" b="0">
                <a:solidFill>
                  <a:srgbClr val="555555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7218085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06D0F97-3A31-466C-BDE3-A356B0D4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Backup Q&amp;A</a:t>
            </a:r>
          </a:p>
        </p:txBody>
      </p:sp>
      <p:sp>
        <p:nvSpPr>
          <p:cNvPr id="2" name="score-chip-bg">
            <a:extLst xmlns:a="http://schemas.openxmlformats.org/drawingml/2006/main">
              <a:ext uri="{FF2B5EF4-FFF2-40B4-BE49-F238E27FC236}">
                <a16:creationId xmlns:a16="http://schemas.microsoft.com/office/drawing/2014/main" id="{81F51300-B12B-4736-AF69-F5A5F665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3350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core-chip">
            <a:extLst xmlns:a="http://schemas.openxmlformats.org/drawingml/2006/main">
              <a:ext uri="{FF2B5EF4-FFF2-40B4-BE49-F238E27FC236}">
                <a16:creationId xmlns:a16="http://schemas.microsoft.com/office/drawing/2014/main" id="{E625671A-7CB4-4BED-9868-4740B026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050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4" name="b7-usd-40k-title">
            <a:extLst xmlns:a="http://schemas.openxmlformats.org/drawingml/2006/main">
              <a:ext uri="{FF2B5EF4-FFF2-40B4-BE49-F238E27FC236}">
                <a16:creationId xmlns:a16="http://schemas.microsoft.com/office/drawing/2014/main" id="{2E356522-9266-40BC-AA0F-24294CAC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B7 USD 40k 清潔要不要花</a:t>
            </a:r>
          </a:p>
        </p:txBody>
      </p:sp>
      <p:sp>
        <p:nvSpPr>
          <p:cNvPr id="5" name="answer-bg">
            <a:extLst xmlns:a="http://schemas.openxmlformats.org/drawingml/2006/main">
              <a:ext uri="{FF2B5EF4-FFF2-40B4-BE49-F238E27FC236}">
                <a16:creationId xmlns:a16="http://schemas.microsoft.com/office/drawing/2014/main" id="{96D43742-AB31-4192-B604-787728C0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51054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083A7381-C6B7-4278-B263-D978C076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短答</a:t>
            </a:r>
          </a:p>
        </p:txBody>
      </p:sp>
      <p:sp>
        <p:nvSpPr>
          <p:cNvPr id="7" name="answer-body">
            <a:extLst xmlns:a="http://schemas.openxmlformats.org/drawingml/2006/main">
              <a:ext uri="{FF2B5EF4-FFF2-40B4-BE49-F238E27FC236}">
                <a16:creationId xmlns:a16="http://schemas.microsoft.com/office/drawing/2014/main" id="{D9907C0F-A30B-468B-A572-39934766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先看信心與樣本數。高信心且 payback 低於門檻才排 cleaning review；低信心先做水下 inspection。</a:t>
            </a:r>
          </a:p>
        </p:txBody>
      </p:sp>
      <p:sp>
        <p:nvSpPr>
          <p:cNvPr id="8" name="evidence-bg">
            <a:extLst xmlns:a="http://schemas.openxmlformats.org/drawingml/2006/main">
              <a:ext uri="{FF2B5EF4-FFF2-40B4-BE49-F238E27FC236}">
                <a16:creationId xmlns:a16="http://schemas.microsoft.com/office/drawing/2014/main" id="{E5585FF0-2FD0-4069-8A81-75D8FEBC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81200"/>
            <a:ext cx="428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B39ED8B7-C509-4E31-9D83-816618D2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5265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證據</a:t>
            </a:r>
          </a:p>
        </p:txBody>
      </p:sp>
      <p:sp>
        <p:nvSpPr>
          <p:cNvPr id="10" name="evidence-body">
            <a:extLst xmlns:a="http://schemas.openxmlformats.org/drawingml/2006/main">
              <a:ext uri="{FF2B5EF4-FFF2-40B4-BE49-F238E27FC236}">
                <a16:creationId xmlns:a16="http://schemas.microsoft.com/office/drawing/2014/main" id="{6B6FE230-216C-4459-9B69-35057AF3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527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docs/15 scenario; docs/07 ROI answer</a:t>
            </a:r>
          </a:p>
        </p:txBody>
      </p:sp>
      <p:sp>
        <p:nvSpPr>
          <p:cNvPr id="11" name="limit-bg">
            <a:extLst xmlns:a="http://schemas.openxmlformats.org/drawingml/2006/main">
              <a:ext uri="{FF2B5EF4-FFF2-40B4-BE49-F238E27FC236}">
                <a16:creationId xmlns:a16="http://schemas.microsoft.com/office/drawing/2014/main" id="{E5A52258-F98B-4841-86B0-265AB1B1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4286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limit-title">
            <a:extLst xmlns:a="http://schemas.openxmlformats.org/drawingml/2006/main">
              <a:ext uri="{FF2B5EF4-FFF2-40B4-BE49-F238E27FC236}">
                <a16:creationId xmlns:a16="http://schemas.microsoft.com/office/drawing/2014/main" id="{0C6406EB-5E9B-4E7E-9976-CE76497F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限制</a:t>
            </a:r>
          </a:p>
        </p:txBody>
      </p:sp>
      <p:sp>
        <p:nvSpPr>
          <p:cNvPr id="13" name="limit-body">
            <a:extLst xmlns:a="http://schemas.openxmlformats.org/drawingml/2006/main">
              <a:ext uri="{FF2B5EF4-FFF2-40B4-BE49-F238E27FC236}">
                <a16:creationId xmlns:a16="http://schemas.microsoft.com/office/drawing/2014/main" id="{FEB09923-3E28-40B7-96FF-71D14F0B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43350"/>
            <a:ext cx="3943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清潔成本、油價、碳價都是 assumption，Day1/Day2 要換成陽明或供應商真值。</a:t>
            </a:r>
          </a:p>
        </p:txBody>
      </p:sp>
      <p:sp>
        <p:nvSpPr>
          <p:cNvPr id="14" name="backup-mark">
            <a:extLst xmlns:a="http://schemas.openxmlformats.org/drawingml/2006/main">
              <a:ext uri="{FF2B5EF4-FFF2-40B4-BE49-F238E27FC236}">
                <a16:creationId xmlns:a16="http://schemas.microsoft.com/office/drawing/2014/main" id="{38F6F420-0E3D-4BA8-9BD0-56344C32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backup-return">
            <a:extLst xmlns:a="http://schemas.openxmlformats.org/drawingml/2006/main">
              <a:ext uri="{FF2B5EF4-FFF2-40B4-BE49-F238E27FC236}">
                <a16:creationId xmlns:a16="http://schemas.microsoft.com/office/drawing/2014/main" id="{6E7E14CA-25D9-4B1F-AAE7-C3AEAEC8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72050"/>
            <a:ext cx="942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回答格式：一句結論 + 一個證據 + 一個限制，最後回到「數字確定性、AI 可追溯、決策留給人」。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A67DE72-CD9A-407D-B1B0-140B5464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E18893A4-0982-4C3D-BBB2-A7DE1CAB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55555"/>
                </a:solidFill>
              </a:defRPr>
            </a:pPr>
            <a:r>
              <a:rPr sz="750" b="0">
                <a:solidFill>
                  <a:srgbClr val="555555"/>
                </a:solidFill>
              </a:rPr>
              <a:t>docs/07 judge Q&amp;A + docs/15 backup list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7721A34-FFCC-4786-8596-A5B4E36E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5555"/>
                </a:solidFill>
              </a:defRPr>
            </a:pPr>
            <a:r>
              <a:rPr sz="750" b="0">
                <a:solidFill>
                  <a:srgbClr val="555555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9050867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56C65DF-2734-46E1-BB34-2DA556B2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Backup Q&amp;A</a:t>
            </a:r>
          </a:p>
        </p:txBody>
      </p:sp>
      <p:sp>
        <p:nvSpPr>
          <p:cNvPr id="2" name="score-chip-bg">
            <a:extLst xmlns:a="http://schemas.openxmlformats.org/drawingml/2006/main">
              <a:ext uri="{FF2B5EF4-FFF2-40B4-BE49-F238E27FC236}">
                <a16:creationId xmlns:a16="http://schemas.microsoft.com/office/drawing/2014/main" id="{ABBEC8CD-20E2-4CE7-8A04-8D37CAED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3350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core-chip">
            <a:extLst xmlns:a="http://schemas.openxmlformats.org/drawingml/2006/main">
              <a:ext uri="{FF2B5EF4-FFF2-40B4-BE49-F238E27FC236}">
                <a16:creationId xmlns:a16="http://schemas.microsoft.com/office/drawing/2014/main" id="{BEDAD4A5-7E83-412E-9552-6727300D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050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4" name="b8-sog-title">
            <a:extLst xmlns:a="http://schemas.openxmlformats.org/drawingml/2006/main">
              <a:ext uri="{FF2B5EF4-FFF2-40B4-BE49-F238E27FC236}">
                <a16:creationId xmlns:a16="http://schemas.microsoft.com/office/drawing/2014/main" id="{FF695A57-5C45-4490-9497-5B558AD7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B8 SOG 與黑潮洋流怎麼辦</a:t>
            </a:r>
          </a:p>
        </p:txBody>
      </p:sp>
      <p:sp>
        <p:nvSpPr>
          <p:cNvPr id="5" name="answer-bg">
            <a:extLst xmlns:a="http://schemas.openxmlformats.org/drawingml/2006/main">
              <a:ext uri="{FF2B5EF4-FFF2-40B4-BE49-F238E27FC236}">
                <a16:creationId xmlns:a16="http://schemas.microsoft.com/office/drawing/2014/main" id="{3E5C9E92-D9F6-41BC-853D-3205F9F9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51054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AEA02239-E7F1-4B67-B0B1-65AC0FEC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短答</a:t>
            </a:r>
          </a:p>
        </p:txBody>
      </p:sp>
      <p:sp>
        <p:nvSpPr>
          <p:cNvPr id="7" name="answer-body">
            <a:extLst xmlns:a="http://schemas.openxmlformats.org/drawingml/2006/main">
              <a:ext uri="{FF2B5EF4-FFF2-40B4-BE49-F238E27FC236}">
                <a16:creationId xmlns:a16="http://schemas.microsoft.com/office/drawing/2014/main" id="{9A15A252-7CC9-4208-8E10-FBC615E0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正午報表多半是 SOG，不是 ISO 要求的 STW。固定航線的洋流是系統性偏差；用同航線配對與長窗 median 緩解。</a:t>
            </a:r>
          </a:p>
        </p:txBody>
      </p:sp>
      <p:sp>
        <p:nvSpPr>
          <p:cNvPr id="8" name="evidence-bg">
            <a:extLst xmlns:a="http://schemas.openxmlformats.org/drawingml/2006/main">
              <a:ext uri="{FF2B5EF4-FFF2-40B4-BE49-F238E27FC236}">
                <a16:creationId xmlns:a16="http://schemas.microsoft.com/office/drawing/2014/main" id="{98E21092-CA6F-4856-A867-F0BAAD47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81200"/>
            <a:ext cx="428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BA3A3F2D-7D68-4ED8-9262-DEBC726C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5265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證據</a:t>
            </a:r>
          </a:p>
        </p:txBody>
      </p:sp>
      <p:sp>
        <p:nvSpPr>
          <p:cNvPr id="10" name="evidence-body">
            <a:extLst xmlns:a="http://schemas.openxmlformats.org/drawingml/2006/main">
              <a:ext uri="{FF2B5EF4-FFF2-40B4-BE49-F238E27FC236}">
                <a16:creationId xmlns:a16="http://schemas.microsoft.com/office/drawing/2014/main" id="{DDA891B8-13C0-404C-AA10-3EA114E1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527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docs/09 §4.4; docs/07 SOG answer</a:t>
            </a:r>
          </a:p>
        </p:txBody>
      </p:sp>
      <p:sp>
        <p:nvSpPr>
          <p:cNvPr id="11" name="limit-bg">
            <a:extLst xmlns:a="http://schemas.openxmlformats.org/drawingml/2006/main">
              <a:ext uri="{FF2B5EF4-FFF2-40B4-BE49-F238E27FC236}">
                <a16:creationId xmlns:a16="http://schemas.microsoft.com/office/drawing/2014/main" id="{F1DCCE20-526D-4301-A216-A447EA87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4286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limit-title">
            <a:extLst xmlns:a="http://schemas.openxmlformats.org/drawingml/2006/main">
              <a:ext uri="{FF2B5EF4-FFF2-40B4-BE49-F238E27FC236}">
                <a16:creationId xmlns:a16="http://schemas.microsoft.com/office/drawing/2014/main" id="{0F642A3C-D183-4731-83E9-03D6309D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限制</a:t>
            </a:r>
          </a:p>
        </p:txBody>
      </p:sp>
      <p:sp>
        <p:nvSpPr>
          <p:cNvPr id="13" name="limit-body">
            <a:extLst xmlns:a="http://schemas.openxmlformats.org/drawingml/2006/main">
              <a:ext uri="{FF2B5EF4-FFF2-40B4-BE49-F238E27FC236}">
                <a16:creationId xmlns:a16="http://schemas.microsoft.com/office/drawing/2014/main" id="{5C0CC0C1-31DC-4A62-8BBD-62F319BF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43350"/>
            <a:ext cx="3943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無 log speed / slip 欄位時，殘差明確顯示為 unexplained。</a:t>
            </a:r>
          </a:p>
        </p:txBody>
      </p:sp>
      <p:sp>
        <p:nvSpPr>
          <p:cNvPr id="14" name="backup-mark">
            <a:extLst xmlns:a="http://schemas.openxmlformats.org/drawingml/2006/main">
              <a:ext uri="{FF2B5EF4-FFF2-40B4-BE49-F238E27FC236}">
                <a16:creationId xmlns:a16="http://schemas.microsoft.com/office/drawing/2014/main" id="{C8F2B5A6-6B3F-4B26-BDAF-7403392F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backup-return">
            <a:extLst xmlns:a="http://schemas.openxmlformats.org/drawingml/2006/main">
              <a:ext uri="{FF2B5EF4-FFF2-40B4-BE49-F238E27FC236}">
                <a16:creationId xmlns:a16="http://schemas.microsoft.com/office/drawing/2014/main" id="{E1EC9AB0-3022-4B86-A6DE-16861C41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72050"/>
            <a:ext cx="942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回答格式：一句結論 + 一個證據 + 一個限制，最後回到「數字確定性、AI 可追溯、決策留給人」。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FB203E7-4E4A-47BD-A4BE-EC07C082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54E8F584-C2A5-4669-BF2A-C51A4AF9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55555"/>
                </a:solidFill>
              </a:defRPr>
            </a:pPr>
            <a:r>
              <a:rPr sz="750" b="0">
                <a:solidFill>
                  <a:srgbClr val="555555"/>
                </a:solidFill>
              </a:rPr>
              <a:t>docs/07 judge Q&amp;A + docs/15 backup list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78E4E50-8236-46C7-90D1-762B0FF0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5555"/>
                </a:solidFill>
              </a:defRPr>
            </a:pPr>
            <a:r>
              <a:rPr sz="750" b="0">
                <a:solidFill>
                  <a:srgbClr val="555555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61687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B9244FF-7AA2-458D-A85B-5CB68181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Backup Q&amp;A</a:t>
            </a:r>
          </a:p>
        </p:txBody>
      </p:sp>
      <p:sp>
        <p:nvSpPr>
          <p:cNvPr id="2" name="score-chip-bg">
            <a:extLst xmlns:a="http://schemas.openxmlformats.org/drawingml/2006/main">
              <a:ext uri="{FF2B5EF4-FFF2-40B4-BE49-F238E27FC236}">
                <a16:creationId xmlns:a16="http://schemas.microsoft.com/office/drawing/2014/main" id="{32DACF51-827D-4384-9496-63761D03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3350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core-chip">
            <a:extLst xmlns:a="http://schemas.openxmlformats.org/drawingml/2006/main">
              <a:ext uri="{FF2B5EF4-FFF2-40B4-BE49-F238E27FC236}">
                <a16:creationId xmlns:a16="http://schemas.microsoft.com/office/drawing/2014/main" id="{617F2E76-0977-46C2-A61F-C25C80BA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050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4" name="b9-fouling-attribution-68-title">
            <a:extLst xmlns:a="http://schemas.openxmlformats.org/drawingml/2006/main">
              <a:ext uri="{FF2B5EF4-FFF2-40B4-BE49-F238E27FC236}">
                <a16:creationId xmlns:a16="http://schemas.microsoft.com/office/drawing/2014/main" id="{E4021868-611B-4B14-9F9F-9EC691E4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B9 Fouling attribution 68% 從哪裡來</a:t>
            </a:r>
          </a:p>
        </p:txBody>
      </p:sp>
      <p:sp>
        <p:nvSpPr>
          <p:cNvPr id="5" name="answer-bg">
            <a:extLst xmlns:a="http://schemas.openxmlformats.org/drawingml/2006/main">
              <a:ext uri="{FF2B5EF4-FFF2-40B4-BE49-F238E27FC236}">
                <a16:creationId xmlns:a16="http://schemas.microsoft.com/office/drawing/2014/main" id="{CD360E98-CF04-47F6-B89E-226534DB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51054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C8D4E15C-7F51-43A3-8DEB-FE037EA7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短答</a:t>
            </a:r>
          </a:p>
        </p:txBody>
      </p:sp>
      <p:sp>
        <p:nvSpPr>
          <p:cNvPr id="7" name="answer-body">
            <a:extLst xmlns:a="http://schemas.openxmlformats.org/drawingml/2006/main">
              <a:ext uri="{FF2B5EF4-FFF2-40B4-BE49-F238E27FC236}">
                <a16:creationId xmlns:a16="http://schemas.microsoft.com/office/drawing/2014/main" id="{957E7179-45CB-4818-A71E-E8C31E60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段內 k_t 對時間做 Theil-Sen robust regression；趨勢成分歸因為生物污損累積，殘差列為未歸因。</a:t>
            </a:r>
          </a:p>
        </p:txBody>
      </p:sp>
      <p:sp>
        <p:nvSpPr>
          <p:cNvPr id="8" name="evidence-bg">
            <a:extLst xmlns:a="http://schemas.openxmlformats.org/drawingml/2006/main">
              <a:ext uri="{FF2B5EF4-FFF2-40B4-BE49-F238E27FC236}">
                <a16:creationId xmlns:a16="http://schemas.microsoft.com/office/drawing/2014/main" id="{E1448DEB-6C40-4BA6-B59E-E08A5ADD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81200"/>
            <a:ext cx="428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EB38ED7F-CB6E-447D-B430-3454FC31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5265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證據</a:t>
            </a:r>
          </a:p>
        </p:txBody>
      </p:sp>
      <p:sp>
        <p:nvSpPr>
          <p:cNvPr id="10" name="evidence-body">
            <a:extLst xmlns:a="http://schemas.openxmlformats.org/drawingml/2006/main">
              <a:ext uri="{FF2B5EF4-FFF2-40B4-BE49-F238E27FC236}">
                <a16:creationId xmlns:a16="http://schemas.microsoft.com/office/drawing/2014/main" id="{45150BEB-391D-47FD-BCC9-0BD4C6AF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527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docs/09 §4.2; docs/07 attribution answer</a:t>
            </a:r>
          </a:p>
        </p:txBody>
      </p:sp>
      <p:sp>
        <p:nvSpPr>
          <p:cNvPr id="11" name="limit-bg">
            <a:extLst xmlns:a="http://schemas.openxmlformats.org/drawingml/2006/main">
              <a:ext uri="{FF2B5EF4-FFF2-40B4-BE49-F238E27FC236}">
                <a16:creationId xmlns:a16="http://schemas.microsoft.com/office/drawing/2014/main" id="{7C9607FD-3532-4677-893B-8C092CC0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4286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limit-title">
            <a:extLst xmlns:a="http://schemas.openxmlformats.org/drawingml/2006/main">
              <a:ext uri="{FF2B5EF4-FFF2-40B4-BE49-F238E27FC236}">
                <a16:creationId xmlns:a16="http://schemas.microsoft.com/office/drawing/2014/main" id="{B1155805-B59B-4DFB-9580-7619F894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限制</a:t>
            </a:r>
          </a:p>
        </p:txBody>
      </p:sp>
      <p:sp>
        <p:nvSpPr>
          <p:cNvPr id="13" name="limit-body">
            <a:extLst xmlns:a="http://schemas.openxmlformats.org/drawingml/2006/main">
              <a:ext uri="{FF2B5EF4-FFF2-40B4-BE49-F238E27FC236}">
                <a16:creationId xmlns:a16="http://schemas.microsoft.com/office/drawing/2014/main" id="{96640B04-1D18-48C6-A837-6D2D127C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43350"/>
            <a:ext cx="3943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不宣稱所有殘差都已控制；SST、湧浪、洋流與填報噪音都可能存在。</a:t>
            </a:r>
          </a:p>
        </p:txBody>
      </p:sp>
      <p:sp>
        <p:nvSpPr>
          <p:cNvPr id="14" name="backup-mark">
            <a:extLst xmlns:a="http://schemas.openxmlformats.org/drawingml/2006/main">
              <a:ext uri="{FF2B5EF4-FFF2-40B4-BE49-F238E27FC236}">
                <a16:creationId xmlns:a16="http://schemas.microsoft.com/office/drawing/2014/main" id="{1E9EC349-A62E-426D-867F-F312F85B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backup-return">
            <a:extLst xmlns:a="http://schemas.openxmlformats.org/drawingml/2006/main">
              <a:ext uri="{FF2B5EF4-FFF2-40B4-BE49-F238E27FC236}">
                <a16:creationId xmlns:a16="http://schemas.microsoft.com/office/drawing/2014/main" id="{0166907F-7D00-46AF-9118-7CE93795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72050"/>
            <a:ext cx="942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回答格式：一句結論 + 一個證據 + 一個限制，最後回到「數字確定性、AI 可追溯、決策留給人」。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2B432C8-16AD-4080-8091-F83A5660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F9CB8DD9-5AE5-4C9A-806A-9B36FF55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55555"/>
                </a:solidFill>
              </a:defRPr>
            </a:pPr>
            <a:r>
              <a:rPr sz="750" b="0">
                <a:solidFill>
                  <a:srgbClr val="555555"/>
                </a:solidFill>
              </a:rPr>
              <a:t>docs/07 judge Q&amp;A + docs/15 backup list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6987F40-161B-464F-9658-6639F9FD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5555"/>
                </a:solidFill>
              </a:defRPr>
            </a:pPr>
            <a:r>
              <a:rPr sz="750" b="0">
                <a:solidFill>
                  <a:srgbClr val="555555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10703874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6C5C117-90DD-4865-994B-15B78958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Backup Q&amp;A</a:t>
            </a:r>
          </a:p>
        </p:txBody>
      </p:sp>
      <p:sp>
        <p:nvSpPr>
          <p:cNvPr id="2" name="score-chip-bg">
            <a:extLst xmlns:a="http://schemas.openxmlformats.org/drawingml/2006/main">
              <a:ext uri="{FF2B5EF4-FFF2-40B4-BE49-F238E27FC236}">
                <a16:creationId xmlns:a16="http://schemas.microsoft.com/office/drawing/2014/main" id="{A551E4C6-F117-4E7D-97BF-EB8007D0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3350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core-chip">
            <a:extLst xmlns:a="http://schemas.openxmlformats.org/drawingml/2006/main">
              <a:ext uri="{FF2B5EF4-FFF2-40B4-BE49-F238E27FC236}">
                <a16:creationId xmlns:a16="http://schemas.microsoft.com/office/drawing/2014/main" id="{19948446-FE18-4FC6-B0E4-9EC086B1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050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4" name="b10-sagemaker-title">
            <a:extLst xmlns:a="http://schemas.openxmlformats.org/drawingml/2006/main">
              <a:ext uri="{FF2B5EF4-FFF2-40B4-BE49-F238E27FC236}">
                <a16:creationId xmlns:a16="http://schemas.microsoft.com/office/drawing/2014/main" id="{22974AE8-27FA-4EA4-8CC5-F4F1FCA9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B10 為什麼不用 SageMaker</a:t>
            </a:r>
          </a:p>
        </p:txBody>
      </p:sp>
      <p:sp>
        <p:nvSpPr>
          <p:cNvPr id="5" name="answer-bg">
            <a:extLst xmlns:a="http://schemas.openxmlformats.org/drawingml/2006/main">
              <a:ext uri="{FF2B5EF4-FFF2-40B4-BE49-F238E27FC236}">
                <a16:creationId xmlns:a16="http://schemas.microsoft.com/office/drawing/2014/main" id="{6CB2BA61-6364-4676-BA8A-052F3AF4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51054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BF9CB4CA-FA0A-4181-905F-A3FFDC28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短答</a:t>
            </a:r>
          </a:p>
        </p:txBody>
      </p:sp>
      <p:sp>
        <p:nvSpPr>
          <p:cNvPr id="7" name="answer-body">
            <a:extLst xmlns:a="http://schemas.openxmlformats.org/drawingml/2006/main">
              <a:ext uri="{FF2B5EF4-FFF2-40B4-BE49-F238E27FC236}">
                <a16:creationId xmlns:a16="http://schemas.microsoft.com/office/drawing/2014/main" id="{C43320A9-E911-4373-BB69-F2694D7F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ISO 19030 精神是確定性方法；篩後每船樣本少；FUEL_CONSUMP 25% 要官方公式，不需要黑箱模型。</a:t>
            </a:r>
          </a:p>
        </p:txBody>
      </p:sp>
      <p:sp>
        <p:nvSpPr>
          <p:cNvPr id="8" name="evidence-bg">
            <a:extLst xmlns:a="http://schemas.openxmlformats.org/drawingml/2006/main">
              <a:ext uri="{FF2B5EF4-FFF2-40B4-BE49-F238E27FC236}">
                <a16:creationId xmlns:a16="http://schemas.microsoft.com/office/drawing/2014/main" id="{EE781928-E3DE-4AFD-BDAA-8F342BF1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81200"/>
            <a:ext cx="428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B903FB65-3D07-49C2-B2F5-C94D0208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5265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證據</a:t>
            </a:r>
          </a:p>
        </p:txBody>
      </p:sp>
      <p:sp>
        <p:nvSpPr>
          <p:cNvPr id="10" name="evidence-body">
            <a:extLst xmlns:a="http://schemas.openxmlformats.org/drawingml/2006/main">
              <a:ext uri="{FF2B5EF4-FFF2-40B4-BE49-F238E27FC236}">
                <a16:creationId xmlns:a16="http://schemas.microsoft.com/office/drawing/2014/main" id="{E588E569-2036-4BAC-90D3-B98991D5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527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docs/07 SageMaker answer; docs/11 route study</a:t>
            </a:r>
          </a:p>
        </p:txBody>
      </p:sp>
      <p:sp>
        <p:nvSpPr>
          <p:cNvPr id="11" name="limit-bg">
            <a:extLst xmlns:a="http://schemas.openxmlformats.org/drawingml/2006/main">
              <a:ext uri="{FF2B5EF4-FFF2-40B4-BE49-F238E27FC236}">
                <a16:creationId xmlns:a16="http://schemas.microsoft.com/office/drawing/2014/main" id="{D4F4DAE8-0D01-4DEF-8444-791ED777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4286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limit-title">
            <a:extLst xmlns:a="http://schemas.openxmlformats.org/drawingml/2006/main">
              <a:ext uri="{FF2B5EF4-FFF2-40B4-BE49-F238E27FC236}">
                <a16:creationId xmlns:a16="http://schemas.microsoft.com/office/drawing/2014/main" id="{7BE2203A-5239-4ACF-B5BD-285047FF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限制</a:t>
            </a:r>
          </a:p>
        </p:txBody>
      </p:sp>
      <p:sp>
        <p:nvSpPr>
          <p:cNvPr id="13" name="limit-body">
            <a:extLst xmlns:a="http://schemas.openxmlformats.org/drawingml/2006/main">
              <a:ext uri="{FF2B5EF4-FFF2-40B4-BE49-F238E27FC236}">
                <a16:creationId xmlns:a16="http://schemas.microsoft.com/office/drawing/2014/main" id="{A0CAED24-0A2F-4512-8D49-E9E86D5A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43350"/>
            <a:ext cx="3943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若 Day2 18:00 硬盤全綠，才可把 RCF anomaly 當 P2 加分支線，不進主 KPI。</a:t>
            </a:r>
          </a:p>
        </p:txBody>
      </p:sp>
      <p:sp>
        <p:nvSpPr>
          <p:cNvPr id="14" name="backup-mark">
            <a:extLst xmlns:a="http://schemas.openxmlformats.org/drawingml/2006/main">
              <a:ext uri="{FF2B5EF4-FFF2-40B4-BE49-F238E27FC236}">
                <a16:creationId xmlns:a16="http://schemas.microsoft.com/office/drawing/2014/main" id="{4212B4DE-5792-4856-8DEE-D02826CC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backup-return">
            <a:extLst xmlns:a="http://schemas.openxmlformats.org/drawingml/2006/main">
              <a:ext uri="{FF2B5EF4-FFF2-40B4-BE49-F238E27FC236}">
                <a16:creationId xmlns:a16="http://schemas.microsoft.com/office/drawing/2014/main" id="{6DBBA0FC-ED63-49AD-95C6-87031E78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72050"/>
            <a:ext cx="942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回答格式：一句結論 + 一個證據 + 一個限制，最後回到「數字確定性、AI 可追溯、決策留給人」。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E4B7405-03E4-4939-A862-E9F882D2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D2EDB763-6F74-447E-B0E5-70B4EA12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55555"/>
                </a:solidFill>
              </a:defRPr>
            </a:pPr>
            <a:r>
              <a:rPr sz="750" b="0">
                <a:solidFill>
                  <a:srgbClr val="555555"/>
                </a:solidFill>
              </a:rPr>
              <a:t>docs/07 judge Q&amp;A + docs/15 backup list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8035F6B-C317-4CE7-AD95-BEC4F551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5555"/>
                </a:solidFill>
              </a:defRPr>
            </a:pPr>
            <a:r>
              <a:rPr sz="750" b="0">
                <a:solidFill>
                  <a:srgbClr val="555555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54633863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B91BEF0-22FE-488D-A3BC-55268DD3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Backup Q&amp;A</a:t>
            </a:r>
          </a:p>
        </p:txBody>
      </p:sp>
      <p:sp>
        <p:nvSpPr>
          <p:cNvPr id="2" name="score-chip-bg">
            <a:extLst xmlns:a="http://schemas.openxmlformats.org/drawingml/2006/main">
              <a:ext uri="{FF2B5EF4-FFF2-40B4-BE49-F238E27FC236}">
                <a16:creationId xmlns:a16="http://schemas.microsoft.com/office/drawing/2014/main" id="{5DE39251-49E2-4B65-9998-D073B662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3350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core-chip">
            <a:extLst xmlns:a="http://schemas.openxmlformats.org/drawingml/2006/main">
              <a:ext uri="{FF2B5EF4-FFF2-40B4-BE49-F238E27FC236}">
                <a16:creationId xmlns:a16="http://schemas.microsoft.com/office/drawing/2014/main" id="{85146C80-8305-4BC1-9EA3-5B4264F1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050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4" name="b11-v-3-title">
            <a:extLst xmlns:a="http://schemas.openxmlformats.org/drawingml/2006/main">
              <a:ext uri="{FF2B5EF4-FFF2-40B4-BE49-F238E27FC236}">
                <a16:creationId xmlns:a16="http://schemas.microsoft.com/office/drawing/2014/main" id="{1ABA9FA5-CECE-418B-82DA-F5757256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B11 V^3 是否過度簡化</a:t>
            </a:r>
          </a:p>
        </p:txBody>
      </p:sp>
      <p:sp>
        <p:nvSpPr>
          <p:cNvPr id="5" name="answer-bg">
            <a:extLst xmlns:a="http://schemas.openxmlformats.org/drawingml/2006/main">
              <a:ext uri="{FF2B5EF4-FFF2-40B4-BE49-F238E27FC236}">
                <a16:creationId xmlns:a16="http://schemas.microsoft.com/office/drawing/2014/main" id="{035B754E-FBAA-4087-B11D-EC90E9D4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51054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B0D466D1-E010-460E-88FB-A4AEFC71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短答</a:t>
            </a:r>
          </a:p>
        </p:txBody>
      </p:sp>
      <p:sp>
        <p:nvSpPr>
          <p:cNvPr id="7" name="answer-body">
            <a:extLst xmlns:a="http://schemas.openxmlformats.org/drawingml/2006/main">
              <a:ext uri="{FF2B5EF4-FFF2-40B4-BE49-F238E27FC236}">
                <a16:creationId xmlns:a16="http://schemas.microsoft.com/office/drawing/2014/main" id="{B4D4A72D-FB79-45EB-986F-91477A84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立方律是近似。服務速度區間 n 常在 3.5-4.5；所以我們限制同速度帶，資料足夠時 per-vessel fit n。</a:t>
            </a:r>
          </a:p>
        </p:txBody>
      </p:sp>
      <p:sp>
        <p:nvSpPr>
          <p:cNvPr id="8" name="evidence-bg">
            <a:extLst xmlns:a="http://schemas.openxmlformats.org/drawingml/2006/main">
              <a:ext uri="{FF2B5EF4-FFF2-40B4-BE49-F238E27FC236}">
                <a16:creationId xmlns:a16="http://schemas.microsoft.com/office/drawing/2014/main" id="{B95F9815-EAB0-4459-A8B9-DF908C77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81200"/>
            <a:ext cx="428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71684084-4A07-41DB-9960-74AC9BAF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5265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證據</a:t>
            </a:r>
          </a:p>
        </p:txBody>
      </p:sp>
      <p:sp>
        <p:nvSpPr>
          <p:cNvPr id="10" name="evidence-body">
            <a:extLst xmlns:a="http://schemas.openxmlformats.org/drawingml/2006/main">
              <a:ext uri="{FF2B5EF4-FFF2-40B4-BE49-F238E27FC236}">
                <a16:creationId xmlns:a16="http://schemas.microsoft.com/office/drawing/2014/main" id="{E513E034-AA7B-403E-93E3-DB70D63F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527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docs/09 §4.1; docs/07 cube-law answer</a:t>
            </a:r>
          </a:p>
        </p:txBody>
      </p:sp>
      <p:sp>
        <p:nvSpPr>
          <p:cNvPr id="11" name="limit-bg">
            <a:extLst xmlns:a="http://schemas.openxmlformats.org/drawingml/2006/main">
              <a:ext uri="{FF2B5EF4-FFF2-40B4-BE49-F238E27FC236}">
                <a16:creationId xmlns:a16="http://schemas.microsoft.com/office/drawing/2014/main" id="{8B27D28E-3D29-43FE-9EE6-74EB7672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4286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limit-title">
            <a:extLst xmlns:a="http://schemas.openxmlformats.org/drawingml/2006/main">
              <a:ext uri="{FF2B5EF4-FFF2-40B4-BE49-F238E27FC236}">
                <a16:creationId xmlns:a16="http://schemas.microsoft.com/office/drawing/2014/main" id="{52A3CA5B-042C-4BE0-A94E-FC39371E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限制</a:t>
            </a:r>
          </a:p>
        </p:txBody>
      </p:sp>
      <p:sp>
        <p:nvSpPr>
          <p:cNvPr id="13" name="limit-body">
            <a:extLst xmlns:a="http://schemas.openxmlformats.org/drawingml/2006/main">
              <a:ext uri="{FF2B5EF4-FFF2-40B4-BE49-F238E27FC236}">
                <a16:creationId xmlns:a16="http://schemas.microsoft.com/office/drawing/2014/main" id="{E2BE1FA3-1F99-4E6F-A97E-7D0ABA23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43350"/>
            <a:ext cx="3943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若樣本不足以擬合 n，KPI 顯示 estimate 與信心等級。</a:t>
            </a:r>
          </a:p>
        </p:txBody>
      </p:sp>
      <p:sp>
        <p:nvSpPr>
          <p:cNvPr id="14" name="backup-mark">
            <a:extLst xmlns:a="http://schemas.openxmlformats.org/drawingml/2006/main">
              <a:ext uri="{FF2B5EF4-FFF2-40B4-BE49-F238E27FC236}">
                <a16:creationId xmlns:a16="http://schemas.microsoft.com/office/drawing/2014/main" id="{D56FA980-F868-44B1-A234-6838B516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backup-return">
            <a:extLst xmlns:a="http://schemas.openxmlformats.org/drawingml/2006/main">
              <a:ext uri="{FF2B5EF4-FFF2-40B4-BE49-F238E27FC236}">
                <a16:creationId xmlns:a16="http://schemas.microsoft.com/office/drawing/2014/main" id="{42C5AF3F-5E51-4903-97BF-5118539D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72050"/>
            <a:ext cx="942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回答格式：一句結論 + 一個證據 + 一個限制，最後回到「數字確定性、AI 可追溯、決策留給人」。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4CDB4D8-DD54-4E08-9CD9-13B62870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99D68670-AEAA-472D-9614-0BABBC9F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55555"/>
                </a:solidFill>
              </a:defRPr>
            </a:pPr>
            <a:r>
              <a:rPr sz="750" b="0">
                <a:solidFill>
                  <a:srgbClr val="555555"/>
                </a:solidFill>
              </a:rPr>
              <a:t>docs/07 judge Q&amp;A + docs/15 backup list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CF80270-BD2D-4312-B470-A49E9AA2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5555"/>
                </a:solidFill>
              </a:defRPr>
            </a:pPr>
            <a:r>
              <a:rPr sz="750" b="0">
                <a:solidFill>
                  <a:srgbClr val="555555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07138578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8EF058C-1212-416B-A736-3FCF42E7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Backup Q&amp;A</a:t>
            </a:r>
          </a:p>
        </p:txBody>
      </p:sp>
      <p:sp>
        <p:nvSpPr>
          <p:cNvPr id="2" name="score-chip-bg">
            <a:extLst xmlns:a="http://schemas.openxmlformats.org/drawingml/2006/main">
              <a:ext uri="{FF2B5EF4-FFF2-40B4-BE49-F238E27FC236}">
                <a16:creationId xmlns:a16="http://schemas.microsoft.com/office/drawing/2014/main" id="{718B07B9-D598-4428-9187-D232DC72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3350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core-chip">
            <a:extLst xmlns:a="http://schemas.openxmlformats.org/drawingml/2006/main">
              <a:ext uri="{FF2B5EF4-FFF2-40B4-BE49-F238E27FC236}">
                <a16:creationId xmlns:a16="http://schemas.microsoft.com/office/drawing/2014/main" id="{6999FB8D-4D24-4161-A07D-FF8FE7B0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050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4" name="b12-aws-title">
            <a:extLst xmlns:a="http://schemas.openxmlformats.org/drawingml/2006/main">
              <a:ext uri="{FF2B5EF4-FFF2-40B4-BE49-F238E27FC236}">
                <a16:creationId xmlns:a16="http://schemas.microsoft.com/office/drawing/2014/main" id="{FD531AEB-E3D8-49E7-9198-210853EF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B12 AWS 月成本</a:t>
            </a:r>
          </a:p>
        </p:txBody>
      </p:sp>
      <p:sp>
        <p:nvSpPr>
          <p:cNvPr id="5" name="answer-bg">
            <a:extLst xmlns:a="http://schemas.openxmlformats.org/drawingml/2006/main">
              <a:ext uri="{FF2B5EF4-FFF2-40B4-BE49-F238E27FC236}">
                <a16:creationId xmlns:a16="http://schemas.microsoft.com/office/drawing/2014/main" id="{987C8A3F-5948-498C-AB7E-59EADE44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51054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D87B9688-579D-429C-A8A1-F4B5EBB8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短答</a:t>
            </a:r>
          </a:p>
        </p:txBody>
      </p:sp>
      <p:sp>
        <p:nvSpPr>
          <p:cNvPr id="7" name="answer-body">
            <a:extLst xmlns:a="http://schemas.openxmlformats.org/drawingml/2006/main">
              <a:ext uri="{FF2B5EF4-FFF2-40B4-BE49-F238E27FC236}">
                <a16:creationId xmlns:a16="http://schemas.microsoft.com/office/drawing/2014/main" id="{F67E3251-D207-4BCB-B259-B850CF8B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15 艘船用單服務、S3、DynamoDB on-demand、Bedrock per brief；估計低於 USD 70/month，97 艘同架構。</a:t>
            </a:r>
          </a:p>
        </p:txBody>
      </p:sp>
      <p:sp>
        <p:nvSpPr>
          <p:cNvPr id="8" name="evidence-bg">
            <a:extLst xmlns:a="http://schemas.openxmlformats.org/drawingml/2006/main">
              <a:ext uri="{FF2B5EF4-FFF2-40B4-BE49-F238E27FC236}">
                <a16:creationId xmlns:a16="http://schemas.microsoft.com/office/drawing/2014/main" id="{9DDF8DA2-9D6B-4C8D-91BF-207D81DC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81200"/>
            <a:ext cx="428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30146E66-D1B2-46F5-8239-F62F3A7F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5265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證據</a:t>
            </a:r>
          </a:p>
        </p:txBody>
      </p:sp>
      <p:sp>
        <p:nvSpPr>
          <p:cNvPr id="10" name="evidence-body">
            <a:extLst xmlns:a="http://schemas.openxmlformats.org/drawingml/2006/main">
              <a:ext uri="{FF2B5EF4-FFF2-40B4-BE49-F238E27FC236}">
                <a16:creationId xmlns:a16="http://schemas.microsoft.com/office/drawing/2014/main" id="{EB5B4088-DB0D-4561-B00E-05BD4A73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527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docs/07 AWS cost answer; docs/09 P1 architecture</a:t>
            </a:r>
          </a:p>
        </p:txBody>
      </p:sp>
      <p:sp>
        <p:nvSpPr>
          <p:cNvPr id="11" name="limit-bg">
            <a:extLst xmlns:a="http://schemas.openxmlformats.org/drawingml/2006/main">
              <a:ext uri="{FF2B5EF4-FFF2-40B4-BE49-F238E27FC236}">
                <a16:creationId xmlns:a16="http://schemas.microsoft.com/office/drawing/2014/main" id="{3884C7A1-6672-4595-8E5C-FFF7DDD3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4286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limit-title">
            <a:extLst xmlns:a="http://schemas.openxmlformats.org/drawingml/2006/main">
              <a:ext uri="{FF2B5EF4-FFF2-40B4-BE49-F238E27FC236}">
                <a16:creationId xmlns:a16="http://schemas.microsoft.com/office/drawing/2014/main" id="{DFEDEAB5-47D7-46C0-B1E1-08E011C0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限制</a:t>
            </a:r>
          </a:p>
        </p:txBody>
      </p:sp>
      <p:sp>
        <p:nvSpPr>
          <p:cNvPr id="13" name="limit-body">
            <a:extLst xmlns:a="http://schemas.openxmlformats.org/drawingml/2006/main">
              <a:ext uri="{FF2B5EF4-FFF2-40B4-BE49-F238E27FC236}">
                <a16:creationId xmlns:a16="http://schemas.microsoft.com/office/drawing/2014/main" id="{90D6454D-1C54-4029-9391-4B0C2187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43350"/>
            <a:ext cx="3943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App Runner 新客戶限制已更新；event account 若無 access，改 ECS Express Mode 或 EC2 docker。</a:t>
            </a:r>
          </a:p>
        </p:txBody>
      </p:sp>
      <p:sp>
        <p:nvSpPr>
          <p:cNvPr id="14" name="backup-mark">
            <a:extLst xmlns:a="http://schemas.openxmlformats.org/drawingml/2006/main">
              <a:ext uri="{FF2B5EF4-FFF2-40B4-BE49-F238E27FC236}">
                <a16:creationId xmlns:a16="http://schemas.microsoft.com/office/drawing/2014/main" id="{748C99A9-02D4-457C-8A9A-7FB53C76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backup-return">
            <a:extLst xmlns:a="http://schemas.openxmlformats.org/drawingml/2006/main">
              <a:ext uri="{FF2B5EF4-FFF2-40B4-BE49-F238E27FC236}">
                <a16:creationId xmlns:a16="http://schemas.microsoft.com/office/drawing/2014/main" id="{BA70B041-6E77-4EB7-A0D0-7BCF6ECD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72050"/>
            <a:ext cx="942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回答格式：一句結論 + 一個證據 + 一個限制，最後回到「數字確定性、AI 可追溯、決策留給人」。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F455236-F3A9-4A85-BDBA-189EE96C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AEF60129-863B-46D2-91C7-0B26D4C7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55555"/>
                </a:solidFill>
              </a:defRPr>
            </a:pPr>
            <a:r>
              <a:rPr sz="750" b="0">
                <a:solidFill>
                  <a:srgbClr val="555555"/>
                </a:solidFill>
              </a:rPr>
              <a:t>docs/07 judge Q&amp;A + docs/15 backup list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0518FA8-86F7-4741-A4B3-ADFE5BFB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5555"/>
                </a:solidFill>
              </a:defRPr>
            </a:pPr>
            <a:r>
              <a:rPr sz="750" b="0">
                <a:solidFill>
                  <a:srgbClr val="555555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76867420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5F616FF-6148-4E63-AE0A-EF5EF9A9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Backup Q&amp;A</a:t>
            </a:r>
          </a:p>
        </p:txBody>
      </p:sp>
      <p:sp>
        <p:nvSpPr>
          <p:cNvPr id="2" name="score-chip-bg">
            <a:extLst xmlns:a="http://schemas.openxmlformats.org/drawingml/2006/main">
              <a:ext uri="{FF2B5EF4-FFF2-40B4-BE49-F238E27FC236}">
                <a16:creationId xmlns:a16="http://schemas.microsoft.com/office/drawing/2014/main" id="{379E5CF4-5DBA-4D8B-8E3C-0D643A45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3350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core-chip">
            <a:extLst xmlns:a="http://schemas.openxmlformats.org/drawingml/2006/main">
              <a:ext uri="{FF2B5EF4-FFF2-40B4-BE49-F238E27FC236}">
                <a16:creationId xmlns:a16="http://schemas.microsoft.com/office/drawing/2014/main" id="{3A7FBC3E-F390-4FCF-BDA0-7F0AC581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050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4" name="b13-cii-a-e-corrective-action-title">
            <a:extLst xmlns:a="http://schemas.openxmlformats.org/drawingml/2006/main">
              <a:ext uri="{FF2B5EF4-FFF2-40B4-BE49-F238E27FC236}">
                <a16:creationId xmlns:a16="http://schemas.microsoft.com/office/drawing/2014/main" id="{7753A309-7322-41DD-9B5E-3C8D1C7C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B13 CII A-E 與 corrective action</a:t>
            </a:r>
          </a:p>
        </p:txBody>
      </p:sp>
      <p:sp>
        <p:nvSpPr>
          <p:cNvPr id="5" name="answer-bg">
            <a:extLst xmlns:a="http://schemas.openxmlformats.org/drawingml/2006/main">
              <a:ext uri="{FF2B5EF4-FFF2-40B4-BE49-F238E27FC236}">
                <a16:creationId xmlns:a16="http://schemas.microsoft.com/office/drawing/2014/main" id="{C6DDA2FD-E40F-468F-B019-8248B439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51054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BE0F44F2-361F-4CD5-8FF9-08DBF65B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短答</a:t>
            </a:r>
          </a:p>
        </p:txBody>
      </p:sp>
      <p:sp>
        <p:nvSpPr>
          <p:cNvPr id="7" name="answer-body">
            <a:extLst xmlns:a="http://schemas.openxmlformats.org/drawingml/2006/main">
              <a:ext uri="{FF2B5EF4-FFF2-40B4-BE49-F238E27FC236}">
                <a16:creationId xmlns:a16="http://schemas.microsoft.com/office/drawing/2014/main" id="{B49076A9-4885-4569-B7D0-C46DE3AF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CII 適用 5,000 GT 以上船舶，A-E rating；D 連續三年或 E 需 corrective action plan。FleetMind 把多燒油轉成 CII 壓力方向。</a:t>
            </a:r>
          </a:p>
        </p:txBody>
      </p:sp>
      <p:sp>
        <p:nvSpPr>
          <p:cNvPr id="8" name="evidence-bg">
            <a:extLst xmlns:a="http://schemas.openxmlformats.org/drawingml/2006/main">
              <a:ext uri="{FF2B5EF4-FFF2-40B4-BE49-F238E27FC236}">
                <a16:creationId xmlns:a16="http://schemas.microsoft.com/office/drawing/2014/main" id="{376F4E28-9F04-4867-A0CE-148CA09E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81200"/>
            <a:ext cx="428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385EE5FC-43C5-4A1A-94E8-652F65E5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5265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證據</a:t>
            </a:r>
          </a:p>
        </p:txBody>
      </p:sp>
      <p:sp>
        <p:nvSpPr>
          <p:cNvPr id="10" name="evidence-body">
            <a:extLst xmlns:a="http://schemas.openxmlformats.org/drawingml/2006/main">
              <a:ext uri="{FF2B5EF4-FFF2-40B4-BE49-F238E27FC236}">
                <a16:creationId xmlns:a16="http://schemas.microsoft.com/office/drawing/2014/main" id="{1B9CA3A1-CE04-42A6-B541-E6764691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527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docs/15 IMO sources</a:t>
            </a:r>
          </a:p>
        </p:txBody>
      </p:sp>
      <p:sp>
        <p:nvSpPr>
          <p:cNvPr id="11" name="limit-bg">
            <a:extLst xmlns:a="http://schemas.openxmlformats.org/drawingml/2006/main">
              <a:ext uri="{FF2B5EF4-FFF2-40B4-BE49-F238E27FC236}">
                <a16:creationId xmlns:a16="http://schemas.microsoft.com/office/drawing/2014/main" id="{E08C6674-1C92-48CF-BACE-33B528D6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4286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limit-title">
            <a:extLst xmlns:a="http://schemas.openxmlformats.org/drawingml/2006/main">
              <a:ext uri="{FF2B5EF4-FFF2-40B4-BE49-F238E27FC236}">
                <a16:creationId xmlns:a16="http://schemas.microsoft.com/office/drawing/2014/main" id="{E779BDDF-27F2-4E04-A8D7-D1071A59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限制</a:t>
            </a:r>
          </a:p>
        </p:txBody>
      </p:sp>
      <p:sp>
        <p:nvSpPr>
          <p:cNvPr id="13" name="limit-body">
            <a:extLst xmlns:a="http://schemas.openxmlformats.org/drawingml/2006/main">
              <a:ext uri="{FF2B5EF4-FFF2-40B4-BE49-F238E27FC236}">
                <a16:creationId xmlns:a16="http://schemas.microsoft.com/office/drawing/2014/main" id="{D4142716-737E-47D0-AA9C-A89D4B63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43350"/>
            <a:ext cx="3943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Deck 只做方向與 scenario，不替代正式 CII 計算。</a:t>
            </a:r>
          </a:p>
        </p:txBody>
      </p:sp>
      <p:sp>
        <p:nvSpPr>
          <p:cNvPr id="14" name="backup-mark">
            <a:extLst xmlns:a="http://schemas.openxmlformats.org/drawingml/2006/main">
              <a:ext uri="{FF2B5EF4-FFF2-40B4-BE49-F238E27FC236}">
                <a16:creationId xmlns:a16="http://schemas.microsoft.com/office/drawing/2014/main" id="{7618693D-38D2-41C4-A5B2-F8B6482B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backup-return">
            <a:extLst xmlns:a="http://schemas.openxmlformats.org/drawingml/2006/main">
              <a:ext uri="{FF2B5EF4-FFF2-40B4-BE49-F238E27FC236}">
                <a16:creationId xmlns:a16="http://schemas.microsoft.com/office/drawing/2014/main" id="{934CD5CF-F71B-4696-969A-16ABE4AE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72050"/>
            <a:ext cx="942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回答格式：一句結論 + 一個證據 + 一個限制，最後回到「數字確定性、AI 可追溯、決策留給人」。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01086BA-4ECC-4DC3-84B1-CCF93A03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8596DE9A-8F97-4122-839B-4B9694FF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55555"/>
                </a:solidFill>
              </a:defRPr>
            </a:pPr>
            <a:r>
              <a:rPr sz="750" b="0">
                <a:solidFill>
                  <a:srgbClr val="555555"/>
                </a:solidFill>
              </a:rPr>
              <a:t>docs/07 judge Q&amp;A + docs/15 backup list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915E97B-A27F-40DC-966C-57080B6A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5555"/>
                </a:solidFill>
              </a:defRPr>
            </a:pPr>
            <a:r>
              <a:rPr sz="750" b="0">
                <a:solidFill>
                  <a:srgbClr val="555555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83638988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A6CDEA0-7F8D-4F7A-BB61-C1352968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Backup Q&amp;A</a:t>
            </a:r>
          </a:p>
        </p:txBody>
      </p:sp>
      <p:sp>
        <p:nvSpPr>
          <p:cNvPr id="2" name="score-chip-bg">
            <a:extLst xmlns:a="http://schemas.openxmlformats.org/drawingml/2006/main">
              <a:ext uri="{FF2B5EF4-FFF2-40B4-BE49-F238E27FC236}">
                <a16:creationId xmlns:a16="http://schemas.microsoft.com/office/drawing/2014/main" id="{26B813A3-0722-4D29-966B-1AA3D84D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3350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core-chip">
            <a:extLst xmlns:a="http://schemas.openxmlformats.org/drawingml/2006/main">
              <a:ext uri="{FF2B5EF4-FFF2-40B4-BE49-F238E27FC236}">
                <a16:creationId xmlns:a16="http://schemas.microsoft.com/office/drawing/2014/main" id="{CB36000F-F7F2-4870-A8D6-BD5094EB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050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4" name="b14-title">
            <a:extLst xmlns:a="http://schemas.openxmlformats.org/drawingml/2006/main">
              <a:ext uri="{FF2B5EF4-FFF2-40B4-BE49-F238E27FC236}">
                <a16:creationId xmlns:a16="http://schemas.microsoft.com/office/drawing/2014/main" id="{69DFEC8C-6D7C-42D5-BAA5-DA51DE31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B14 為何提交檔全量計算</a:t>
            </a:r>
          </a:p>
        </p:txBody>
      </p:sp>
      <p:sp>
        <p:nvSpPr>
          <p:cNvPr id="5" name="answer-bg">
            <a:extLst xmlns:a="http://schemas.openxmlformats.org/drawingml/2006/main">
              <a:ext uri="{FF2B5EF4-FFF2-40B4-BE49-F238E27FC236}">
                <a16:creationId xmlns:a16="http://schemas.microsoft.com/office/drawing/2014/main" id="{FA0F973B-6B78-4207-9C95-853F27C6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51054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545AA8F3-896A-49C1-ABA8-5C0E5F6C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短答</a:t>
            </a:r>
          </a:p>
        </p:txBody>
      </p:sp>
      <p:sp>
        <p:nvSpPr>
          <p:cNvPr id="7" name="answer-body">
            <a:extLst xmlns:a="http://schemas.openxmlformats.org/drawingml/2006/main">
              <a:ext uri="{FF2B5EF4-FFF2-40B4-BE49-F238E27FC236}">
                <a16:creationId xmlns:a16="http://schemas.microsoft.com/office/drawing/2014/main" id="{7A12B90C-9C45-446A-A84E-CAD9B0D2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自動評分可能要求所有官方列。先篩選再算會少列；FleetMind 只把 filter 變 quality flags。</a:t>
            </a:r>
          </a:p>
        </p:txBody>
      </p:sp>
      <p:sp>
        <p:nvSpPr>
          <p:cNvPr id="8" name="evidence-bg">
            <a:extLst xmlns:a="http://schemas.openxmlformats.org/drawingml/2006/main">
              <a:ext uri="{FF2B5EF4-FFF2-40B4-BE49-F238E27FC236}">
                <a16:creationId xmlns:a16="http://schemas.microsoft.com/office/drawing/2014/main" id="{BF2F58DD-E683-46D2-B843-71B9E58B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81200"/>
            <a:ext cx="428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1D08A1C2-A104-489A-86C2-75129D8D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5265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證據</a:t>
            </a:r>
          </a:p>
        </p:txBody>
      </p:sp>
      <p:sp>
        <p:nvSpPr>
          <p:cNvPr id="10" name="evidence-body">
            <a:extLst xmlns:a="http://schemas.openxmlformats.org/drawingml/2006/main">
              <a:ext uri="{FF2B5EF4-FFF2-40B4-BE49-F238E27FC236}">
                <a16:creationId xmlns:a16="http://schemas.microsoft.com/office/drawing/2014/main" id="{C26AA5E3-FDBB-402F-BFCB-314893C2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527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docs/09 §3.1; docs/12 R9</a:t>
            </a:r>
          </a:p>
        </p:txBody>
      </p:sp>
      <p:sp>
        <p:nvSpPr>
          <p:cNvPr id="11" name="limit-bg">
            <a:extLst xmlns:a="http://schemas.openxmlformats.org/drawingml/2006/main">
              <a:ext uri="{FF2B5EF4-FFF2-40B4-BE49-F238E27FC236}">
                <a16:creationId xmlns:a16="http://schemas.microsoft.com/office/drawing/2014/main" id="{44A60DCA-570E-48EA-9CEC-532DC1C1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4286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limit-title">
            <a:extLst xmlns:a="http://schemas.openxmlformats.org/drawingml/2006/main">
              <a:ext uri="{FF2B5EF4-FFF2-40B4-BE49-F238E27FC236}">
                <a16:creationId xmlns:a16="http://schemas.microsoft.com/office/drawing/2014/main" id="{F2DD0A0C-F238-4F7D-91B0-A6239317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限制</a:t>
            </a:r>
          </a:p>
        </p:txBody>
      </p:sp>
      <p:sp>
        <p:nvSpPr>
          <p:cNvPr id="13" name="limit-body">
            <a:extLst xmlns:a="http://schemas.openxmlformats.org/drawingml/2006/main">
              <a:ext uri="{FF2B5EF4-FFF2-40B4-BE49-F238E27FC236}">
                <a16:creationId xmlns:a16="http://schemas.microsoft.com/office/drawing/2014/main" id="{3A5020C6-19E4-42E8-9283-C089B669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43350"/>
            <a:ext cx="3943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官方若要求 filtered 版本，pipeline 也會預產 filtered export，但全量版永遠保留。</a:t>
            </a:r>
          </a:p>
        </p:txBody>
      </p:sp>
      <p:sp>
        <p:nvSpPr>
          <p:cNvPr id="14" name="backup-mark">
            <a:extLst xmlns:a="http://schemas.openxmlformats.org/drawingml/2006/main">
              <a:ext uri="{FF2B5EF4-FFF2-40B4-BE49-F238E27FC236}">
                <a16:creationId xmlns:a16="http://schemas.microsoft.com/office/drawing/2014/main" id="{F76FB0EF-DBF7-4EDA-8622-64869EC6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backup-return">
            <a:extLst xmlns:a="http://schemas.openxmlformats.org/drawingml/2006/main">
              <a:ext uri="{FF2B5EF4-FFF2-40B4-BE49-F238E27FC236}">
                <a16:creationId xmlns:a16="http://schemas.microsoft.com/office/drawing/2014/main" id="{3305A655-AE56-48B8-B4CD-31C01C09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72050"/>
            <a:ext cx="942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回答格式：一句結論 + 一個證據 + 一個限制，最後回到「數字確定性、AI 可追溯、決策留給人」。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B8EFA5A-EED4-4898-B284-15AF7668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3AAF70C7-B3BD-46CC-A3FD-18A26D52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55555"/>
                </a:solidFill>
              </a:defRPr>
            </a:pPr>
            <a:r>
              <a:rPr sz="750" b="0">
                <a:solidFill>
                  <a:srgbClr val="555555"/>
                </a:solidFill>
              </a:rPr>
              <a:t>docs/07 judge Q&amp;A + docs/15 backup list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83BABCB-A2B3-47F3-B4CF-E95F82D6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5555"/>
                </a:solidFill>
              </a:defRPr>
            </a:pPr>
            <a:r>
              <a:rPr sz="750" b="0">
                <a:solidFill>
                  <a:srgbClr val="555555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04632050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3ACF9C3-062F-4CA5-A573-C38745E9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5555"/>
                </a:solidFill>
              </a:defRPr>
            </a:pPr>
            <a:r>
              <a:rPr sz="900" b="1">
                <a:solidFill>
                  <a:srgbClr val="555555"/>
                </a:solidFill>
              </a:rPr>
              <a:t>Backup Q&amp;A</a:t>
            </a:r>
          </a:p>
        </p:txBody>
      </p:sp>
      <p:sp>
        <p:nvSpPr>
          <p:cNvPr id="2" name="score-chip-bg">
            <a:extLst xmlns:a="http://schemas.openxmlformats.org/drawingml/2006/main">
              <a:ext uri="{FF2B5EF4-FFF2-40B4-BE49-F238E27FC236}">
                <a16:creationId xmlns:a16="http://schemas.microsoft.com/office/drawing/2014/main" id="{26B69EAF-EA00-4046-B0BD-105AC23B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3350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core-chip">
            <a:extLst xmlns:a="http://schemas.openxmlformats.org/drawingml/2006/main">
              <a:ext uri="{FF2B5EF4-FFF2-40B4-BE49-F238E27FC236}">
                <a16:creationId xmlns:a16="http://schemas.microsoft.com/office/drawing/2014/main" id="{452E9998-6924-439A-B10E-103BA7EB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0500"/>
            <a:ext cx="1657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4" name="b15-repo-title">
            <a:extLst xmlns:a="http://schemas.openxmlformats.org/drawingml/2006/main">
              <a:ext uri="{FF2B5EF4-FFF2-40B4-BE49-F238E27FC236}">
                <a16:creationId xmlns:a16="http://schemas.microsoft.com/office/drawing/2014/main" id="{9632BFD8-4EB8-49CD-A237-5DD9DA63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B15 Repo 安全與資料刪除</a:t>
            </a:r>
          </a:p>
        </p:txBody>
      </p:sp>
      <p:sp>
        <p:nvSpPr>
          <p:cNvPr id="5" name="answer-bg">
            <a:extLst xmlns:a="http://schemas.openxmlformats.org/drawingml/2006/main">
              <a:ext uri="{FF2B5EF4-FFF2-40B4-BE49-F238E27FC236}">
                <a16:creationId xmlns:a16="http://schemas.microsoft.com/office/drawing/2014/main" id="{2D28AE23-0051-4A41-94E0-79D23555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51054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answer-title">
            <a:extLst xmlns:a="http://schemas.openxmlformats.org/drawingml/2006/main">
              <a:ext uri="{FF2B5EF4-FFF2-40B4-BE49-F238E27FC236}">
                <a16:creationId xmlns:a16="http://schemas.microsoft.com/office/drawing/2014/main" id="{90DF188E-5256-4F34-9E8F-60A99BAF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短答</a:t>
            </a:r>
          </a:p>
        </p:txBody>
      </p:sp>
      <p:sp>
        <p:nvSpPr>
          <p:cNvPr id="7" name="answer-body">
            <a:extLst xmlns:a="http://schemas.openxmlformats.org/drawingml/2006/main">
              <a:ext uri="{FF2B5EF4-FFF2-40B4-BE49-F238E27FC236}">
                <a16:creationId xmlns:a16="http://schemas.microsoft.com/office/drawing/2014/main" id="{0B07B30C-86F0-40CB-9BE5-AE703312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GitHub 不放原始企業資料與憑證。raw/processed/exports 留在 event AWS；賽後依規則清 S3、DynamoDB、本機 snapshot。</a:t>
            </a:r>
          </a:p>
        </p:txBody>
      </p:sp>
      <p:sp>
        <p:nvSpPr>
          <p:cNvPr id="8" name="evidence-bg">
            <a:extLst xmlns:a="http://schemas.openxmlformats.org/drawingml/2006/main">
              <a:ext uri="{FF2B5EF4-FFF2-40B4-BE49-F238E27FC236}">
                <a16:creationId xmlns:a16="http://schemas.microsoft.com/office/drawing/2014/main" id="{57ABBDFD-734D-4090-BEE0-F51FCC9F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81200"/>
            <a:ext cx="428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42287838-1139-4B10-BA2E-84A1F8DD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5265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證據</a:t>
            </a:r>
          </a:p>
        </p:txBody>
      </p:sp>
      <p:sp>
        <p:nvSpPr>
          <p:cNvPr id="10" name="evidence-body">
            <a:extLst xmlns:a="http://schemas.openxmlformats.org/drawingml/2006/main">
              <a:ext uri="{FF2B5EF4-FFF2-40B4-BE49-F238E27FC236}">
                <a16:creationId xmlns:a16="http://schemas.microsoft.com/office/drawing/2014/main" id="{CB9BA3DF-0DCA-4AAC-BB99-728235AD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527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docs/16 runbook; scripts/cleanup-event-data.sh</a:t>
            </a:r>
          </a:p>
        </p:txBody>
      </p:sp>
      <p:sp>
        <p:nvSpPr>
          <p:cNvPr id="11" name="limit-bg">
            <a:extLst xmlns:a="http://schemas.openxmlformats.org/drawingml/2006/main">
              <a:ext uri="{FF2B5EF4-FFF2-40B4-BE49-F238E27FC236}">
                <a16:creationId xmlns:a16="http://schemas.microsoft.com/office/drawing/2014/main" id="{AD778F80-7529-4890-A358-315789C5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4286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limit-title">
            <a:extLst xmlns:a="http://schemas.openxmlformats.org/drawingml/2006/main">
              <a:ext uri="{FF2B5EF4-FFF2-40B4-BE49-F238E27FC236}">
                <a16:creationId xmlns:a16="http://schemas.microsoft.com/office/drawing/2014/main" id="{3A09451B-BDF2-4E14-89F8-8BE9D46A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限制</a:t>
            </a:r>
          </a:p>
        </p:txBody>
      </p:sp>
      <p:sp>
        <p:nvSpPr>
          <p:cNvPr id="13" name="limit-body">
            <a:extLst xmlns:a="http://schemas.openxmlformats.org/drawingml/2006/main">
              <a:ext uri="{FF2B5EF4-FFF2-40B4-BE49-F238E27FC236}">
                <a16:creationId xmlns:a16="http://schemas.microsoft.com/office/drawing/2014/main" id="{85CFC992-F1B2-42AF-B122-8B0A1E35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43350"/>
            <a:ext cx="3943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Day1 需向主辦方確認資料可否保留、刪除時點與截圖/錄影限制。</a:t>
            </a:r>
          </a:p>
        </p:txBody>
      </p:sp>
      <p:sp>
        <p:nvSpPr>
          <p:cNvPr id="14" name="backup-mark">
            <a:extLst xmlns:a="http://schemas.openxmlformats.org/drawingml/2006/main">
              <a:ext uri="{FF2B5EF4-FFF2-40B4-BE49-F238E27FC236}">
                <a16:creationId xmlns:a16="http://schemas.microsoft.com/office/drawing/2014/main" id="{485A77F6-BE62-4498-ADC1-6573856D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backup-return">
            <a:extLst xmlns:a="http://schemas.openxmlformats.org/drawingml/2006/main">
              <a:ext uri="{FF2B5EF4-FFF2-40B4-BE49-F238E27FC236}">
                <a16:creationId xmlns:a16="http://schemas.microsoft.com/office/drawing/2014/main" id="{41BE9DB6-BE74-4944-A871-5FC02A08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72050"/>
            <a:ext cx="942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回答格式：一句結論 + 一個證據 + 一個限制，最後回到「數字確定性、AI 可追溯、決策留給人」。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F3BD622-DC8F-43AF-878A-86D00A46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5A312696-1EF0-450F-9D7C-A7A094B0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55555"/>
                </a:solidFill>
              </a:defRPr>
            </a:pPr>
            <a:r>
              <a:rPr sz="750" b="0">
                <a:solidFill>
                  <a:srgbClr val="555555"/>
                </a:solidFill>
              </a:rPr>
              <a:t>docs/07 judge Q&amp;A + docs/15 backup list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5DFE1F2-A26D-4614-AD27-AA85B2C9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960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5555"/>
                </a:solidFill>
              </a:defRPr>
            </a:pPr>
            <a:r>
              <a:rPr sz="750" b="0">
                <a:solidFill>
                  <a:srgbClr val="555555"/>
                </a:solidFill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5935874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2026-07-08T11:46:24.2500000Z</dcterms:created>
  <dcterms:modified xsi:type="dcterms:W3CDTF">2026-07-08T11:46:24.2500000Z</dcterms:modified>
</coreProperties>
</file>