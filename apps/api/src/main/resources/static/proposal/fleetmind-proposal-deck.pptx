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[0:00–0:30] 開場
講：船舶推進效率隨時間衰退、油耗上升；養護能恢復，但「何時做」靠經驗。
FleetMind 把它變成可計算、可解釋、人可拍板的決策支援。
定位句（整場回扣兩次）：「數字來自計算，語言來自 AI，決策留給人。」
──────── 全場地圖（12 分鐘：8 報告 + 4 Q&amp;A） ────────
 P1  0:00 開場定位          P7  4:25 誠實：baseline 勝出
 P2  0:30 痛點 + 資料規模    P8  5:25 多耗油噸數（不談金額）
 P3  1:10 兩條主線          P9  6:20 限制 + 想要的資料
 P4  1:50 方法 k=FOC/STW³   P10 6:55 架構
 P5  2:35 ★ LIVE DEMO ←唯一離開投影片的一分鐘
 P6  3:35 UWI 誠信          P11 7:35 收尾 → Q&amp;A
 P12–P16 = Q&amp;A 備援頁，被問到才翻（見各頁備忘稿）
──────── 上台前 10 分鐘（缺一不可） ────────
1. 開四個分頁，全在 http://fleetmind-alb-330672315.us-east-1.elb.amazonaws.com
   ①/proposal.html（本簡報）②/dashboard.html（demo）③/deck.html（架構深水區）④/architecture.html
2. ★ 在 /dashboard.html 選 S11，按一次「生成 AI 決策簡報」，等它回來。
   這一發是冷的、要 13.5 秒；預熱後台上那發只要 8 秒。不預熱＝觀眾替你付這 13.5 秒，
   而前端 15 秒就放棄 → 簡報可能整個拿不到。
3. 確認 S11 = 21.8%、紅燈「已超門檻」。讀不到數字 → 走演練 B（見 P5 備忘稿）。
超時處置：講完 P8（5:25 那頁）若已過 6:30，直接跳 P11 收尾。寧可少講兩頁。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[0:30–1:10] 痛點 + 資料規模
講：船殼與螺旋槳污損讓同樣航速要燒更多油。船東靠水下清潔（UWC）與拋光（PP）恢復效能，
但「何時做、值不值得」目前多憑經驗，缺乏可量化、可歸因、可回溯的依據。
四張卡不要逐一唸，只點兩個：
 · 「15 艘船、5 年、21,282 列日報 + 77 筆養護事件」→ 我們有本錢做量化，不是玩具資料。
 · 「Speed Loss 全隊 −12% ~ +22%」→ 這個跨度就是問題本身：有的剛養護、有的重度污損。
頁尾那句唸出來會加分：「資料由命題企業提供，僅存於競賽 AWS 帳號、不進版控、賽後刪除。」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[1:10–1:50] 兩條主線
講：兩個產出，一句話各帶過——
 · Speed Loss Dashboard → 讓衰退看得見（ISO 19030 框架、船殼 vs 螺旋槳歸因、事件比對）
 · 油耗預測模型 → 讓代價算得出（預測 102 格被遮蔽的全速油耗 + 反事實推論）
關鍵是下一句：「兩者共用同一套確定性計算。」
多耗油量估算、單服務架構、AI guardrail 都是從這個核心長出去的，不是三個獨立功能。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[1:50–2:35] 方法 —— 這頁決定評審信不信你
k = FOC ÷ STW³。慢慢講，這是全場的地基：
 · 用對水速度 STW，不是對地速度 SOG → 洋流（黑潮那種）不會被誤記成效能變化
 · 三次方 → 阻力物理；速度正規化掉，剩下的才是船況
 · 只在 ±1 kn 同速帶內比 k → 商業減速改變的是 V，不改變 k
如果只能講一句：「我們從不比原始油耗，也不比原始航速。」
專家會在 Q&amp;A 追這題（見 P14 備忘稿）。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[2:35–3:35] ★ LIVE DEMO — 全場唯一離開投影片的一分鐘
切到分頁②：http://fleetmind-alb-330672315.us-east-1.elb.amazonaws.com/dashboard.html
只點這三下。每一下先講「我要證明什麼」，再點。不要即興、不要多點。
① 排名表點 S11
   「15 艘裡最嚴重：速度損失 21.8%、信心 HIGH、已超 10% 門檻、692 天沒清洗。」
   失敗：表沒出來 → 演練 B。
② 看趨勢 ＋ 事件標記線
   「五年慢慢爬上來，撞到門檻。這條垂直線是水下事件——清了，但 k 沒有降回去，
    恢復率 −4.62%。」
   「這不是我們的圖有問題，這是發現。官方也明示：純檢查（UWI）本就不該帶來改善。」
   失敗：圖沒出來 → 講這段話，跳③。
③ 按「生成 AI 決策簡報」← 最有價值也最脆弱，它真的在打 Bedrock
   按下去之後立刻接著講：「數字不是 AI 掰的——每個數字都帶編號上標引用，
    點下去會跳回產生它的 API。」講完它剛好回來。
   ★ 不要盯著轉圈等。實測：預熱過 8 秒／沒預熱 13.5 秒，兩種都會回來。
   ★ 轉圈不是故障訊號，畫面自己跳出「AI 簡報暫不可用」才是。
     最大的風險是你以為壞了、手癢去按「離線備援」，親手把最好的一刻換成英文版。
回扣：「數字全部來自 core-calc 的確定性計算；AI 只負責把它說成人話。」
──────── 演練 A：真的回不來（畫面出現錯誤訊息） ────────
不要重按。講：「這裡有降級階梯：Bedrock → 護欄驗證 → 快取 last-good → 決定性 fallback。
走到哪一階都會有輸出，因為這條路徑設計成不能開天窗。」然後按「離線備援」。
這不是掩飾，這就是設計——講出來反而加分。
──────── 演練 B：全站掛掉／會場網路斷 ────────
不要 debug。切回 /proposal.html，投影片是靜態 JPG。
講：「Live demo 走不了，我用投影片講完，結束後歡迎到攤位實機看。」
（前一晚先把 PPTX 下載到本機，斷網也能放。）
對照船（被問到才講）：S23 8.9%、船殼歸因 96%、信心 HIGH ——「該排清洗」的乾淨案例。
S11 是極端案例（692 天沒清）。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[3:35–4:25] UWI 誠信 —— 全場最能拿分的一頁
剛剛 demo 才看到「清了但 k 沒降回去」，趁熱講這頁。
官方明示提示：資料裡有一類事件是純檢查、無實體介入（UWI），
好的模型應辨識這類事件不該帶來效能改善，而不是把「養護後」一律當「變好」。
「官方認證我們這個方向是對的。」
我們的做法是兩個地方、兩種角色（這句要背）：
 · 預測模型裡 → 污損時鐘在 UWI 事件不重置 ← 物理先驗的家
 · Dashboard 裡 → 誠實顯示實測 delta + 信心，不宣稱「UWI = 零變化」
「把統計實測（會有雜訊）和物理先驗（乾淨）分開處理，是刻意的設計。」
評審一定會追問「那你圖上為什麼有變化」→ P15 備忘稿有完整答法。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[4:25–5:25] 誠實 —— baseline 勝出
三個數字：RMSE 3.51 MT · MAPE 5.22% · 102/102 格 1:1 提交。
這頁的價值不在數字，在右邊那張「刻意的簡單」：
「我們試過更複雜的堆疊與單調約束——在防漏驗證上都沒贏過樸素 GBM baseline，
 於是資料驅動地選 baseline。不 ship 比 baseline 差的模型，是原則，不是能力上限。」
防漏驗證要講，這是評審會追的：
「我們不用隨機 K-fold。在可見船上模擬真實遮蔽——挑真養護事件後的合格日窗把答案藏起來，
 只用可見特徵預測、逐窗評分。等於把預測船會遇到的難處，在有答案的船上重演一次。
 另外跑 GroupKFold(by ship) 確認跨船遷移不是靠記住單船。」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[5:25–6:20] 多耗油噸數 —— ★ 這頁有紅線：不准報金額 ★
主打 S23（HIGH 信心、船殼歸因 96%、n=506）：同航速下每天多耗約 16.4 MT。
S11 是極端案例（692 天沒清）。
刻意不出金額，而且要把理由講出來——這是加分不是扣分：
「貴司工程師講得很清楚：成本是別部門管的，你們要的是『發現問題、通知該清洗』。
 所以我們只給物理量。要換算成本，用貴司當期實際油價乘上去即可——
 每港每次加油都不同，我們不假裝知道。」
反事實怎麼來的：同一個預測模型，把船殼／螺旋槳的污損時鐘歸零重新預測，
差值就是「現在做 UWC／PP，同航速下每天少燒多少」。標了「粗估 · 非正式數字」。
收尾：「人在迴路，每個噸數都可回溯到計算。」
★ 超時檢查點：講完這頁若已過 6:30 → 直接跳 P11 收尾。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[6:20–6:55] 限制 + 想要的資料
「主動揭露限制，是讓結論可信的前提。」——這句先講，再列。
四點限制（不要念稿，挑兩點講）：
 ①正午報表是 SOG、非 ISO 要的對水速度 → 洋流是系統性偏差
 ②無軸功率，k 是 FOC/STW³ 的代理
 ③船殼/螺旋槳歸因在區段稀疏時退回標記過的 50/50
 ④UWI 事件在真資料上仍有超噪音的量測變化——我們呈現，不壓平
想要的資料（這是官方命題明列要我們回答的一項，別漏）：
軸功率計與對水速度計（直接升級 ISO 19030 全合規）、進塢後海試曲線（更準的參考基準）、
antifouling 塗層年限、吃水俯仰 trim、航線與港口。
以及貴司自己的 UWC/PP 效能恢復幅度紀錄——那能把我們的歸因與反事實
從「合理估計」校準成「有 ground truth 背書」。
收尾：「方法框架不用改，餵進更好的量測就直接升級。」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[6:55–7:35] 架構
一句話：單服務同源、AWS-only、AI 有護欄不亂編。回應官方要求的第 4、5 項
（AI 與 AWS 服務扮演的角色）。
三個點：
 · ECS Fargate (ARM64) 單一容器同時服務看板與 REST API —— 一個部署單元
 · 請求路徑上沒有資料存放層：指標離線算完烤進映像，冷啟即有真資料、零外部相依
 · Bedrock 只負責語言，數字全部來自 core-calc；護欄比對每個數字的引用，對不上整篇打回
★ 不要把設計講成現況。CloudFront/WAF/Cognito/多區域今天都沒有，
 圖上是灰虛線，講的時候也照講。旁邊就是 live URL，評審 curl 一下就知道。
被追問架構 → 分頁③ /deck.html（18 頁）或分頁④ /architecture.html（可點開放大讀 ARN）。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[7:35–8:00] 收尾
三個交付各一句，不要展開：
 · Speed Loss Dashboard —— 衰退看得見
 · 油耗預測模型 —— 102 格 1:1，代價算得出
 · Live 系統 —— 網址就在上面，現在就可以打開
回到定位句收：「數字來自計算，語言來自 AI，決策留給人。」
然後停。把時間留給 Q&amp;A（4 分鐘、統問統答）。
Q&amp;A 路由：
 資料/方法/ISO/洩漏 → P12–P16 備援頁（各頁備忘稿有深度答案）
 架構/為何不用 Serverless → 分頁③ /deck.html 或分頁④ /architecture.html
 資安/權限 → /architecture.html#security（已實作與規劃中分開標）
 多區域/災備 → /architecture.html#activeactive（那是設計不是現況）
 「數字哪來的」 → 直接回 dashboard 點引用，跳回 API
答不出來時的誠信收尾句：
「正午報表粒度下這是最誠實的做法；給我們軸功率／對水速度計資料，
 框架直接升級 ISO 19030 全合規。」
════════ 評審 5 項標準 · 上台口頭答法（Q&amp;A 端出這幾段） ════════
評審資深顧問點名三個弱點：油耗預測講太淺、歸因沒答「為何是船殼不是海流/引擎」、
AI 太像聊天。下面每段直接可念，結尾都有「給更多資料 → 能做什麼」的鉤子。
① 互動介面 · Speed Loss
 「介面讓工程師逐船、逐航段檢視 Speed Loss；ISO 19030 務實改編，算 k=FOC/STW³，
  只在 ±1 節同速帶比較，再用 Theil-Sen 抓長期趨勢。加入 AIS、天氣與對水速度，
  就能更準確校正外部干擾。」
② 油耗預測模型（最危險，要證明「這是真模型不只是指標」）
 「這是真正的 sklearn 預測 pipeline：物理基線 k·STW³ 接 HistGradientBoosting 擇優，
  納入污損時鐘、船型與燃料熱值，經模擬遮蔽及 GroupKFold 防漏驗證，RMSE 3.51 MT，
  預測 102 個被遮蔽的格子。**單靠 Noon Report 無法物理拆分原因**，目前僅依 Speed Loss
  與維修時間關聯推估主因為船殼污損。加入天氣、引擎、螺旋槳檢查與 AIS，
  就能建立完整油耗歸因模型。」
③ 未盡之處 · 商業價值
 「限制是缺少天氣、海流、引擎感測、扭矩與軸功率，所以結論是可追溯的關聯推估，
  不冒充物理因果。我們也不虛報金額，只指出 S23 同航速每日多耗約 16.4 MT。
  補齊營運成本與感測資料，就能支援清洗、維修及船期決策。」
④ 分析架構 · 演算法（評審問「用什麼算法」）
 「架構由確定性 core-calc 打底：同速帶 k 指標、Theil-Sen 趨勢、維修隔離區段歸因，
  再接 sklearn 預測與 Bedrock 解讀；區段不足時明確標 50/50，不隱藏不確定性。
  增加高頻感測資料，就能升級為時序模型與多因子因果分析。」
 一句話流程：Noon Report → 清洗 → ISO 19030 k → 趨勢偵測 → 決策排序 → Bedrock 摘要。
⑤ AI 角色（第二危險，定位成 Decision Support 不是 Prediction Engine）
 「我們今天不是讓 AI 做判斷，而是讓 AI 幫助工程師更快做判斷。數字全由 core-calc 產生，
  Claude Haiku 只負責解讀與決策簡報；guardrail 逐項核對來源，對不上就整篇打回，
  最後由工程師拍板。**FleetMind 核心是 Explainable AI Decision Support，不是 Prediction
  Engine，更不是 ChatGPT。**」
三句一定要講：
 1「今天不是讓 AI 做判斷，而是讓 AI 幫工程師更快做判斷。」
 2「加入 Weather / Engine Sensor / Propeller Inspection / AIS，就能建真正的油耗歸因模型。」
 3「核心不是 ChatGPT，是把 ISO19030 + 維修紀錄 + AWS AI 結合成 Explainable Decision Support Platform。」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備援 · 資料與方法（被問到才翻到這頁）
【4 分鐘 Q&amp;A 是統問統答】評審一次問完，我們分工接。不確定 → 用誠信收尾句（見下）。
■ 訓練/預測怎麼切
訓練船 S1–S12 全可見；預測船 S21–S23 在養護後區間被遮蔽。
船型 W1（S1–S8 + S21）、W2（S9–S12 + S22–S23）——同設計姊妹船、不同航線。
■ 若追問「event_day 是什麼」
官方資料 v2 把 maintenance.csv 從 event_date（日曆）改成 event_day（相對天數，
與日報 NOON_UTC 同軸）。所以 (ship_id, event_day) 直接 join，anchor 難題消失。
這是 7/14 官方重釋出的，我們跟著改了。
■ 若追問「為什麼不用 SOG」
兩欄都 100% 填充，但洋流讓兩者可有明顯差異。阻力物理一律 STW，距離/營運才用 SOG。
殘差顯性標成「未解釋」，不塞進污損。
■ 102 格的分布（被問到細節時才報）
HSHFO 91 格、VLSFO 11 格；S21=43、S22=24、S23=35。
■ 誠信收尾句（答不出來時統一用這句）
「正午報表粒度下這是最誠實的做法；給我們軸功率／對水速度計資料，
 框架直接升級 ISO 19030 全合規。」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備援 · 預測模型（25% 是這一項，程式自動評分）
■ 這題最容易被追殺：「為什麼不上 SageMaker / 深度學習？」
誠實講三個理由，順序不要換：
 ① ISO 19030 本身就是確定性方法，不是學出來的。
 ② 篩選後每船合格樣本太少，硬煉大模型會過擬合。
 ③ 我們真的試過更複雜的堆疊與單調約束——在防漏驗證上沒贏過樸素 GBM baseline。
「簡單是裁決過的，不是不會做。不 ship 比 baseline 差的模型，是原則。」
■ 特徵清單（被問到才報，不要主動背）
STW / STW³ / RPM / 滑差 · 吃水載況 · 風浪湧與水溫 · 污損時鐘（距上次船殼介入天數、
距上次螺旋槳介入天數、水溫×天數的積溫＝生物污損壓力 proxy）· 船型 W1/W2 ·
燃料類型 + 熱值 LCV · HOURS_FULL_SPEED。
■ 「污損時鐘」是整個模型最關鍵的設計
UWI（純檢查、不清不拋）事件不重置時鐘。所以模型不會在一次純檢查後幻覺出恢復。
這正是官方明示提示要的能力——見 P15 那頁。
■ 若追問洩漏（Q7 級）
H 類主機性能欄位（SFOC / 馬力 / 推力）在預測窗本來就是 HIDDEN，我們不會也不能用。
ME_AVG_RPM 屬 A 類、預測窗可見——它是當日真實觀測的運轉條件，不是油耗的代理答案。
這個使用邊界我們也列進給主辦的問題清單，想跟貴司確認。
■ 數字
RMSE 3.51 MT / MAPE 5.22% / 102 格 1:1 提交。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備援 · Speed Loss / ISO 19030（30% 是這一項，陽明專家品評）
■ 這頁的評審裡有海事／輪機專家。不要宣稱全合規，先自己講偏離。
偏離 ISO 19030 的四點，主動報：
 ① 正午報表是 SOG 粒度，非 ISO 要的對水速度計 → 洋流是系統性偏差
 ② 無軸功率，k = FOC/STW³ 只是 performance value 的代理
 ③ 正午粒度（一天一筆），非 ISO 的高頻量測
 ④ 無完整天候修正
「骨架照 ISO：定參考基準期、控速度帶、看 performance value 隨時間偏移。
 拿不到的量測我們就說拿不到，不假裝。」
■ 「全隊都降速了，你怎麼分商業減速與污損？」← 專家最愛問這題
從不比原始 FOC 或原始航速。k = FOC/STW³ 先把速度正規化，而且只在 ±1 kn 同速帶內比 k；
速度偏離會自動降低信心等級。基準期取每次事件後首 10–15 個合格日、上限 60 個日曆天，
避免再生長把基準灌水。減速改變的是 V，在這些控制下不改變 k。
■ 「Speed Loss % 這數字可信嗎？」
段內對 k 做 Theil-Sen 穩健迴歸（抗離群）。UI 主 KPI 顯示「3.5%（±0.8）· 中信心 · n=12」，
不是假精確的 3.47%。未解釋殘差一定顯示、不藏。
量級合理性：正常約 2–10%。畫得出 40% 的隊，數字就是壞的。
■ 歸因退回 50/50 時要主動講
「因區段不足，暫用預設分攤」會標在卡片上。這是資料限制不是方法漏洞——
有貴司的 UWC/PP 恢復幅度紀錄當 ground truth，就能校準。
■ 誠信收尾句
「正午報表粒度下這是最誠實的做法；給我們軸功率／對水速度計資料，
 框架直接升級 ISO 19030 全合規。」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備援 · UWI 判讀 · 商務價值
★★ 這頁有一條紅線：不准報金額。★★
docs/27 記錄陽明工程師的明確要求：ROI／成本不用算——成本是別部門管的，
他們只負責「發現問題、通知需要清洗」。台上報金額 = 當著提出這要求的人打臉。
只給噸數。要換算，請他們自己乘當期油價：「每港每次加油都不同，我們不假裝知道。」
■ 「清了為什麼沒改善？你們的圖是不是有問題？」← 幾乎必問
不是問題，是發現。官方明示提示自己也講了：純檢查（UWI）不該帶來改善。
關鍵是講清楚兩個地方、兩種角色，這句話要背起來：
 · 預測模型裡 → 物理先驗的家。污損時鐘在 UWI 事件不重置，
   所以模型不會在純檢查後幻覺出一段恢復。這正是官方要的。
 · Dashboard 裡 → 呈現實測 k 變化 + 信心旗標，
   不宣稱「UWI = 零變化」。
S11 的 recovery_pct = −4.62% 就是照實顯示。
■ 追問：「那你的圖在某些 UWI 上還是有變化，不是自相矛盾？」
不矛盾。真資料上多數 UWI 事件量到的 k 變化仍超過噪音門檻——可能是季節、載況、洋流，
或那次檢查其實伴隨了未記錄的小動作。所以 dashboard 老實呈現「量到的 delta + 信心」，
讓專家自己判讀，不硬壓成零。
「把統計實測（會有雜訊）和物理先驗（乾淨）分開處理，是刻意的設計，不是打架。」
■ 「能幫我省多少錢？」
「我們刻意不出金額。」→ 講反事實：把污損時鐘歸零重新預測，
S23 同航速下每天多耗約 16.4 MT（粗估、非正式數字，HIGH 信心 · n=506）。
「換算成本請用貴司當期實際油價。每個噸數都可回溯到計算。」
■ 「AI 會自己排清潔嗎？」
不會。決策支援，人拍板。分級建議：
 低信心 → 先做水下檢查（最便宜的資訊採購）
 高信心且污損歸因明確 → 建議排清潔
 否則 → 持續觀察
「我們永遠不會說『模型叫你清』，而是把證據、信心、歸因攤在你面前，由輪機主管拍板。」
門檻可調（/api/config/threshold），通道可換（SNS/SES）。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備援 · AI · AWS · 限制
★ 紅線：不要把設計講成現況。旁邊就是 live URL，評審 curl 一下就知道。★
今天真的在跑的只有七個：ALB · ECS Fargate · ECR · Bedrock · SNS · SES v2 · CloudWatch。
CloudFront / WAF / Cognito / 私有子網 / NAT / S3 / DynamoDB / 多區域 —— 今天全都沒有，
每一項都用 boto3 探測過、讀回 0。圖上是灰色虛線，講的時候也照這樣講。
■ 「架構長怎樣？」
單一 Spring Boot 容器跑 ECS Fargate（ARM64）+ ALB + ECR + Bedrock + SNS/SES + CloudWatch。
region us-east-1、帳號 516665228894。
最關鍵也最不尋常的一點：請求路徑上沒有任何資料存放層。
指標由 core-calc 離線算完，real-metrics.json 在 build 時烤進映像 → 容器冷啟即持有真資料、
零外部資料相依。（這也正是多區域今天做不了的原因：沒有外置狀態，就沒有東西可以跨區複製。）
要看細節 → 分頁③ /deck.html（18 頁）或分頁④ /architecture.html。
■ 「成本多少？」
不談月費金額（依 docs/27，成本不是本案主線）。只講質性：ARM64 Fargate 常駐成本低、
免管 EC2/OS patch，全量重算不到一分鐘，擴到近百艘架構不變。
■ 「為什麼不上 SageMaker？」→ 同 P13 備忘稿的三個理由。
■ 「AI 怎麼防它亂編數字？」
「數字來自計算，語言來自 AI，決策留給人。」
Bedrock 上的 Claude 只解讀已經算好的指標。護欄逐一比對簡報裡每個數字與它引用的 metric，
對不上就整篇打回、走降級階梯。它無法發明數字。
簡報裡每個數字可點回產生它的 API —— demo 時就展示過了。
開發階段用 Kiro 當 AI 開發工具。
■ 資安被問到 → /architecture.html#security（已實作與規劃中是分開標的）
不要宣稱「全面最小權限」。真相：IAM 動作有收斂（只有 InvokeModel，不是 bedrock:*）、
SNS 綁單一 topic ARN，但 Bedrock 與 SES 仍是 Resource: *。圖上就是這樣標的，照講。
兩個角色分離（task vs execution）才是真的最小權限成果：應用永遠不能拉映像或碰 log group。
■ 多區域被問到 → /architecture.html#activeactive，那是設計不是現況
而且這個比賽帳號根本做不了：ap-northeast-1 的 ECS/ECR 直接回 AccessDenied（已探測）。
■ 「最大的限制？」主動講，不要等問
①SOG 非對水速度、洋流是系統偏差 ②無軸功率、k 是代理 ③歸因區段稀疏時退回標記過的 50/50
④UWI 事件在真資料上仍有超噪音變化，我們呈現而非壓平。
「主動揭露限制，是讓結論可信的前提。」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presentation/img/cover-ship-dus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5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12385C">
              <a:alpha val="78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640080" y="1417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6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FLEETMIND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40080" y="187452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船舶效能分析與</a:t>
            </a:r>
            <a:endParaRPr lang="en-US" sz="4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節能決策支援系統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640080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FE7C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數字來自計算　語言來自 AI　決策留給人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640080" y="53949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陽明海運 · 航運物流組</a:t>
            </a:r>
            <a:pPr indent="0" marL="0">
              <a:buNone/>
            </a:pPr>
            <a:r>
              <a:rPr lang="en-US" sz="140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  |    AWS Summit Taipei 2026 百工百業瘋 AI — AI Everywhere Hackathon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806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團隊 FleetMind（工程 4 + 簡報 1）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船殼污損每天在偷油——但何時該清，全靠經驗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船殼與螺旋槳污損讓同樣航速要燒更多油。船東靠水下清潔（UWC）與拋光（PP）恢復效能，但「何時做、值不值得、省多少」目前多憑經驗，缺乏可量化、可歸因、可回溯的決策依據。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2453564" cy="2651760"/>
          </a:xfrm>
          <a:prstGeom prst="roundRect">
            <a:avLst>
              <a:gd name="adj" fmla="val 3354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06324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393192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艘船 · 5 年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434340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匿名航行日報（noon report）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59404" y="2743200"/>
            <a:ext cx="2453564" cy="2651760"/>
          </a:xfrm>
          <a:prstGeom prst="roundRect">
            <a:avLst>
              <a:gd name="adj" fmla="val 3354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96564" y="306324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21,282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596564" y="393192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日報列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596564" y="434340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＋ 77 筆水下養護事件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78728" y="2743200"/>
            <a:ext cx="2453564" cy="2651760"/>
          </a:xfrm>
          <a:prstGeom prst="roundRect">
            <a:avLst>
              <a:gd name="adj" fmla="val 3354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15888" y="306324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-12% ~ +22%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415888" y="393192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Speed Loss 全隊範圍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15888" y="434340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從剛養護到重度污損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98051" y="2743200"/>
            <a:ext cx="2453564" cy="2651760"/>
          </a:xfrm>
          <a:prstGeom prst="roundRect">
            <a:avLst>
              <a:gd name="adj" fmla="val 3354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235211" y="306324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102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235211" y="393192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格待預測油耗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235211" y="434340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S21–S23 養護後遮蔽窗格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57150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資料由命題企業提供，僅存於競賽 AWS 帳號、不進版控、賽後刪除。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兩條主線：看得見衰退，算得出代價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72888" cy="3383280"/>
          </a:xfrm>
          <a:prstGeom prst="roundRect">
            <a:avLst>
              <a:gd name="adj" fmla="val 2432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96596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F4A72B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96596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反事實預測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2423160"/>
            <a:ext cx="4632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油耗預測模型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960120" y="3017520"/>
            <a:ext cx="46328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預測 102 格被遮蔽的全速油耗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反事實推論：現在做 UWC/PP 能少燒多少油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污損時鐘 + 跨姊妹船遷移學習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4617720"/>
            <a:ext cx="463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predict/ · Python · sklearn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78728" y="1691640"/>
            <a:ext cx="5272888" cy="3383280"/>
          </a:xfrm>
          <a:prstGeom prst="roundRect">
            <a:avLst>
              <a:gd name="adj" fmla="val 2432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98768" y="196596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6598768" y="196596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效能診斷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598768" y="2423160"/>
            <a:ext cx="4632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Speed Loss Dashboard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598768" y="3017520"/>
            <a:ext cx="46328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ISO 19030 框架下的效能衰退趨勢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船殼 vs 螺旋槳歸因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養護事件與效能恢復時序對比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98768" y="4617720"/>
            <a:ext cx="463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core-calc + apps/api · Java / Spring Boot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53492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兩者共用同一套確定性計算：多耗油量反事實、單服務可維運架構、AI 護欄，皆由此延伸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DATA &amp; METHOD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從噪音日報到可比的效能指標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66928" cy="566928"/>
          </a:xfrm>
          <a:prstGeom prst="ellipse">
            <a:avLst/>
          </a:prstGeom>
          <a:solidFill>
            <a:srgbClr val="0A254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17320" y="175564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載入 + 驗證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213055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 船日報 + 77 養護事件；型別/範圍檢查，不刪列只標旗標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862072"/>
            <a:ext cx="566928" cy="566928"/>
          </a:xfrm>
          <a:prstGeom prst="ellipse">
            <a:avLst/>
          </a:prstGeom>
          <a:solidFill>
            <a:srgbClr val="0A254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8620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17320" y="28346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事件直接對齊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17320" y="320954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maintenance.event_day 與日報 NOON_UTC 同軸，直接 join（無日曆錨點難題）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941064"/>
            <a:ext cx="566928" cy="566928"/>
          </a:xfrm>
          <a:prstGeom prst="ellipse">
            <a:avLst/>
          </a:prstGeom>
          <a:solidFill>
            <a:srgbClr val="0A254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9410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17320" y="39136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效能指標 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17320" y="428853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 = Daily FOC / STW³；以對水速度 STW 正規化，隔離洋流與航速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5020056"/>
            <a:ext cx="566928" cy="566928"/>
          </a:xfrm>
          <a:prstGeom prst="ellipse">
            <a:avLst/>
          </a:prstGeom>
          <a:solidFill>
            <a:srgbClr val="0A254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200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417320" y="499262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同速帶比較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17320" y="536752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參考窗 10–15 合格日、±1 kn 同速帶、Theil-Sen 穩健趨勢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903720" y="1783080"/>
            <a:ext cx="4647895" cy="4160520"/>
          </a:xfrm>
          <a:prstGeom prst="roundRect">
            <a:avLst>
              <a:gd name="adj" fmla="val 1978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178040" y="2011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船隊結構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178040" y="2514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訓練船 S1–S12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178040" y="280720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全量可見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178040" y="32644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預測船 S21–S23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178040" y="355701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養護後遮蔽 · 102 格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178040" y="401421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W1 型　S1–S8, S21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178040" y="4306824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同設計姊妹船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178040" y="476402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W2 型　S9–S12, S22–S23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178040" y="505663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不同航線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178040" y="5532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被遮蔽的 3 艘預測船，在同型訓練船上有大量可見歷史 → 遷移學習。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官方必含 ①　SPEED LOSS DASHBOARD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船隊即時盤點：誰在漏油，先看誰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6102" y="2536180"/>
            <a:ext cx="448056" cy="2950220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5" name="Text 3"/>
          <p:cNvSpPr/>
          <p:nvPr/>
        </p:nvSpPr>
        <p:spPr>
          <a:xfrm>
            <a:off x="633222" y="2188708"/>
            <a:ext cx="813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21.8%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33222" y="5541264"/>
            <a:ext cx="813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S11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616202" y="4281952"/>
            <a:ext cx="448056" cy="120444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1433322" y="3934480"/>
            <a:ext cx="813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8.9%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433322" y="5541264"/>
            <a:ext cx="813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S23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416302" y="4295485"/>
            <a:ext cx="448056" cy="1190915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2233422" y="3948013"/>
            <a:ext cx="813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8.8%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233422" y="5541264"/>
            <a:ext cx="813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S6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16402" y="4309019"/>
            <a:ext cx="448056" cy="1177381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3033522" y="3961547"/>
            <a:ext cx="813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8.7%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033522" y="5541264"/>
            <a:ext cx="813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S4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016502" y="4349618"/>
            <a:ext cx="448056" cy="113678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3833622" y="4002146"/>
            <a:ext cx="813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8.4%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833622" y="5541264"/>
            <a:ext cx="813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S12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16602" y="4349618"/>
            <a:ext cx="448056" cy="113678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4633722" y="4002146"/>
            <a:ext cx="813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8.4%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633722" y="5541264"/>
            <a:ext cx="813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S8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16702" y="4620280"/>
            <a:ext cx="448056" cy="8661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5433822" y="4272808"/>
            <a:ext cx="813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6.4%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33822" y="5541264"/>
            <a:ext cx="813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S9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16802" y="4904476"/>
            <a:ext cx="448056" cy="58192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6233922" y="4557004"/>
            <a:ext cx="813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4.3%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233922" y="5541264"/>
            <a:ext cx="813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S5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5486400"/>
            <a:ext cx="6400800" cy="0"/>
          </a:xfrm>
          <a:prstGeom prst="line">
            <a:avLst/>
          </a:prstGeom>
          <a:noFill/>
          <a:ln w="12700">
            <a:solidFill>
              <a:srgbClr val="CBD8E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989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依 Speed Loss 排序的船隊優先盤點（前 8 名）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360920" y="1737360"/>
            <a:ext cx="4190695" cy="4206240"/>
          </a:xfrm>
          <a:prstGeom prst="roundRect">
            <a:avLst>
              <a:gd name="adj" fmla="val 1964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635240" y="2011680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互動趨勢圖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635240" y="2322576"/>
            <a:ext cx="3639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點選任一船，看 Speed Loss 隨航程變化、事件標記、資料缺口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35240" y="2971800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歸因卡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635240" y="3282696"/>
            <a:ext cx="3639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每船顯示船殼/螺旋槳佔比、信心等級與樣本數 n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635240" y="3931920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Before-After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635240" y="4242816"/>
            <a:ext cx="3639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養護事件前後 median k 對比與恢復幅度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7635240" y="4892040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誠實信心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635240" y="5202936"/>
            <a:ext cx="3639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顯示 ±區間、n、未解釋殘差，不做假精確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官方必含 ②A　效能歸因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污損是船殼還是螺旋槳？—— 分開才好排養護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20640" cy="4114800"/>
          </a:xfrm>
          <a:prstGeom prst="roundRect">
            <a:avLst>
              <a:gd name="adj" fmla="val 2000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965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S23 範例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60120" y="23317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96%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60120" y="33375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Speed Loss 來自船殼污損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0120" y="37947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螺旋槳僅佔 4%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→ 建議優先安排水下清潔（UWC），拋光次之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4572000"/>
            <a:ext cx="4526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為何歸因船殼？</a:t>
            </a:r>
            <a:endParaRPr lang="en-US" sz="1050" dirty="0"/>
          </a:p>
          <a:p>
            <a:pPr indent="0" marL="0">
              <a:lnSpc>
                <a:spcPct val="114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單靠 Noon Report 無法物理拆分海流／天氣／引擎老化；我們以 Speed Loss 與維修事件的時間關聯推估主因，並用隔離區段量 k 漂移率拆船殼／螺旋槳（區段稀疏時退回標記過的 50/50，不假裝精準）。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給更多感測資料（天氣／扭矩／軸功率）→ 可升級為真正的 Attribution Model。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72200" y="1737360"/>
            <a:ext cx="5379415" cy="4114800"/>
          </a:xfrm>
          <a:prstGeom prst="roundRect">
            <a:avLst>
              <a:gd name="adj" fmla="val 2000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46520" y="1965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誠實處理「純檢查」事件（UWI）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4652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官方提示：純檢查（UWI）不清不拋，不該帶來效能改善。</a:t>
            </a:r>
            <a:endParaRPr lang="en-US" sz="1250" dirty="0"/>
          </a:p>
          <a:p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我們的做法 — 兩個地方，兩種角色：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預測模型：污損時鐘在 UWI 不重置 → 模型不會幻覺出一段恢復（物理先驗放這裡）。</a:t>
            </a:r>
            <a:endParaRPr lang="en-US" sz="12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Dashboard：呈現實測 k 變化 + 信心，不宣稱「零變化」（稀疏資料上仍有雜訊，誠實顯示）。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官方必含 ②B + ④　油耗預測模型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在只給部分特徵下，還原被遮蔽的油耗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8288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3.51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77240" y="248716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MT　RMSE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80360" y="169164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017520" y="18288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5.22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017520" y="248716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%　MAPE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120640" y="169164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257800" y="18288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102/102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257800" y="248716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格提交 1:1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32461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演算法　</a:t>
            </a:r>
            <a:pPr indent="0" marL="0">
              <a:buNone/>
            </a:pPr>
            <a:r>
              <a:rPr lang="en-US" sz="13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物理 baseline（k·STW³）→ 梯度提升樹（HistGBM）→ 依驗證擇優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7033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特徵　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STW/STW³/RPM/滑差 · 吃水載況 · 風浪湧水溫 · 污損時鐘（UWI 不重置）· 船型 W1/W2 · 燃料熱值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45262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防漏答驗證　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在可見船上模擬真實遮蔽（事件後合格日窗藏答案再評分）+ 跨船 GroupKFold，不用隨機 K-fold。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60920" y="1691640"/>
            <a:ext cx="4190695" cy="3657600"/>
          </a:xfrm>
          <a:prstGeom prst="roundRect">
            <a:avLst>
              <a:gd name="adj" fmla="val 2250"/>
            </a:avLst>
          </a:prstGeom>
          <a:solidFill>
            <a:srgbClr val="E8EFF4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635240" y="1920240"/>
            <a:ext cx="3639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刻意的簡單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635240" y="2331720"/>
            <a:ext cx="36393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我們試過更複雜的堆疊與單調約束——在防漏驗證上都沒贏過樸素 GBM baseline，於是資料驅動地選 baseline。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635240" y="3611880"/>
            <a:ext cx="36393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「不 ship 比 baseline 差的模型」是原則，不是能力上限。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635240" y="4572000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提交標的：全速時段油耗總量（MT），以每小時率×全速時數還原。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presentation/img/wake-exhau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78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商務決策價值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73152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同一個模型回答：污損正在多燒多少油？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50876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反事實推論：把污損時鐘歸零重新預測，得到同航速下每天多耗的燃油噸數。只談噸數，不談金額。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9082735" y="1481328"/>
            <a:ext cx="2468880" cy="310896"/>
          </a:xfrm>
          <a:prstGeom prst="roundRect">
            <a:avLst>
              <a:gd name="adj" fmla="val 50000"/>
            </a:avLst>
          </a:prstGeom>
          <a:solidFill>
            <a:srgbClr val="F4A72B"/>
          </a:solidFill>
          <a:ln/>
        </p:spPr>
      </p:sp>
      <p:sp>
        <p:nvSpPr>
          <p:cNvPr id="8" name="Text 5"/>
          <p:cNvSpPr/>
          <p:nvPr/>
        </p:nvSpPr>
        <p:spPr>
          <a:xfrm>
            <a:off x="9082735" y="148132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粗估 · 非正式數字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0080" y="2194560"/>
            <a:ext cx="10911535" cy="3291840"/>
          </a:xfrm>
          <a:prstGeom prst="roundRect">
            <a:avLst>
              <a:gd name="adj" fmla="val 2500"/>
            </a:avLst>
          </a:prstGeom>
          <a:solidFill>
            <a:srgbClr val="12385C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22960" y="23774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E7C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船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2194560" y="2377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E7C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可省比例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0" y="2377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E7C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每日多耗燃油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680960" y="2377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E7C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信心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2296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S23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2194560" y="2880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24.4%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572000" y="28803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16.4 MT/日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680960" y="2880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HIGH · n=506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822960" y="366674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S6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2194560" y="366674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25.1%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572000" y="366674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14.8 MT/日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7680960" y="366674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LOW · 樣本不足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822960" y="44531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S11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2194560" y="445312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52.3%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572000" y="44531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40.1 MT/日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7680960" y="445312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極端 · 692 天未清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40080" y="57150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決策支援，非自動指令：低信心→先做便宜的水下檢查；高信心且多耗油量大→建議清潔；最終由輪機主管拍板。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官方必含 ③　未盡之處與資料價值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誠實說限制，明確說要什麼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本次分析的限制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303520" cy="804672"/>
          </a:xfrm>
          <a:prstGeom prst="roundRect">
            <a:avLst>
              <a:gd name="adj" fmla="val 10227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正午報表粒度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68680" y="2441448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無軸功率、對水速度計等高頻量測；k=FOC/STW³ 為 ISO 19030 的務實代理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990088"/>
            <a:ext cx="5303520" cy="804672"/>
          </a:xfrm>
          <a:prstGeom prst="roundRect">
            <a:avLst>
              <a:gd name="adj" fmla="val 10227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308152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洋流系統性偏差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68680" y="3374136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SOG/STW 有差；有對水速度計可直接校正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922776"/>
            <a:ext cx="5303520" cy="804672"/>
          </a:xfrm>
          <a:prstGeom prst="roundRect">
            <a:avLst>
              <a:gd name="adj" fmla="val 10227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401421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歸因區段稀疏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68680" y="4306824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部分船退回標記過的 50/50；需更多養護紀錄校準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4855464"/>
            <a:ext cx="5303520" cy="804672"/>
          </a:xfrm>
          <a:prstGeom prst="roundRect">
            <a:avLst>
              <a:gd name="adj" fmla="val 10227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494690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UWI 統計雜訊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68680" y="5239512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稀疏同速帶上仍有量測變化，誠實呈現而非壓平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0" y="1600200"/>
            <a:ext cx="5150815" cy="4251960"/>
          </a:xfrm>
          <a:prstGeom prst="roundRect">
            <a:avLst>
              <a:gd name="adj" fmla="val 1935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675120" y="1828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給我們更多資料，能強化的決策價值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675120" y="2377440"/>
            <a:ext cx="4663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軸功率計 + 對水速度計 → 直接升級 ISO 19030 全合規</a:t>
            </a:r>
            <a:endParaRPr lang="en-US" sz="130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進塢後海試曲線 → 更準的效能參考基準</a:t>
            </a:r>
            <a:endParaRPr lang="en-US" sz="130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貴司 UWC/PP 恢復幅度紀錄 → 歸因與多耗油量估算有 ground truth</a:t>
            </a:r>
            <a:endParaRPr lang="en-US" sz="130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塗層年限 / 吃水俯仰 trim / 航線港口 → 更強的決策依據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官方必含 ④ 架構 + ⑤ AI 角色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單服務同源 · AI 只翻譯不發明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514600" cy="1371600"/>
          </a:xfrm>
          <a:prstGeom prst="roundRect">
            <a:avLst>
              <a:gd name="adj" fmla="val 6000"/>
            </a:avLst>
          </a:prstGeom>
          <a:solidFill>
            <a:srgbClr val="1C7293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20116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4871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航行/養護資料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172968" y="233172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8E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▶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538728" y="1828800"/>
            <a:ext cx="2514600" cy="1371600"/>
          </a:xfrm>
          <a:prstGeom prst="roundRect">
            <a:avLst>
              <a:gd name="adj" fmla="val 6000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75888" y="20116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core-calc + predict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75888" y="24871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確定性計算 + 預測（數字唯一來源）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71616" y="233172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8E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▶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37376" y="1828800"/>
            <a:ext cx="2514600" cy="1371600"/>
          </a:xfrm>
          <a:prstGeom prst="roundRect">
            <a:avLst>
              <a:gd name="adj" fmla="val 6000"/>
            </a:avLst>
          </a:prstGeom>
          <a:solidFill>
            <a:srgbClr val="2A9D8F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574536" y="20116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Spring Boot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74536" y="24871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 + Dashboard 同源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970264" y="233172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8E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▶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336024" y="1828800"/>
            <a:ext cx="2514600" cy="1371600"/>
          </a:xfrm>
          <a:prstGeom prst="roundRect">
            <a:avLst>
              <a:gd name="adj" fmla="val 6000"/>
            </a:avLst>
          </a:prstGeom>
          <a:solidFill>
            <a:srgbClr val="F4A72B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473184" y="20116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473184" y="24871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Haiku · 決策簡報 · guardrail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33832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部署　ECS Fargate（ARM64）· ALB · ECR · Bedrock（Claude Haiku）· SNS · CloudWatch · us-east-1 · Day1 已實測上線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3931920"/>
            <a:ext cx="10911535" cy="1874520"/>
          </a:xfrm>
          <a:prstGeom prst="roundRect">
            <a:avLst>
              <a:gd name="adj" fmla="val 4390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60120" y="4114800"/>
            <a:ext cx="10271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定位：Explainable Decision Support</a:t>
            </a:r>
            <a:pPr indent="0" marL="0">
              <a:buNone/>
            </a:pPr>
            <a:r>
              <a:rPr lang="en-US" sz="150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，不是 Prediction Engine</a:t>
            </a:r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—— 數字來自計算，語言來自 AI，工程師拍板。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60120" y="4526280"/>
            <a:ext cx="102714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Bedrock(Claude) 只把已算好的指標改寫成營運語言；guardrail 逐一比對每個數字的引用來源，未引用或引錯即攔下——AI 無法發明數字。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失敗降級：Bedrock 不可用 → 該船快取簡報 → deterministic 模板；dashboard 與所有計算數字完全不受影響。開發全程以 Kiro 為 AI 助手。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presentation/img/horizon-daw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8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846320"/>
            <a:ext cx="12191695" cy="2011680"/>
          </a:xfrm>
          <a:prstGeom prst="rect">
            <a:avLst/>
          </a:prstGeom>
          <a:solidFill>
            <a:srgbClr val="12385C">
              <a:alpha val="8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64008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FLEETMIND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40080" y="182880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把船隊的效能衰退，變成可計算、</a:t>
            </a:r>
            <a:endParaRPr lang="en-US" sz="3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可歸因、人可拍板的節能決策</a:t>
            </a:r>
            <a:endParaRPr lang="en-US" sz="3300" dirty="0"/>
          </a:p>
        </p:txBody>
      </p:sp>
      <p:sp>
        <p:nvSpPr>
          <p:cNvPr id="7" name="Text 4"/>
          <p:cNvSpPr/>
          <p:nvPr/>
        </p:nvSpPr>
        <p:spPr>
          <a:xfrm>
            <a:off x="640080" y="489204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E7C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Speed Loss Dashboard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40080" y="5257800"/>
            <a:ext cx="34542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真資料 15 船 · ISO 19030 · 船殼/螺旋槳歸因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368698" y="489204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E7C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油耗預測 102 格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368698" y="5257800"/>
            <a:ext cx="34542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RMSE 3.51 MT · 防漏驗證 · 反事實多耗油量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097317" y="489204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E7C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決策支援 · 人在迴路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097317" y="5257800"/>
            <a:ext cx="34542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解釋不發明 · 單服務 AWS 架構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40080" y="6126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謝謝聆聽　·　FleetMind × 陽明海運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Q&amp;A 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資料與方法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拿到什麼資料？怎麼跟養護事件對上？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02082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15 船×5 年日報（21,282 列）+ 77 養護事件。maintenance 用 event_day 與日報 NOON_UTC 同軸，直接 join，無日曆錨點問題。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只有 3 艘要預測，樣本夠嗎？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25526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船型 W1/W2 姊妹船；預測船在同型訓練船上有大量可見歷史 → 遷移學習，正是官方要的能力。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STW 還是 SOG？洋流怎麼處理？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48970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阻力物理一律用 STW（對水）；k=FOC/STW³ 正規化速度，只在 ±1 kn 同速帶比 k，洋流不會被誤記成污損。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預測的到底是什麼值？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572414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當日全速時段主機油耗總量（MT，原欄位語義），非 24h 正規化。內部以每小時率×全速時數還原。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Q&amp;A 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預測模型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用什麼模型？效果多少？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02082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sklearn；物理 baseline→HistGBM→擇優。最佳為樸素 GBM baseline，模擬遮蔽 RMSE 3.51 MT / MAPE 5.22%。更複雜的沒贏過 → 不上。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怎麼確定沒偷看答案？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25526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不用隨機 K-fold。在可見船上模擬真實遮蔽（事件後合格日窗藏答案再預測、逐窗評分）+ GroupKFold 確認跨船遷移。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RPM/SFOC 不是能反推油耗？算洩漏？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48970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H 類（SFOC/馬力/推力）在預測窗本就遮蔽、不用。ME_AVG_RPM 屬可見運轉條件、非答案代理；使用邊界也列入問主辦。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模型有信心區間嗎？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572414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每格附 ±band（同船型×燃料 slice 的殘差 std）；submission 主檔維持 4 欄 102 列，信心另存輔助檔。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Q&amp;A 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Speed Loss / ISO 19030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對齊 ISO 19030 哪個層級？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02082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noon-report 粒度務實改編，不宣稱全合規。k=FOC/STW³ 當 performance value 代理，骨架照 ISO：定參考期、控速帶、看偏移；偏離四點有明列表。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全隊都降速了，怎麼分商業減速與污損？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25526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從不比原始 FOC/航速。k 先正規化速度，只在同速帶比；基準取事件後首 10–15 合格日、上限 60 天。減速改變 V 不改變 k。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Speed Loss % 可信嗎？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48970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段內對 k 做 Theil-Sen 穩健迴歸（抗離群）；主 KPI 顯示 3.5%（±0.8）· 中信心 · n=12，未解釋殘差一定顯示，不做假精確。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船殼 vs 螺旋槳怎麼拆？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572414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隔離區段各量 k 漂移率拆分；區段稀疏時退回標記過的 50/50，明講『因區段不足暫用預設』，不假裝精準。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Q&amp;A 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UWI 判讀 · 商務價值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UWI 你說不改善，但圖上有變化？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02082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兩個地方兩種角色：物理先驗放『預測模型污損時鐘不因 UWI 重置』；dashboard 誠實顯示實測 delta+信心，不硬壓成零。刻意分開統計實測與物理先驗。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這系統能幫我省多少？講數字。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25526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我們刻意不出金額。貴司工程師講得很清楚：成本是別部門管的，你們要的是「發現問題、通知需要清洗」。所以我們只講噸數——反事實把污損時鐘歸零重預測，S23 同航速下每天多耗約 16.4 MT（可省 24.4%，HIGH 信心 · n=506）。這是粗估、非正式數字；要換算成本，用貴司當期實際油價乘上去即可，每港每次加油價格都不同，我們不假裝知道。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AI 會自己排清潔嗎？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48970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不會，決策支援、人拍板。低信心→先做便宜水下檢查；高信心且多耗油量大→建議清潔。反事實是檢視證據，不是自動指令。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資料品質差的日子會硬給建議嗎？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572414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被拒列標原因+品質分；可比樣本不足時不出高信心建議，改建議先做檢查。信心與 n 永遠跟著數字顯示。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Q&amp;A 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· AWS · 限制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AI 扮演什麼角色？怎麼防亂編數字？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02082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數字來自計算、語言來自 AI。Bedrock(Claude) 只改寫已算好的指標；guardrail 逐一比對每個數字的引用來源，未引用/引錯即攔——無法發明數字。開發用 Kiro。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架構？成本？為何不上 SageMaker？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25526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單一 Spring Boot 容器：ECS Fargate（ARM64）+ ALB + ECR + Bedrock（Claude Haiku）+ SNS + CloudWatch，帳號 516665228894 · us-east-1，Day1 已實測上線。ARM64 Fargate 成本低、免管 EC2/OS patch。原本評估的 App Runner 本次受帳號權限阻擋（AccessDenied），故走 Fargate。不上 SageMaker：ISO 19030 本身確定性、樣本少硬煉會過擬合，複雜模型也沒贏過 baseline。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最大的限制是什麼？（主動揭露）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48970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①SOG 非對水速度、洋流系統偏差 ②無軸功率、k 是代理 ③歸因稀疏時退 50/50 ④UWI 仍有量測雜訊，呈現而非壓平。都在 UI/偏離表明示。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給更多資料會怎麼強化？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572414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軸功率計+對水速度計→升級 ISO 19030 全合規；海試曲線→更準基準；貴司 UWC/PP 恢復幅度紀錄→歸因與多耗油量估算有 ground truth。框架不改、餵更好量測即升級。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FleetMind — 陽明海運 AI 船舶效能分析與節能決策</dc:title>
  <dc:subject>PptxGenJS Presentation</dc:subject>
  <dc:creator>FleetMind</dc:creator>
  <cp:lastModifiedBy>FleetMind</cp:lastModifiedBy>
  <cp:revision>1</cp:revision>
  <dcterms:created xsi:type="dcterms:W3CDTF">2026-07-16T04:46:42Z</dcterms:created>
  <dcterms:modified xsi:type="dcterms:W3CDTF">2026-07-16T04:46:42Z</dcterms:modified>
</cp:coreProperties>
</file>