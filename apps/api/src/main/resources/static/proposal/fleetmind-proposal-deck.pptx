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 Loss %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8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S11</c:v>
                  </c:pt>
                  <c:pt idx="1">
                    <c:v>S23</c:v>
                  </c:pt>
                  <c:pt idx="2">
                    <c:v>S6</c:v>
                  </c:pt>
                  <c:pt idx="3">
                    <c:v>S4</c:v>
                  </c:pt>
                  <c:pt idx="4">
                    <c:v>S12</c:v>
                  </c:pt>
                  <c:pt idx="5">
                    <c:v>S8</c:v>
                  </c:pt>
                  <c:pt idx="6">
                    <c:v>S9</c:v>
                  </c:pt>
                  <c:pt idx="7">
                    <c:v>S5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21.8</c:v>
                </c:pt>
                <c:pt idx="1">
                  <c:v>8.9</c:v>
                </c:pt>
                <c:pt idx="2">
                  <c:v>8.8</c:v>
                </c:pt>
                <c:pt idx="3">
                  <c:v>8.7</c:v>
                </c:pt>
                <c:pt idx="4">
                  <c:v>8.4</c:v>
                </c:pt>
                <c:pt idx="5">
                  <c:v>8.4</c:v>
                </c:pt>
                <c:pt idx="6">
                  <c:v>6.4</c:v>
                </c:pt>
                <c:pt idx="7">
                  <c:v>4.3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8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8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[0:00–0:30] 開場：船舶推進效率隨時間衰退、油耗上升；養護能恢復但決策靠經驗。FleetMind 把它變成可計算、可解釋、人可拍板的決策支援。一句話定位：數字來自計算，語言來自 AI，決策留給人。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[0:30–1:10] 點出痛點：污損偷油、養護決策靠經驗。用真資料規模帶出我們有本錢做量化。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[1:10–1:50] 兩個產出：Dashboard 讓衰退看得見，預測模型讓代價算得出。兩者共用同一套確定性計算 —— 多耗油量估算、單服務架構、AI guardrail 都是從這個核心延伸出去的。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[1:50–2:35] 方法核心：k=FOC/STW³ 把速度與洋流正規化，只在同速帶比 k，減速不會被誤記成污損。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[2:35–3:35] Demo（最長，實機操作）：真資料 15 船，點 S11（最嚴重、692 天沒清）看趨勢；再點 S23 看歸因。強調數字全來自 core-calc 確定性計算。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[3:35–4:25] 這頁是誠信亮點。把物理先驗（模型時鐘不重置）和統計實測（dashboard 顯示雜訊）分開，準備好回答『你模型說 UWI 不改善但圖上有變化』。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[4:25–5:25] 誠實：baseline 勝出。強調防漏驗證的嚴謹（模擬真實遮蔽），這是評審會追問的點。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[5:25–6:20] 主打 S23（HIGH 信心、船殼 96%）：同航速下每天多耗約 16.4 MT。S11 是極端案例。刻意不出金額——貴司工程師講明成本是別部門的事，我們只負責發現問題、通知該清洗；油價每港每次都不同，要換算自行乘上當期油價即可。強調人在迴路、數字可回溯。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[6:20–6:55] 主動揭露限制是讓結論可信的前提。同時把『要什麼資料』講清楚：框架不變，餵更好的量測就能直接升級。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[6:55–7:35] 架構一句話：單服務同源、AWS-only、AI 有 guardrail 不亂編。回應官方第 4、5 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[7:35–8:00] 收尾：三個交付一句話帶過，回到定位句，進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254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572000"/>
            <a:ext cx="12191695" cy="228600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6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424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船舶效能分析與</a:t>
            </a:r>
            <a:endParaRPr lang="en-US" sz="4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節能決策支援系統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3977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數字來自計算　語言來自 AI　決策留給人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3949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陽明海運 · 航運物流組</a:t>
            </a:r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    |    AWS Summit Taipei 2026 百工百業瘋 AI — AI Everywhere Hackathon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5806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團隊 FleetMind（工程 4 + 簡報 1）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船殼污損每天在偷油——但何時該清，全靠經驗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船殼與螺旋槳污損讓同樣航速要燒更多油。船東靠水下清潔（UWC）與拋光（PP）恢復效能，但「何時做、值不值得、省多少」目前多憑經驗，缺乏可量化、可歸因、可回溯的決策依據。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77240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艘船 · 5 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匿名航行日報（noon report）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59404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3596564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21,282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596564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日報列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596564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＋ 77 筆水下養護事件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78728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15888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-12% ~ +22%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15888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全隊範圍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15888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從剛養護到重度污損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098051" y="2743200"/>
            <a:ext cx="2453564" cy="2651760"/>
          </a:xfrm>
          <a:prstGeom prst="roundRect">
            <a:avLst>
              <a:gd name="adj" fmla="val 335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235211" y="306324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9235211" y="3931920"/>
            <a:ext cx="217924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格待預測油耗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9235211" y="4343400"/>
            <a:ext cx="21792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S21–S23 養護後遮蔽窗格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40080" y="57150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資料由命題企業提供，僅存於競賽 AWS 帳號、不進版控、賽後刪除。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OUR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兩條主線：看得見衰退，算得出代價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60120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反事實預測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60120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油耗預測模型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960120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 102 格被遮蔽的全速油耗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反事實推論：現在做 UWC/PP 能少燒多少油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污損時鐘 + 跨姊妹船遷移學習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60120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predict/ · Python · sklearn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78728" y="1691640"/>
            <a:ext cx="5272888" cy="3383280"/>
          </a:xfrm>
          <a:prstGeom prst="roundRect">
            <a:avLst>
              <a:gd name="adj" fmla="val 2432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598768" y="1965960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1965960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效能診斷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598768" y="2423160"/>
            <a:ext cx="46328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598768" y="3017520"/>
            <a:ext cx="463280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ISO 19030 框架下的效能衰退趨勢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船殼 vs 螺旋槳歸因</a:t>
            </a:r>
            <a:endParaRPr lang="en-US" sz="14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養護事件與效能恢復時序對比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98768" y="4617720"/>
            <a:ext cx="4632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apps/api · Java / Spring Boot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40080" y="53492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兩者共用同一套確定性計算：多耗油量反事實、單服務可維運架構、AI 護欄，皆由此延伸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DATA &amp; METHOD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從噪音日報到可比的效能指標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783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17320" y="175564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載入 + 驗證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17320" y="213055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15 船日報 + 77 養護事件；型別/範圍檢查，不刪列只標旗標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2862072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17320" y="2834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事件直接對齊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17320" y="320954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maintenance.event_day 與日報 NOON_UTC 同軸，直接 join（無日曆錨點難題）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3941064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9410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1732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效能指標 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417320" y="428853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k = Daily FOC / STW³；以對水速度 STW 正規化，隔離洋流與航速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5020056"/>
            <a:ext cx="566928" cy="566928"/>
          </a:xfrm>
          <a:prstGeom prst="ellipse">
            <a:avLst/>
          </a:prstGeom>
          <a:solidFill>
            <a:srgbClr val="0A254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502005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17320" y="4992624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同速帶比較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17320" y="536752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參考窗 10–15 合格日、±1 kn 同速帶、Theil-Sen 穩健趨勢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903720" y="1783080"/>
            <a:ext cx="4647895" cy="4160520"/>
          </a:xfrm>
          <a:prstGeom prst="roundRect">
            <a:avLst>
              <a:gd name="adj" fmla="val 1978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178040" y="20116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船隊結構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7178040" y="25146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訓練船 S1–S12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7178040" y="2807208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全量可見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178040" y="3264408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預測船 S21–S23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7178040" y="3557016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養護後遮蔽 · 102 格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7178040" y="4014216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W1 型　S1–S8, S21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7178040" y="4306824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同設計姊妹船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7178040" y="47640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W2 型　S9–S12, S22–S23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7178040" y="505663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不同航線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7178040" y="5532120"/>
            <a:ext cx="4480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被遮蔽的 3 艘預測船，在同型訓練船上有大量可見歷史 → 遷移學習。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①　SPEED LOSS DASHBOARD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船隊即時盤點：誰在漏油，先看誰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737360"/>
          <a:ext cx="640080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依 Speed Loss 排序的船隊優先盤點（前 8 名）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7360920" y="1737360"/>
            <a:ext cx="4190695" cy="4206240"/>
          </a:xfrm>
          <a:prstGeom prst="roundRect">
            <a:avLst>
              <a:gd name="adj" fmla="val 1964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635240" y="201168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互動趨勢圖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635240" y="232257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點選任一船，看 Speed Loss 隨航程變化、事件標記、資料缺口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635240" y="297180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歸因卡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635240" y="328269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每船顯示船殼/螺旋槳佔比、信心等級與樣本數 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7635240" y="393192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Before-After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635240" y="424281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養護事件前後 median k 對比與恢復幅度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635240" y="4892040"/>
            <a:ext cx="36393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誠實信心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35240" y="5202936"/>
            <a:ext cx="36393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顯示 ±區間、n、未解釋殘差，不做假精確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②A　效能歸因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污損是船殼還是螺旋槳？—— 分開才好排養護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120640" cy="4114800"/>
          </a:xfrm>
          <a:prstGeom prst="roundRect">
            <a:avLst>
              <a:gd name="adj" fmla="val 2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60120" y="19659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 範例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60120" y="2331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96%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960120" y="33375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來自船殼污損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960120" y="3794760"/>
            <a:ext cx="4480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螺旋槳僅佔 4%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→ 建議優先安排水下清潔（UWC），拋光次之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60120" y="47548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方法：以隔離區段（只影響螺旋槳 / 只影響船殼的窗口）各自量 k 漂移率拆分；區段稀疏時退回標記過的 50/50，不假裝精準。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72200" y="1737360"/>
            <a:ext cx="5379415" cy="4114800"/>
          </a:xfrm>
          <a:prstGeom prst="roundRect">
            <a:avLst>
              <a:gd name="adj" fmla="val 2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46520" y="19659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誠實處理「純檢查」事件（UWI）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46520" y="2423160"/>
            <a:ext cx="49377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spcAft>
                <a:spcPts val="10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官方提示：純檢查（UWI）不清不拋，不該帶來效能改善。</a:t>
            </a:r>
            <a:endParaRPr lang="en-US" sz="12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我們的做法 — 兩個地方，兩種角色：</a:t>
            </a:r>
            <a:endParaRPr lang="en-US" sz="1250" dirty="0"/>
          </a:p>
          <a:p>
            <a:pPr marL="342900" indent="-342900">
              <a:lnSpc>
                <a:spcPct val="112000"/>
              </a:lnSpc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預測模型：污損時鐘在 UWI 不重置 → 模型不會幻覺出一段恢復（物理先驗放這裡）。</a:t>
            </a:r>
            <a:endParaRPr lang="en-US" sz="1250" dirty="0"/>
          </a:p>
          <a:p>
            <a:pPr marL="342900" indent="-342900">
              <a:lnSpc>
                <a:spcPct val="112000"/>
              </a:lnSpc>
              <a:buSzPct val="100000"/>
              <a:buChar char="•"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Dashboard：呈現實測 k 變化 + 信心，不宣稱「零變化」（稀疏資料上仍有雜訊，誠實顯示）。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②B + ④　油耗預測模型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在只給部分特徵下，還原被遮蔽的油耗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3.51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MT　RMSE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88036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01752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5.22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01752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%　MAPE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120640" y="1691640"/>
            <a:ext cx="2057400" cy="1371600"/>
          </a:xfrm>
          <a:prstGeom prst="roundRect">
            <a:avLst>
              <a:gd name="adj" fmla="val 600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257800" y="182880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102/102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257800" y="2487168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格提交 1:1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32461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演算法　</a:t>
            </a:r>
            <a:pPr indent="0" marL="0"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物理 baseline（k·STW³）→ 梯度提升樹（HistGBM）→ 依驗證擇優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0080" y="370332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特徵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STW/STW³/RPM/滑差 · 吃水載況 · 風浪湧水溫 · 污損時鐘（UWI 不重置）· 船型 W1/W2 · 燃料熱值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" y="452628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防漏答驗證　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在可見船上模擬真實遮蔽（事件後合格日窗藏答案再評分）+ 跨船 GroupKFold，不用隨機 K-fold。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360920" y="1691640"/>
            <a:ext cx="4190695" cy="3657600"/>
          </a:xfrm>
          <a:prstGeom prst="roundRect">
            <a:avLst>
              <a:gd name="adj" fmla="val 2250"/>
            </a:avLst>
          </a:prstGeom>
          <a:solidFill>
            <a:srgbClr val="E8EFF4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635240" y="1920240"/>
            <a:ext cx="3639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刻意的簡單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635240" y="2331720"/>
            <a:ext cx="36393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我們試過更複雜的堆疊與單調約束——在防漏驗證上都沒贏過樸素 GBM baseline，於是資料驅動地選 baseline。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635240" y="3611880"/>
            <a:ext cx="363931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「不 ship 比 baseline 差的模型」是原則，不是能力上限。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635240" y="4572000"/>
            <a:ext cx="3639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提交標的：全速時段油耗總量（MT），以每小時率×全速時數還原。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商務決策價值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同一個模型回答：污損正在多燒多少油？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8321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反事實推論：把污損時鐘歸零重新預測，得到同航速下每天多耗的燃油噸數。只談噸數，不談金額。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9082735" y="1481328"/>
            <a:ext cx="2468880" cy="310896"/>
          </a:xfrm>
          <a:prstGeom prst="roundRect">
            <a:avLst>
              <a:gd name="adj" fmla="val 50000"/>
            </a:avLst>
          </a:prstGeom>
          <a:solidFill>
            <a:srgbClr val="F4A72B"/>
          </a:solidFill>
          <a:ln/>
        </p:spPr>
      </p:sp>
      <p:sp>
        <p:nvSpPr>
          <p:cNvPr id="6" name="Text 4"/>
          <p:cNvSpPr/>
          <p:nvPr/>
        </p:nvSpPr>
        <p:spPr>
          <a:xfrm>
            <a:off x="9082735" y="1481328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粗估 · 非正式數字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2194560"/>
            <a:ext cx="10911535" cy="3291840"/>
          </a:xfrm>
          <a:prstGeom prst="roundRect">
            <a:avLst>
              <a:gd name="adj" fmla="val 2500"/>
            </a:avLst>
          </a:prstGeom>
          <a:solidFill>
            <a:srgbClr val="12385C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23774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船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194560" y="23774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可省比例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0" y="23774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每日多耗燃油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680960" y="23774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信心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288036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S23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194560" y="28803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24.4%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28803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16.4 MT/日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680960" y="288036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HIGH · n=506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22960" y="366674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2194560" y="366674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25.1%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0" y="3666744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14.8 MT/日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680960" y="3666744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LOW · 樣本不足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22960" y="4453128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S11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2194560" y="445312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52.3%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453128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40.1 MT/日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680960" y="4453128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極端 · 692 天未清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7150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決策支援，非自動指令：低信心→先做便宜的水下檢查；高信心且多耗油量大→建議清潔；最終由輪機主管拍板。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③　未盡之處與資料價值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誠實說限制，明確說要什麼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本次分析的限制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68680" y="21488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正午報表粒度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68680" y="2441448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無軸功率、對水速度計等高頻量測；k=FOC/STW³ 為 ISO 19030 的務實代理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40080" y="2990088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868680" y="3081528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洋流系統性偏差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68680" y="3374136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SOG/STW 有差；有對水速度計可直接校正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40080" y="3922776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868680" y="4014216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歸因區段稀疏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868680" y="4306824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部分船退回標記過的 50/50；需更多養護紀錄校準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855464"/>
            <a:ext cx="5303520" cy="804672"/>
          </a:xfrm>
          <a:prstGeom prst="roundRect">
            <a:avLst>
              <a:gd name="adj" fmla="val 10227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68680" y="4946904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76F51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統計雜訊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68680" y="5239512"/>
            <a:ext cx="4892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稀疏同速帶上仍有量測變化，誠實呈現而非壓平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0" y="1600200"/>
            <a:ext cx="5150815" cy="4251960"/>
          </a:xfrm>
          <a:prstGeom prst="roundRect">
            <a:avLst>
              <a:gd name="adj" fmla="val 1935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675120" y="18288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給我們更多資料，能強化的決策價值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6675120" y="2377440"/>
            <a:ext cx="46634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軸功率計 + 對水速度計 → 直接升級 ISO 19030 全合規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進塢後海試曲線 → 更準的效能參考基準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貴司 UWC/PP 恢復幅度紀錄 → 歸因與多耗油量估算有 ground truth</a:t>
            </a:r>
            <a:endParaRPr lang="en-US" sz="1300" dirty="0"/>
          </a:p>
          <a:p>
            <a:pPr marL="177800" indent="-177800">
              <a:lnSpc>
                <a:spcPct val="110000"/>
              </a:lnSpc>
              <a:spcAft>
                <a:spcPts val="1200"/>
              </a:spcAft>
              <a:buSzPct val="100000"/>
              <a:buChar char="•"/>
            </a:pPr>
            <a:r>
              <a:rPr lang="en-US" sz="13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塗層年限 / 吃水俯仰 trim / 航線港口 → 更強的決策依據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官方必含 ④ 架構 + ⑤ AI 角色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單服務同源 · AI 只翻譯不發明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1C7293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S3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航行/養護資料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172968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3538728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0A2540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75888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core-calc + predict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675888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確定性計算 + 預測（數字唯一來源）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071616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437376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2A9D8F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574536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Spring Boot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574536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EF5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API + Dashboard 同源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970264" y="2331720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BD8E2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▶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336024" y="1828800"/>
            <a:ext cx="2514600" cy="1371600"/>
          </a:xfrm>
          <a:prstGeom prst="roundRect">
            <a:avLst>
              <a:gd name="adj" fmla="val 6000"/>
            </a:avLst>
          </a:prstGeom>
          <a:solidFill>
            <a:srgbClr val="F4A72B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473184" y="201168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9473184" y="2487168"/>
            <a:ext cx="2240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Claude Haiku · 決策簡報 · guardrail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" y="33832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B7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部署　ECS Fargate（ARM64）· ALB · ECR · Bedrock（Claude Haiku）· SNS · CloudWatch · us-east-1 · Day1 已實測上線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40080" y="3931920"/>
            <a:ext cx="10911535" cy="1874520"/>
          </a:xfrm>
          <a:prstGeom prst="roundRect">
            <a:avLst>
              <a:gd name="adj" fmla="val 4390"/>
            </a:avLst>
          </a:prstGeom>
          <a:solidFill>
            <a:srgbClr val="F2F6F9"/>
          </a:solidFill>
          <a:ln/>
          <a:effectLst>
            <a:outerShdw sx="100000" sy="100000" kx="0" ky="0" algn="bl" rotWithShape="0" blurRad="114300" dist="38100" dir="5400000">
              <a:srgbClr val="9FB2C0">
                <a:alpha val="28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60120" y="4114800"/>
            <a:ext cx="10271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的角色：數字來自計算，語言來自 AI，決策留給人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960120" y="4526280"/>
            <a:ext cx="102714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spcAft>
                <a:spcPts val="600"/>
              </a:spcAft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Bedrock(Claude) 只把已算好的指標改寫成營運語言；guardrail 逐一比對每個數字的引用來源，未引用或引錯即攔下——AI 無法發明數字。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失敗降級：Bedrock 不可用 → 該船快取簡報 → deterministic 模板；dashboard 與所有計算數字完全不受影響。開發全程以 Kiro 為 AI 助手。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5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12385C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371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500" kern="0" dirty="0">
                <a:solidFill>
                  <a:srgbClr val="F4A72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FLEETMIND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把船隊的效能衰退，變成可計算、</a:t>
            </a:r>
            <a:endParaRPr lang="en-US" sz="33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可歸因、人可拍板的節能決策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Dashboard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真資料 15 船 · ISO 19030 · 船殼/螺旋槳歸因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4368698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油耗預測 102 格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68698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RMSE 3.51 MT · 防漏驗證 · 反事實多耗油量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097317" y="48920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9D8F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決策支援 · 人在迴路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097317" y="5257800"/>
            <a:ext cx="345429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AEC4D6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解釋不發明 · 單服務 AWS 架構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0080" y="61264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8BD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謝謝聆聽　·　FleetMind × 陽明海運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資料與方法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拿到什麼資料？怎麼跟養護事件對上？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15 船×5 年日報（21,282 列）+ 77 養護事件。maintenance 用 event_day 與日報 NOON_UTC 同軸，直接 join，無日曆錨點問題。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只有 3 艘要預測，樣本夠嗎？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船型 W1/W2 姊妹船；預測船在同型訓練船上有大量可見歷史 → 遷移學習，正是官方要的能力。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STW 還是 SOG？洋流怎麼處理？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阻力物理一律用 STW（對水）；k=FOC/STW³ 正規化速度，只在 ±1 kn 同速帶比 k，洋流不會被誤記成污損。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預測的到底是什麼值？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當日全速時段主機油耗總量（MT，原欄位語義），非 24h 正規化。內部以每小時率×全速時數還原。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預測模型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用什麼模型？效果多少？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sklearn；物理 baseline→HistGBM→擇優。最佳為樸素 GBM baseline，模擬遮蔽 RMSE 3.51 MT / MAPE 5.22%。更複雜的沒贏過 → 不上。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怎麼確定沒偷看答案？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不用隨機 K-fold。在可見船上模擬真實遮蔽（事件後合格日窗藏答案再預測、逐窗評分）+ GroupKFold 確認跨船遷移。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RPM/SFOC 不是能反推油耗？算洩漏？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H 類（SFOC/馬力/推力）在預測窗本就遮蔽、不用。ME_AVG_RPM 屬可見運轉條件、非答案代理；使用邊界也列入問主辦。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模型有信心區間嗎？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每格附 ±band（同船型×燃料 slice 的殘差 std）；submission 主檔維持 4 欄 102 列，信心另存輔助檔。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Speed Loss / ISO 19030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對齊 ISO 19030 哪個層級？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noon-report 粒度務實改編，不宣稱全合規。k=FOC/STW³ 當 performance value 代理，骨架照 ISO：定參考期、控速帶、看偏移；偏離四點有明列表。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全隊都降速了，怎麼分商業減速與污損？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從不比原始 FOC/航速。k 先正規化速度，只在同速帶比；基準取事件後首 10–15 合格日、上限 60 天。減速改變 V 不改變 k。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Speed Loss % 可信嗎？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段內對 k 做 Theil-Sen 穩健迴歸（抗離群）；主 KPI 顯示 3.5%（±0.8）· 中信心 · n=12，未解釋殘差一定顯示，不做假精確。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船殼 vs 螺旋槳怎麼拆？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隔離區段各量 k 漂移率拆分；區段稀疏時退回標記過的 50/50，明講『因區段不足暫用預設』，不假裝精準。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UWI 判讀 · 商務價值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UWI 你說不改善，但圖上有變化？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兩個地方兩種角色：物理先驗放『預測模型污損時鐘不因 UWI 重置』；dashboard 誠實顯示實測 delta+信心，不硬壓成零。刻意分開統計實測與物理先驗。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這系統能幫我省多少？講數字。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我們刻意不出金額。貴司工程師講得很清楚：成本是別部門管的，你們要的是「發現問題、通知需要清洗」。所以我們只講噸數——反事實把污損時鐘歸零重預測，S23 同航速下每天多耗約 16.4 MT（可省 24.4%，HIGH 信心 · n=506）。這是粗估、非正式數字；要換算成本，用貴司當期實際油價乘上去即可，每港每次加油價格都不同，我們不假裝知道。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會自己排清潔嗎？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不會，決策支援、人拍板。低信心→先做便宜水下檢查；高信心且多耗油量大→建議清潔。反事實是檢視證據，不是自動指令。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資料品質差的日子會硬給建議嗎？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被拒列標原因+品質分；可比樣本不足時不出高信心建議，改建議先做檢查。信心與 n 永遠跟著數字顯示。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1C7293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Q&amp;A BACKUP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115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AI · AWS · 限制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AI 扮演什麼角色？怎麼防亂編數字？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40080" y="202082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數字來自計算、語言來自 AI。Bedrock(Claude) 只改寫已算好的指標；guardrail 逐一比對每個數字的引用來源，未引用/引錯即攔——無法發明數字。開發用 Kiro。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40080" y="292608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架構？成本？為何不上 SageMaker？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640080" y="325526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單一 Spring Boot 容器：ECS Fargate（ARM64）+ ALB + ECR + Bedrock（Claude Haiku）+ SNS + CloudWatch，帳號 516665228894 · us-east-1，Day1 已實測上線。ARM64 Fargate 成本低、免管 EC2/OS patch。原本評估的 App Runner 本次受帳號權限阻擋（AccessDenied），故走 Fargate。不上 SageMaker：ISO 19030 本身確定性、樣本少硬煉會過擬合，複雜模型也沒贏過 baseline。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640080" y="41605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最大的限制是什麼？（主動揭露）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448970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①SOG 非對水速度、洋流系統偏差 ②無軸功率、k 是代理 ③歸因稀疏時退 50/50 ④UWI 仍有量測雜訊，呈現而非壓平。都在 UI/偏離表明示。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40080" y="539496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A2540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Q　給更多資料會怎麼強化？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" y="5724144"/>
            <a:ext cx="10911535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dirty="0">
                <a:solidFill>
                  <a:srgbClr val="18293B"/>
                </a:solidFill>
                <a:latin typeface="Hiragino Sans" pitchFamily="34" charset="0"/>
                <a:ea typeface="Hiragino Sans" pitchFamily="34" charset="-122"/>
                <a:cs typeface="Hiragino Sans" pitchFamily="34" charset="-120"/>
              </a:rPr>
              <a:t>A　軸功率計+對水速度計→升級 ISO 19030 全合規；海試曲線→更準基準；貴司 UWC/PP 恢復幅度紀錄→歸因與多耗油量估算有 ground truth。框架不改、餵更好量測即升級。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FleetMind — 陽明海運 AI 船舶效能分析與節能決策</dc:title>
  <dc:subject>PptxGenJS Presentation</dc:subject>
  <dc:creator>FleetMind</dc:creator>
  <cp:lastModifiedBy>FleetMind</cp:lastModifiedBy>
  <cp:revision>1</cp:revision>
  <dcterms:created xsi:type="dcterms:W3CDTF">2026-07-15T17:17:11Z</dcterms:created>
  <dcterms:modified xsi:type="dcterms:W3CDTF">2026-07-15T17:17:11Z</dcterms:modified>
</cp:coreProperties>
</file>