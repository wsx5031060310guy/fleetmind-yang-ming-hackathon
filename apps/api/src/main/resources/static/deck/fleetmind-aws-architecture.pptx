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 3 天黑客松下 demo 風險最低、可交付性最高。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健檢自動重拉。它與已上線一致、可靠度最高，是安全出賽的基準線。代價是非資料驅動、無 BI、創新分普通。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EventBridge，天生資料驅動、零閒置成本，擴展敘事最強。但 3 天拆分工作量大、Java Lambda 冷啟風險、本機難重現，適合有餘力衝技術分時。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資安採縱深防禦：① 邊緣 Shield 擋 DDoS + WAF 過濾 L7；② VPC 隔離 — ALB 放公有子網當唯一入口、ECS 放私有子網無公網 IP；③ 帳號級 GuardDuty 威脅偵測 + CloudTrail 稽核；④ 機密與加密 — Secrets Manager 託管憑證、KMS 金鑰加密、IAM 最小權限。逐層收斂攻擊面，任一層被突破下一層仍在。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多區域 Active-Active：不同國家船務端經 Route 53 地理/延遲路由就近接入，兩個區域（A ap-northeast-1 東京、B us-east-1 維吉尼亞）皆 active，各自 ALB→ECS + DynamoDB + S3。DynamoDB Global Tables 雙向複製、S3 跨區複製 CRR 備份、EventBridge 跨區匯總即時告警 → SNS/SES。任一區健康檢查失敗，Route 53 自動 failover 切換到健康區，資料已雙向同步 (RPO≈0)、不丟、服務不中斷。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黑客松適配）排列五案，highlight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是穩定出賽基準線；EC2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ero-daw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57200" y="868680"/>
            <a:ext cx="7132320" cy="3703320"/>
          </a:xfrm>
          <a:prstGeom prst="roundRect">
            <a:avLst>
              <a:gd name="adj" fmla="val 2963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9" name="Shape 6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2" name="Shape 9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818120" y="137160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FOC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STW³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833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32688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× 5 年</a:t>
            </a:r>
            <a:endParaRPr lang="en-US" sz="3300" dirty="0"/>
          </a:p>
        </p:txBody>
      </p:sp>
      <p:sp>
        <p:nvSpPr>
          <p:cNvPr id="24" name="Text 21"/>
          <p:cNvSpPr/>
          <p:nvPr/>
        </p:nvSpPr>
        <p:spPr>
          <a:xfrm>
            <a:off x="932688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同型船 · 2021–2025 正午報表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389120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3300" dirty="0"/>
          </a:p>
        </p:txBody>
      </p:sp>
      <p:sp>
        <p:nvSpPr>
          <p:cNvPr id="26" name="Text 23"/>
          <p:cNvSpPr/>
          <p:nvPr/>
        </p:nvSpPr>
        <p:spPr>
          <a:xfrm>
            <a:off x="4389120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最嚴重 Speed Loss · 539 有效日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845552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Day1 上線</a:t>
            </a:r>
            <a:endParaRPr lang="en-US" sz="3300" dirty="0"/>
          </a:p>
        </p:txBody>
      </p:sp>
      <p:sp>
        <p:nvSpPr>
          <p:cNvPr id="28" name="Text 25"/>
          <p:cNvSpPr/>
          <p:nvPr/>
        </p:nvSpPr>
        <p:spPr>
          <a:xfrm>
            <a:off x="7845552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261104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17536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" y="5870448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4400" y="587044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　</a:t>
            </a:r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globe-net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一頁看懂：一個命題、一套現行架構、五種方案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580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919313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919313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152827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52827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38634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38634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9619854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19854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</a:t>
            </a:r>
            <a:endParaRPr lang="en-US" sz="2400" dirty="0"/>
          </a:p>
        </p:txBody>
      </p:sp>
      <p:sp>
        <p:nvSpPr>
          <p:cNvPr id="53" name="Text 50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</a:t>
            </a:r>
            <a:endParaRPr lang="en-US" sz="2400" dirty="0"/>
          </a:p>
        </p:txBody>
      </p:sp>
      <p:sp>
        <p:nvSpPr>
          <p:cNvPr id="58" name="Text 55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2F6E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</a:t>
            </a:r>
            <a:endParaRPr lang="en-US" sz="2400" dirty="0"/>
          </a:p>
        </p:txBody>
      </p:sp>
      <p:sp>
        <p:nvSpPr>
          <p:cNvPr id="63" name="Text 60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4" name="Text 61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</a:t>
            </a:r>
            <a:endParaRPr lang="en-US" sz="2400" dirty="0"/>
          </a:p>
        </p:txBody>
      </p:sp>
      <p:sp>
        <p:nvSpPr>
          <p:cNvPr id="68" name="Text 65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9" name="Text 66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現行架構：ECS Fargate + ALB 單服務容器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存取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399032" y="2231136"/>
            <a:ext cx="978408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399032" y="2631186"/>
            <a:ext cx="97840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538728" y="2231136"/>
            <a:ext cx="85039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38728" y="2631186"/>
            <a:ext cx="85039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550408" y="1911096"/>
            <a:ext cx="1527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550408" y="2286000"/>
            <a:ext cx="1527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550408" y="2825496"/>
            <a:ext cx="152704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550408" y="3109874"/>
            <a:ext cx="152704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8238744" y="191109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238744" y="224576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38744" y="273405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38744" y="306872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0" name="Text 57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2" name="Text 59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5" name="Text 62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Runtime　評審 → ALB → Fargate 回決策看板 + REST（/fleet/summary、/vessels/{id}/decision、/config/threshold…）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8" name="Text 65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hip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 Fargate + ALB + Bedrock + SNS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沿用現行單服務容器，把 demo 臨時做法收斂為正式 ECS Service（desiredCount 維持、健檢失敗自動重拉）。評審計分板上可交付性最高、demo 風險最低的基準線。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Alarms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架構創新度普通，技術 / 創意分不突出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cloud-abstr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55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Gateway + Lambda + DynamoDB（資料驅動）</a:t>
            </a:r>
            <a:endParaRPr lang="en-US" sz="3355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Gateway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λ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21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DB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EVT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network-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全託管容器，零 infra（本次受帳號權限阻擋）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受阻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922971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922971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160142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160142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397313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97313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9634484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34484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0" name="Shape 47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1" name="Text 48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55" name="Shape 52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6" name="Text 53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單台虛機 docker run，最省最可控的保底路線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 · 保底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Graviton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Group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69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Lake → ETL → Athena/Timestream → App + BI + ML</a:t>
            </a:r>
            <a:endParaRPr lang="en-US" sz="2869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藍圖高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ETL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Boot App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ML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最完整企業級藍圖，命中『企業資料應用說明』與 15→97 艘擴展敘事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資料驅動 + BI 自助分析 + 預測 + 即時遙測，商用與願景分最高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元件最多、整合最重，3 天內不可能全做完，只能藍圖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/ IoT Core 屬 stretch，現場跑真流程風險高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多查詢 / BI 層學習與設定成本高，易在時限內卡住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過度工程對 hackathon 反而稀釋 demo 焦點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要在簡報中展示從 hackathon demo 到全艦隊營運平台的完整演進路線圖、拿商用價值與願景分，而非現場實跑時。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· 縱深防禦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資安：VPC 隔離 + GuardDuty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93776"/>
          </a:xfrm>
          <a:prstGeom prst="roundRect">
            <a:avLst>
              <a:gd name="adj" fmla="val 12963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縱深防禦 (defense in depth)：邊緣擋量、VPC 最小暴露、帳號級偵測、全程加密與稽核 — 逐層收斂攻擊面，任一層被突破，下一層仍在。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57400"/>
            <a:ext cx="10911535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21488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邊緣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" y="247802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擋量 · L7 過濾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340864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78024" y="225856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78024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962656" y="2221992"/>
            <a:ext cx="3736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Shield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962656" y="2496312"/>
            <a:ext cx="373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DDoS 防護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937096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074256" y="225856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74256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WAF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558888" y="2221992"/>
            <a:ext cx="3736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WAF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558888" y="2496312"/>
            <a:ext cx="373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L7 規則過濾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96112" y="2980944"/>
            <a:ext cx="10399471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0704" y="3072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VPC 隔離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060704" y="34015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最小暴露面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5968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2734056" y="31821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7340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218688" y="3145536"/>
            <a:ext cx="3480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公有子網 · ALB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218688" y="3419856"/>
            <a:ext cx="348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唯一對外入口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9370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074256" y="3182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742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558888" y="3145536"/>
            <a:ext cx="3480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 · ECS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558888" y="3419856"/>
            <a:ext cx="348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無公網 IP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809080" y="3374136"/>
            <a:ext cx="109728" cy="0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1152144" y="3904488"/>
            <a:ext cx="9887407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316736" y="399592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帳號偵測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16736" y="4325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持續監看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2852928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2990088" y="4105656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9900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GD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3474720" y="4069080"/>
            <a:ext cx="3224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GuardDuty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3474720" y="4343400"/>
            <a:ext cx="322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威脅偵測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937096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074256" y="4105656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074256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CT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558888" y="4069080"/>
            <a:ext cx="3224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CloudTrail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7558888" y="4343400"/>
            <a:ext cx="322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稽核軌跡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1408176" y="4828032"/>
            <a:ext cx="9375343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572768" y="491947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④ 機密加密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1572768" y="5248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零信任存取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310896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3246120" y="5029200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24612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SM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3730752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Secrets Manager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3730752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憑證託管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66105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798210" y="5029200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579821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6282842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6282842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金鑰加密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8213141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8" name="Shape 65"/>
          <p:cNvSpPr/>
          <p:nvPr/>
        </p:nvSpPr>
        <p:spPr>
          <a:xfrm>
            <a:off x="8350301" y="5029200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8350301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8834933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71" name="Text 68"/>
          <p:cNvSpPr/>
          <p:nvPr/>
        </p:nvSpPr>
        <p:spPr>
          <a:xfrm>
            <a:off x="8834933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最小權限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>
            <a:off x="640080" y="576072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14400" y="57607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縱深防禦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邊緣擋量、VPC 隔離、帳號偵測、加密兜底 — 攻擊者要連過四關；憑證進 Secrets Manager、資料以 KMS 加密、操作全入 CloudTrail，IAM 全程最小權限。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multi-reg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MULTI-REGION · ACTIVE-ACTIVE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多區域 Active-Active + 即時告警與災備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不同國家船務端就近接入 → Route 53 智慧路由到兩個 active 區域；一區故障自動切換、跨區雙向複製，資料不丟、服務不中斷。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亞洲船務端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 · 台 · 韓 · 星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71255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80983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歐美船務端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EU · US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084168" y="2011680"/>
            <a:ext cx="4023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67048" y="2139696"/>
            <a:ext cx="402336" cy="402336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6704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R53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79112" y="20116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 53
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 / 延遲路由 · 健康檢查 failover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547872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134960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4" name="Shape 21"/>
          <p:cNvSpPr/>
          <p:nvPr/>
        </p:nvSpPr>
        <p:spPr>
          <a:xfrm>
            <a:off x="6095848" y="2670048"/>
            <a:ext cx="0" cy="18288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94660" y="2852928"/>
            <a:ext cx="6202375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94660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197035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080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A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ap-northeast-1（東京）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251960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425196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04672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4183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426464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426464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081528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218688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1868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703320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3703320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2926080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804672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41832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183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1426464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1426464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3081528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218688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21868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3703320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3703320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842455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42455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57" name="Shape 54"/>
          <p:cNvSpPr/>
          <p:nvPr/>
        </p:nvSpPr>
        <p:spPr>
          <a:xfrm>
            <a:off x="6842455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58" name="Text 55"/>
          <p:cNvSpPr/>
          <p:nvPr/>
        </p:nvSpPr>
        <p:spPr>
          <a:xfrm>
            <a:off x="7025335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B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us-east-1（維吉尼亞）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10454335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60" name="Text 57"/>
          <p:cNvSpPr/>
          <p:nvPr/>
        </p:nvSpPr>
        <p:spPr>
          <a:xfrm>
            <a:off x="10454335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7007047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7144207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144207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7628839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7628839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283903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9421063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9421063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9905695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9905695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9128455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2" name="Shape 69"/>
          <p:cNvSpPr/>
          <p:nvPr/>
        </p:nvSpPr>
        <p:spPr>
          <a:xfrm>
            <a:off x="7007047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7144207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44207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75" name="Text 72"/>
          <p:cNvSpPr/>
          <p:nvPr/>
        </p:nvSpPr>
        <p:spPr>
          <a:xfrm>
            <a:off x="7628839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7628839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9283903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8" name="Shape 75"/>
          <p:cNvSpPr/>
          <p:nvPr/>
        </p:nvSpPr>
        <p:spPr>
          <a:xfrm>
            <a:off x="9421063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9421063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80" name="Text 77"/>
          <p:cNvSpPr/>
          <p:nvPr/>
        </p:nvSpPr>
        <p:spPr>
          <a:xfrm>
            <a:off x="9905695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9905695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5440680" y="3200400"/>
            <a:ext cx="1307592" cy="2057400"/>
          </a:xfrm>
          <a:prstGeom prst="roundRect">
            <a:avLst>
              <a:gd name="adj" fmla="val 6993"/>
            </a:avLst>
          </a:prstGeom>
          <a:solidFill>
            <a:srgbClr val="0A2540">
              <a:alpha val="9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5440680" y="327355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 · 匯總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532120" y="3602736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5" name="Text 82"/>
          <p:cNvSpPr/>
          <p:nvPr/>
        </p:nvSpPr>
        <p:spPr>
          <a:xfrm>
            <a:off x="5559552" y="36027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Tables ⇄ 雙向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5532120" y="4027932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7" name="Text 84"/>
          <p:cNvSpPr/>
          <p:nvPr/>
        </p:nvSpPr>
        <p:spPr>
          <a:xfrm>
            <a:off x="5559552" y="40279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CRR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跨區複製備份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5532120" y="4453128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9" name="Text 86"/>
          <p:cNvSpPr/>
          <p:nvPr/>
        </p:nvSpPr>
        <p:spPr>
          <a:xfrm>
            <a:off x="5559552" y="445312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跨區匯總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5532120" y="4878324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91" name="Text 88"/>
          <p:cNvSpPr/>
          <p:nvPr/>
        </p:nvSpPr>
        <p:spPr>
          <a:xfrm>
            <a:off x="5559552" y="487832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/ SES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即時告警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5358384" y="4251960"/>
            <a:ext cx="82296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3" name="Shape 90"/>
          <p:cNvSpPr/>
          <p:nvPr/>
        </p:nvSpPr>
        <p:spPr>
          <a:xfrm>
            <a:off x="6757416" y="4251960"/>
            <a:ext cx="85039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4" name="Shape 91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一區故障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健康檢查失敗 → Route 53 自動剔除故障區、流量全導健康區；DynamoDB Global Tables 已雙向同步、S3 CRR 已備份 → RPO≈0、資料不丟、對外服務不中斷。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ocean-dee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五案比較 — 現行方案 A 為出賽基準線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方案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運算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入口 / URL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閒置成本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維運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冷啟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黑客松適配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 現行 ★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ECS Fargate 容器常駐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ALB 靜態 URL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低（小時費）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中（VPC/IAM）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無冷啟（常駐）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★ 最高 · 已上線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B Serverless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Lambda 按呼叫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API Gateway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極低（近零）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中（元件多）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冷（Java Lambda）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 App Runner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全託管容器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Runner HTTPS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低-中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最低（免 ALB/VPC）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帳號受阻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D EC2+Docker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單台 EC2 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Elastic IP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最低（單台）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高（自管/單點）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 · 保底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 資料管線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Fargate + Glue/Athena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/ QuickSight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中高（掃描+授權）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高（多層）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—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藍圖價值高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6" name="Text 12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4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40080" y="54864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960120" y="548640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天黑客松以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為主線出賽（已上線、風險最低）；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作為資料驅動與全艦隊願景的演進方向寫進簡報。C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ROADMAP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 15 艘 demo 到全艦隊即時營運平台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8FA8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6782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26782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現在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46106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Text 20"/>
          <p:cNvSpPr/>
          <p:nvPr/>
        </p:nvSpPr>
        <p:spPr>
          <a:xfrm>
            <a:off x="4046106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近期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459404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6" name="Shape 23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4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42284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2F6E9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65430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E9E"/>
          </a:solidFill>
          <a:ln/>
        </p:spPr>
      </p:sp>
      <p:sp>
        <p:nvSpPr>
          <p:cNvPr id="31" name="Text 28"/>
          <p:cNvSpPr/>
          <p:nvPr/>
        </p:nvSpPr>
        <p:spPr>
          <a:xfrm>
            <a:off x="6865430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中期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78728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F6E9E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2F6E9E"/>
          </a:solidFill>
          <a:ln/>
        </p:spPr>
      </p:sp>
      <p:sp>
        <p:nvSpPr>
          <p:cNvPr id="35" name="Text 32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61608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684753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9" name="Text 36"/>
          <p:cNvSpPr/>
          <p:nvPr/>
        </p:nvSpPr>
        <p:spPr>
          <a:xfrm>
            <a:off x="9684753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願景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098051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43" name="Text 40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9280931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ecision-ligh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決策級聯：正常 → 注意 → 行動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502920"/>
          </a:xfrm>
          <a:prstGeom prst="roundRect">
            <a:avLst>
              <a:gd name="adj" fmla="val 12727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正常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DCEFE9"/>
          </a:solidFill>
          <a:ln/>
        </p:spPr>
      </p:sp>
      <p:sp>
        <p:nvSpPr>
          <p:cNvPr id="23" name="Text 20"/>
          <p:cNvSpPr/>
          <p:nvPr/>
        </p:nvSpPr>
        <p:spPr>
          <a:xfrm>
            <a:off x="932688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多數船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8" name="Text 25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注意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12538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BE7C2"/>
          </a:solidFill>
          <a:ln/>
        </p:spPr>
      </p:sp>
      <p:sp>
        <p:nvSpPr>
          <p:cNvPr id="34" name="Text 31"/>
          <p:cNvSpPr/>
          <p:nvPr/>
        </p:nvSpPr>
        <p:spPr>
          <a:xfrm>
            <a:off x="4722266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· 8.9%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8" name="Shape 35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9" name="Text 36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行動</a:t>
            </a:r>
            <a:endParaRPr lang="en-US" sz="1900" dirty="0"/>
          </a:p>
        </p:txBody>
      </p:sp>
      <p:sp>
        <p:nvSpPr>
          <p:cNvPr id="40" name="Text 37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402117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7DAD1"/>
          </a:solidFill>
          <a:ln/>
        </p:spPr>
      </p:sp>
      <p:sp>
        <p:nvSpPr>
          <p:cNvPr id="45" name="Text 42"/>
          <p:cNvSpPr/>
          <p:nvPr/>
        </p:nvSpPr>
        <p:spPr>
          <a:xfrm>
            <a:off x="8511845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· 21.8%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22960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612538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8402117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40080" y="580644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96112" y="580644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por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現場導覽：一個穩定 URL，三個入口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9" name="Text 26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A2540">
              <a:alpha val="8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09728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" y="13716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1828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以已上線的 Fargate + ALB 為基準線穩定出賽，用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2026-07-15T01:38:52Z</dcterms:created>
  <dcterms:modified xsi:type="dcterms:W3CDTF">2026-07-15T01:38:52Z</dcterms:modified>
</cp:coreProperties>
</file>