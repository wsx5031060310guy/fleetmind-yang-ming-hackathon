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發告警。選它的理由是導入風險最低、可交付性最高：單一部署單元、資料零外部相依，今天就已經穩定在跑。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前一頁是我們自己的畫法，這頁是 AWS 官方符號版：圖中每個資源組態與端點狀態，都在 2026-07-15 以 boto3 / curl 從帳號 516665228894、us-east-1 實際讀回，標「推導」「非讀回」者除外。路徑一條線看完：評審瀏覽器 → ALB fleetmind-alb（internet-facing、入站 tcp/80 來自 0.0.0.0/0、目標群組 fleetmind-tg → 172.31.65.255:8080、狀態 healthy）→ VPC vpc-0415efac81151722c 裡的 ECS Fargate task（叢集 fleetmind、服務 fleetmind-svc、任務定義 fleetmind-api:5、ARM64 / Linux、512 CPU / 1024 MiB、awsvpc、容器埠 8080、desiredCount 1）。task 往外接 Bedrock（us.anthropic.claude-haiku-4-5、Converse API，/ai-brief 過 AiBriefGuardrail.validate()）、SNS topic fleetmind-alerts、SES v2、CloudWatch Logs /fleetmind/api；映像從 ECR fleetmind-api 拉，real-metrics.json 在 build 時就烤進去。三件圖上直接標出來、不藏的事：① 請求路徑中沒有任何資料存放 —— S3 與 DynamoDB 都沒用到，Java 程式碼零參照；② SNS 目前 0 個訂閱，publish 會成功，但目前扇出到沒有任何人；③ 兩個子網都是公有、task 有公網 IP（assignPublicIp ENABLED，為了免 NAT gateway 也能拉 ECR），收口靠的是 security group fleetmind-sg 只放行來自 ALB SG 的 tcp/8080，不是靠 private subnet。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同一顆容器，把一次請求拆成三條路徑看，圖上只畫 2026-07-15 於帳號 516665228894 實際存在並經驗證的資源。(a) 讀取路徑：RealDataService 直接從映像內讀 real-metrics.json —— 無網路呼叫、無資料庫、無快取層，冷啟動當下就持有真實資料；/api/fleet/summary、/api/vessels/{id}/performance、/decision、/before-after、/underwater-events 全部由記憶體中的真實資料直接回應。資料規模是 15 艘船、2021–2025 noon reports，k = FOC / STW³（ISO 19030）。(b) AI 路徑：/api/vessels/{id}/ai-brief → Bedrock Converse → AiBriefGuardrail.validate() → 降級階梯：通過就回傳 AI 摘要並快取為 last-good；護欄驗證失敗改用快取的 last-good；連 last-good 都沒有時才走決定性 fallback。這條階梯就是「數字來自計算、語言來自 AI」的實作 —— AI 講錯話會被護欄擋下來，不會污染數字。(c) 告警路徑：門檻判定 S11 Speed Loss 21.8% 大於門檻 10%（門檻走 /api/config/threshold 可調）→ /api/alerts/notify，SNS 與 SES 同時送出。誠實補充圖上也寫了：SNS 目前訂閱數 0，publish 成功但不會送達任何人；今天真正把告警送到收件匣的，是 SES 這條路徑。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健檢自動重拉。它與已上線一致、可靠度最高，是導入風險最低的基準線。代價是非資料驅動、無 BI、架構保守，長期擴展要再往 B/E 演進。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EventBridge，天生資料驅動、零閒置成本，擴展性最強。但拆分工作量大、Java Lambda 冷啟風險、本機難重現，適合有工程餘裕、要一次把資料驅動做到位時。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資安採縱深防禦：① 邊緣 Shield 擋 DDoS + WAF 過濾 L7；② VPC 收斂 — ALB 是唯一對外入口，ECS task 的 SG 只放行 ALB SG 的 8080（實測：直打 task 公網 IP 已 timeout，走 ALB 仍 200）。誠實補充：兩個子網都是公有、task 仍有公網 IP（無 NAT 要拉 ECR），收口靠的是 SG 不是子網；③ 帳號級 GuardDuty 威脅偵測 + CloudTrail 稽核；④ 機密與加密 — Secrets Manager 託管憑證、KMS 金鑰加密、IAM 職責分離（execution role 拉 ECR/寫 log、task role 只有 Bedrock/SNS/SES；動作已收斂，SNS 綁單一 topic ARN，Bedrock 與 SES 仍為 Resource *）。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前一頁說「IAM 職責分離」可當場驗、且不宣稱全程最小權限 —— 這頁是那句話的圖證，2026-07-15 自帳號讀回。上半兩個角色，trust policy 都是 ecs-tasks.amazonaws.com：執行角色 fleetmind-ecs-exec 由 ECS agent 使用，掛 AWS 受管政策 AmazonECSTaskExecutionRolePolicy，負責拉 ECR 映像與寫 CloudWatch Logs —— 應用程式取不到這組憑證。任務角色 fleetmind-ecs-task 才是容器內應用程式的執行期身分，三條 inline 政策：fleetmind-ecs-task-inline（bedrock:InvokeModel 與 InvokeModelWithResponseStream）、fleetmind-ecs-task-sns（sns:Publish）、fleetmind-ses-send（ses:SendEmail、ses:SendRawEmail）。角色分離是真的最小權限收穫：應用程式永遠不能拉映像，也不能寫自己的 log group。但誠實框架就印在圖右邊 —— 三條政策裡只有 SNS 那條把 Resource 釘死到單一 topic ARN arn:aws:sns:us-east-1:516665228894:fleetmind-alerts，Bedrock 與 SES 兩條仍是萬用字元 *，未縮小到資源層級。所以正確說法是「動作已收斂、一個資源釘死、兩個仍是萬用字元」，不是「最小權限」。下半是網路權限邊界：任務 SG 先前入站為 0.0.0.0/0，任務以公網 IP 直接對外應答，curl http://98.92.30.118:8080/api/health 已證明回 200；改為只放行 ALB SG 之後，同一支 curl 逾時，而 ALB 仍回 200 —— 這兩支 curl 評審要驗當場就能驗。任務仍有公網 IP（assignPublicIp ENABLED，為了不架 NAT gateway 也能從 ECR 拉映像），所以不是 private subnet、也不是沒有公網 IP；正確說法是 public subnet + public IP，但 SG 只放行 ALB。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開場先講清楚：這一頁是設計，不是現況——全部還沒有蓋。實查帳號：Route 53 hosted zone 0、DynamoDB 0 張表、EventBridge 0 條規則、S3 0 個 bucket；而且本次 workshop 帳號連跨區都不允許，ap-northeast-1 的 ECS 與 ECR 直接回 AccessDenied，所以這條路在比賽帳號上走不了。/ 設計本身：不同國家船務端經 Route 53 地理/延遲路由就近接入，兩區域皆 active，各自 ALB→ECS + DynamoDB；Global Tables 雙向複製、S3 CRR 備份、EventBridge 跨區匯總告警 → SNS/SES；健康檢查失敗自動 failover，RPO≈0。/ 為什麼今天沒有它：現行把 real-metrics.json 烤進映像、請求路徑上沒有資料存放層，沒有東西可以跨區複製——多區域的前提是先把狀態外置到 DynamoDB。而且 3 天內無法演練 failover，未經演練的災備等於沒有。落地順序：狀態外置 → 單區多 AZ（ALB 已跨 1d/1f）→ 再談雙區。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落地可行性）排列五案，highlight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是穩定的導入基準線；EC2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ero-daw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457200" y="868680"/>
            <a:ext cx="7132320" cy="3703320"/>
          </a:xfrm>
          <a:prstGeom prst="roundRect">
            <a:avLst>
              <a:gd name="adj" fmla="val 2963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818120" y="116586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FOC</a:t>
            </a:r>
            <a:endParaRPr lang="en-US" sz="3000" dirty="0"/>
          </a:p>
        </p:txBody>
      </p:sp>
      <p:sp>
        <p:nvSpPr>
          <p:cNvPr id="14" name="Shape 11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STW³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20" name="Text 17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640080" y="4709160"/>
            <a:ext cx="10911535" cy="1097280"/>
          </a:xfrm>
          <a:prstGeom prst="roundRect">
            <a:avLst>
              <a:gd name="adj" fmla="val 833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× 5 年</a:t>
            </a:r>
            <a:endParaRPr lang="en-US" sz="3300" dirty="0"/>
          </a:p>
        </p:txBody>
      </p:sp>
      <p:sp>
        <p:nvSpPr>
          <p:cNvPr id="23" name="Text 20"/>
          <p:cNvSpPr/>
          <p:nvPr/>
        </p:nvSpPr>
        <p:spPr>
          <a:xfrm>
            <a:off x="932688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同型船 · 2021–2025 正午報表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389120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21.8%</a:t>
            </a:r>
            <a:endParaRPr lang="en-US" sz="3300" dirty="0"/>
          </a:p>
        </p:txBody>
      </p:sp>
      <p:sp>
        <p:nvSpPr>
          <p:cNvPr id="25" name="Text 22"/>
          <p:cNvSpPr/>
          <p:nvPr/>
        </p:nvSpPr>
        <p:spPr>
          <a:xfrm>
            <a:off x="4389120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最嚴重 Speed Loss · 539 有效日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7845552" y="487375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Day1 上線</a:t>
            </a:r>
            <a:endParaRPr lang="en-US" sz="3300" dirty="0"/>
          </a:p>
        </p:txBody>
      </p:sp>
      <p:sp>
        <p:nvSpPr>
          <p:cNvPr id="27" name="Text 24"/>
          <p:cNvSpPr/>
          <p:nvPr/>
        </p:nvSpPr>
        <p:spPr>
          <a:xfrm>
            <a:off x="7845552" y="537667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261104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17536" y="4919472"/>
            <a:ext cx="0" cy="713232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5870448"/>
            <a:ext cx="10911535" cy="530352"/>
          </a:xfrm>
          <a:prstGeom prst="roundRect">
            <a:avLst>
              <a:gd name="adj" fmla="val 1379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870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　</a:t>
            </a:r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globe-netwo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一頁看懂：一個命題、一套現行架構、五種方案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8580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580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919313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2919313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152827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152827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3" name="Shape 30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386340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386340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9619854" y="3474720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9619854" y="3621024"/>
            <a:ext cx="188604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</a:t>
            </a:r>
            <a:endParaRPr lang="en-US" sz="2400" dirty="0"/>
          </a:p>
        </p:txBody>
      </p:sp>
      <p:sp>
        <p:nvSpPr>
          <p:cNvPr id="48" name="Text 45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</a:t>
            </a:r>
            <a:endParaRPr lang="en-US" sz="2400" dirty="0"/>
          </a:p>
        </p:txBody>
      </p:sp>
      <p:sp>
        <p:nvSpPr>
          <p:cNvPr id="53" name="Text 50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4" name="Text 51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</a:t>
            </a:r>
            <a:endParaRPr lang="en-US" sz="2400" dirty="0"/>
          </a:p>
        </p:txBody>
      </p:sp>
      <p:sp>
        <p:nvSpPr>
          <p:cNvPr id="58" name="Text 55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9" name="Text 56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2F6E9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</a:t>
            </a:r>
            <a:endParaRPr lang="en-US" sz="2400" dirty="0"/>
          </a:p>
        </p:txBody>
      </p:sp>
      <p:sp>
        <p:nvSpPr>
          <p:cNvPr id="63" name="Text 60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4" name="Text 61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5" name="Shape 62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</a:t>
            </a:r>
            <a:endParaRPr lang="en-US" sz="2400" dirty="0"/>
          </a:p>
        </p:txBody>
      </p:sp>
      <p:sp>
        <p:nvSpPr>
          <p:cNvPr id="68" name="Text 65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9" name="Text 66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70" name="Text 67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現行架構：ECS Fargate + ALB 單服務容器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存取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C7D6E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入口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0A2540">
              <a:alpha val="70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GET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399032" y="2231136"/>
            <a:ext cx="978408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399032" y="2631186"/>
            <a:ext cx="978408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538728" y="2231136"/>
            <a:ext cx="850392" cy="37261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38728" y="2631186"/>
            <a:ext cx="850392" cy="304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4" name="Shape 31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550408" y="1911096"/>
            <a:ext cx="1527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550408" y="2286000"/>
            <a:ext cx="152704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5550408" y="2825496"/>
            <a:ext cx="152704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5550408" y="3109874"/>
            <a:ext cx="152704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8238744" y="191109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8238744" y="224576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8238744" y="2734056"/>
            <a:ext cx="3111703" cy="30723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238744" y="3068726"/>
            <a:ext cx="3111703" cy="2505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4" name="Shape 51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9" name="Shape 56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0" name="Text 57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62" name="Text 59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5" name="Text 62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Runtime　評審 → ALB → Fargate 回決策看板 + REST：/fleet/summary、/vessels/{id}/decision、/config/threshold…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8" name="Text 65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ARCHITECTURE · 實帳號快照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官方符號版：現行架構逐項對過真實帳號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architec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FLOW · 讀取 / AI / 告警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一次請求的三條路徑，與 AI 的降級階梯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dataf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hip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6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 Fargate + ALB + Bedrock + SNS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★ 最高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沿用現行單服務容器，把 demo 臨時做法收斂為正式 ECS Service（desiredCount 維持、健檢失敗自動重拉）。五案之中可交付性最高、導入風險最低的基準線。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Alarms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架構保守：未含資料層與自助分析，長期擴展需再演進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cloud-abstrac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6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Gateway + Lambda + DynamoDB（資料驅動）</a:t>
            </a:r>
            <a:endParaRPr lang="en-US" sz="3066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中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Gateway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λ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21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DB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EVT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network-gr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全託管容器，零 infra（本次受帳號權限阻擋）</a:t>
            </a:r>
            <a:endParaRPr lang="en-US" sz="3560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低 · 受阻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AR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922971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922971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5160142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160142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7397313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397313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9634484" y="2889504"/>
            <a:ext cx="187141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9634484" y="3172968"/>
            <a:ext cx="187141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0" name="Shape 47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1" name="Text 48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2" name="Text 49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53" name="Shape 50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4" name="Shape 51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55" name="Shape 52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6" name="Text 53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58" name="Shape 55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rver-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44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單台虛機 docker run，最省最可控的保底路線</a:t>
            </a:r>
            <a:endParaRPr lang="en-US" sz="3544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中 · 保底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Graviton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IP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2537917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2537917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4390034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390034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6242152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Group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6242152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094269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094269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9946386" y="2889504"/>
            <a:ext cx="1559509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46386" y="3172968"/>
            <a:ext cx="1559509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告警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56" name="Shape 53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7" name="Text 54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9" name="Shape 56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0" name="Shape 57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1" name="Shape 58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2" name="Text 59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3" name="Text 60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64" name="Shape 61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ata-flo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Lake → ETL → Athena/Timestream → App + BI + ML</a:t>
            </a:r>
            <a:endParaRPr lang="en-US" sz="2545" dirty="0"/>
          </a:p>
        </p:txBody>
      </p:sp>
      <p:sp>
        <p:nvSpPr>
          <p:cNvPr id="12" name="Shape 9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13" name="Text 10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5" name="Text 12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 低 · 藍圖高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1481328"/>
            <a:ext cx="10911535" cy="566928"/>
          </a:xfrm>
          <a:prstGeom prst="roundRect">
            <a:avLst>
              <a:gd name="adj" fmla="val 1129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7" name="Text 14"/>
          <p:cNvSpPr/>
          <p:nvPr/>
        </p:nvSpPr>
        <p:spPr>
          <a:xfrm>
            <a:off x="841248" y="1481328"/>
            <a:ext cx="10509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685800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85800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ETL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2273329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2273329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3860858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860858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</a:t>
            </a:r>
            <a:endParaRPr lang="en-US" sz="800" dirty="0"/>
          </a:p>
        </p:txBody>
      </p:sp>
      <p:sp>
        <p:nvSpPr>
          <p:cNvPr id="40" name="Text 37"/>
          <p:cNvSpPr/>
          <p:nvPr/>
        </p:nvSpPr>
        <p:spPr>
          <a:xfrm>
            <a:off x="5448387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Boot App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5448387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4" name="Shape 41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BI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7035916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035916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9" name="Shape 46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0" name="Shape 47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ML</a:t>
            </a:r>
            <a:endParaRPr lang="en-US" sz="950" dirty="0"/>
          </a:p>
        </p:txBody>
      </p:sp>
      <p:sp>
        <p:nvSpPr>
          <p:cNvPr id="52" name="Text 49"/>
          <p:cNvSpPr/>
          <p:nvPr/>
        </p:nvSpPr>
        <p:spPr>
          <a:xfrm>
            <a:off x="8623445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53" name="Text 50"/>
          <p:cNvSpPr/>
          <p:nvPr/>
        </p:nvSpPr>
        <p:spPr>
          <a:xfrm>
            <a:off x="8623445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2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</a:t>
            </a:r>
            <a:endParaRPr lang="en-US" sz="800" dirty="0"/>
          </a:p>
        </p:txBody>
      </p:sp>
      <p:sp>
        <p:nvSpPr>
          <p:cNvPr id="58" name="Text 55"/>
          <p:cNvSpPr/>
          <p:nvPr/>
        </p:nvSpPr>
        <p:spPr>
          <a:xfrm>
            <a:off x="10210974" y="2889504"/>
            <a:ext cx="1294921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10210974" y="3172968"/>
            <a:ext cx="129492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60" name="Shape 57"/>
          <p:cNvSpPr/>
          <p:nvPr/>
        </p:nvSpPr>
        <p:spPr>
          <a:xfrm>
            <a:off x="640080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640080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2A9D8F"/>
          </a:solidFill>
          <a:ln/>
        </p:spPr>
      </p:sp>
      <p:sp>
        <p:nvSpPr>
          <p:cNvPr id="62" name="Shape 59"/>
          <p:cNvSpPr/>
          <p:nvPr/>
        </p:nvSpPr>
        <p:spPr>
          <a:xfrm>
            <a:off x="640080" y="3831336"/>
            <a:ext cx="5227168" cy="19202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3" name="Text 60"/>
          <p:cNvSpPr/>
          <p:nvPr/>
        </p:nvSpPr>
        <p:spPr>
          <a:xfrm>
            <a:off x="804672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64" name="Text 61"/>
          <p:cNvSpPr/>
          <p:nvPr/>
        </p:nvSpPr>
        <p:spPr>
          <a:xfrm>
            <a:off x="804672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最完整企業級藍圖，涵蓋企業資料應用與 15→97 艘擴展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資料驅動 + BI 自助分析 + 預測 + 即時遙測，長期營運價值最高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65" name="Shape 62"/>
          <p:cNvSpPr/>
          <p:nvPr/>
        </p:nvSpPr>
        <p:spPr>
          <a:xfrm>
            <a:off x="6324448" y="3639312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66" name="Shape 63"/>
          <p:cNvSpPr/>
          <p:nvPr/>
        </p:nvSpPr>
        <p:spPr>
          <a:xfrm>
            <a:off x="6324448" y="3639312"/>
            <a:ext cx="5227168" cy="384048"/>
          </a:xfrm>
          <a:prstGeom prst="roundRect">
            <a:avLst>
              <a:gd name="adj" fmla="val 21429"/>
            </a:avLst>
          </a:prstGeom>
          <a:solidFill>
            <a:srgbClr val="E76F51"/>
          </a:solidFill>
          <a:ln/>
        </p:spPr>
      </p:sp>
      <p:sp>
        <p:nvSpPr>
          <p:cNvPr id="67" name="Shape 64"/>
          <p:cNvSpPr/>
          <p:nvPr/>
        </p:nvSpPr>
        <p:spPr>
          <a:xfrm>
            <a:off x="6324448" y="3831336"/>
            <a:ext cx="5227168" cy="192024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68" name="Text 65"/>
          <p:cNvSpPr/>
          <p:nvPr/>
        </p:nvSpPr>
        <p:spPr>
          <a:xfrm>
            <a:off x="6489040" y="3639312"/>
            <a:ext cx="489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9" name="Text 66"/>
          <p:cNvSpPr/>
          <p:nvPr/>
        </p:nvSpPr>
        <p:spPr>
          <a:xfrm>
            <a:off x="6489040" y="4151376"/>
            <a:ext cx="489798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元件最多、整合最重，導入期最長，只能分階段落地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/ IoT Core 屬 stretch，需船端遙測到位才有價值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多查詢 / BI 層學習與設定成本高，需專責維運人力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相對當前需求過度工程，先期投入短期難回收</a:t>
            </a:r>
            <a:endParaRPr lang="en-US" sz="1150" dirty="0"/>
          </a:p>
        </p:txBody>
      </p:sp>
      <p:sp>
        <p:nvSpPr>
          <p:cNvPr id="70" name="Shape 67"/>
          <p:cNvSpPr/>
          <p:nvPr/>
        </p:nvSpPr>
        <p:spPr>
          <a:xfrm>
            <a:off x="640080" y="5897880"/>
            <a:ext cx="10911535" cy="548640"/>
          </a:xfrm>
          <a:prstGeom prst="roundRect">
            <a:avLst>
              <a:gd name="adj" fmla="val 13333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96112" y="5897880"/>
            <a:ext cx="10454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要展示從 15 艘試點到全艦隊營運平台的完整演進路線圖、規劃中長期資料資產布局，而非近期就要落地時。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7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8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· 現況與規劃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資安：已收口的入口 + 規劃中的縱深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93776"/>
          </a:xfrm>
          <a:prstGeom prst="roundRect">
            <a:avLst>
              <a:gd name="adj" fmla="val 12963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縱深防禦是目標；這頁把「已經在跑的」和「還沒做的」分開講。入口已用 SG 收成 ALB 單點、IAM 已職責分離 — 這兩項可當場驗。其餘是下一步。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03120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221284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已實作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011680" y="221284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可當場驗證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1248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78408" y="2670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78408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463040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463040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唯一對外入口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877824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直打 task IP:8080 → timeout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970520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3107680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107680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592312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Security Group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3592312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只放行 ALB SG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3007096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fleetmind-sg 無 0.0.0.0/0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5099792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5236952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236952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721584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 職責分離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721584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 / execution role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5136368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app 拉不到 ECR、寫不了 log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229064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7366224" y="2670048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366224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CW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50856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CloudWatch Logs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850856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/fleetmind/api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265640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awslogs driver 已設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9358335" y="2578608"/>
            <a:ext cx="1992112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9495495" y="2670048"/>
            <a:ext cx="384048" cy="384048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95495" y="2660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9980127" y="2624328"/>
            <a:ext cx="1278880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Shield Standard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9980127" y="2908706"/>
            <a:ext cx="127888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 自動生效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9394911" y="3218688"/>
            <a:ext cx="191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預設, 非我們部署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640080" y="3986784"/>
            <a:ext cx="10911535" cy="1755648"/>
          </a:xfrm>
          <a:prstGeom prst="roundRect">
            <a:avLst>
              <a:gd name="adj" fmla="val 5208"/>
            </a:avLst>
          </a:prstGeom>
          <a:solidFill>
            <a:srgbClr val="0A2540">
              <a:alpha val="8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41248" y="40965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規劃中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2011680" y="409651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尚未部署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84124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978408" y="45537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97840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WAF</a:t>
            </a:r>
            <a:endParaRPr lang="en-US" sz="800" dirty="0"/>
          </a:p>
        </p:txBody>
      </p:sp>
      <p:sp>
        <p:nvSpPr>
          <p:cNvPr id="53" name="Text 50"/>
          <p:cNvSpPr/>
          <p:nvPr/>
        </p:nvSpPr>
        <p:spPr>
          <a:xfrm>
            <a:off x="146304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AWS WAF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46304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L7 規則過濾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87782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WebACL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50283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7" name="Shape 54"/>
          <p:cNvSpPr/>
          <p:nvPr/>
        </p:nvSpPr>
        <p:spPr>
          <a:xfrm>
            <a:off x="3639998" y="4553712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363999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GD</a:t>
            </a:r>
            <a:endParaRPr lang="en-US" sz="950" dirty="0"/>
          </a:p>
        </p:txBody>
      </p:sp>
      <p:sp>
        <p:nvSpPr>
          <p:cNvPr id="59" name="Text 56"/>
          <p:cNvSpPr/>
          <p:nvPr/>
        </p:nvSpPr>
        <p:spPr>
          <a:xfrm>
            <a:off x="412463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GuardDuty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412463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威脅偵測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353941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本帳號 AccessDenied, 開不了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6164428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3" name="Shape 60"/>
          <p:cNvSpPr/>
          <p:nvPr/>
        </p:nvSpPr>
        <p:spPr>
          <a:xfrm>
            <a:off x="6301588" y="4553712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301588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SM</a:t>
            </a:r>
            <a:endParaRPr lang="en-US" sz="950" dirty="0"/>
          </a:p>
        </p:txBody>
      </p:sp>
      <p:sp>
        <p:nvSpPr>
          <p:cNvPr id="65" name="Text 62"/>
          <p:cNvSpPr/>
          <p:nvPr/>
        </p:nvSpPr>
        <p:spPr>
          <a:xfrm>
            <a:off x="6786220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Secrets Manager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6786220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憑證託管</a:t>
            </a:r>
            <a:endParaRPr lang="en-US" sz="850" dirty="0"/>
          </a:p>
        </p:txBody>
      </p:sp>
      <p:sp>
        <p:nvSpPr>
          <p:cNvPr id="67" name="Text 64"/>
          <p:cNvSpPr/>
          <p:nvPr/>
        </p:nvSpPr>
        <p:spPr>
          <a:xfrm>
            <a:off x="6201004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目前 0 個 secret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8826017" y="4462272"/>
            <a:ext cx="2524430" cy="566928"/>
          </a:xfrm>
          <a:prstGeom prst="roundRect">
            <a:avLst>
              <a:gd name="adj" fmla="val 12903"/>
            </a:avLst>
          </a:prstGeom>
          <a:solidFill>
            <a:srgbClr val="12385C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9" name="Shape 66"/>
          <p:cNvSpPr/>
          <p:nvPr/>
        </p:nvSpPr>
        <p:spPr>
          <a:xfrm>
            <a:off x="8963177" y="4553712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8963177" y="4544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</a:t>
            </a:r>
            <a:endParaRPr lang="en-US" sz="800" dirty="0"/>
          </a:p>
        </p:txBody>
      </p:sp>
      <p:sp>
        <p:nvSpPr>
          <p:cNvPr id="71" name="Text 68"/>
          <p:cNvSpPr/>
          <p:nvPr/>
        </p:nvSpPr>
        <p:spPr>
          <a:xfrm>
            <a:off x="9447809" y="4507992"/>
            <a:ext cx="1811198" cy="25694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KMS CMK</a:t>
            </a:r>
            <a:endParaRPr lang="en-US" sz="1050" dirty="0"/>
          </a:p>
        </p:txBody>
      </p:sp>
      <p:sp>
        <p:nvSpPr>
          <p:cNvPr id="72" name="Text 69"/>
          <p:cNvSpPr/>
          <p:nvPr/>
        </p:nvSpPr>
        <p:spPr>
          <a:xfrm>
            <a:off x="9447809" y="4792370"/>
            <a:ext cx="1811198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自管金鑰</a:t>
            </a:r>
            <a:endParaRPr lang="en-US" sz="850" dirty="0"/>
          </a:p>
        </p:txBody>
      </p:sp>
      <p:sp>
        <p:nvSpPr>
          <p:cNvPr id="73" name="Text 70"/>
          <p:cNvSpPr/>
          <p:nvPr/>
        </p:nvSpPr>
        <p:spPr>
          <a:xfrm>
            <a:off x="8862593" y="5102352"/>
            <a:ext cx="24512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現用 AWS 託管預設金鑰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640080" y="5760720"/>
            <a:ext cx="10911535" cy="640080"/>
          </a:xfrm>
          <a:prstGeom prst="roundRect">
            <a:avLst>
              <a:gd name="adj" fmla="val 11429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914400" y="576072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誠實盤點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今天真正擋得住的是入口：SG 只放行 ALB，直打 task 公網 IP 已 timeout。IAM 動作已收斂、SNS 綁單一 topic ARN，但 Bedrock 與 SES 仍是 Resource *，不宣稱「全程最小權限」。GuardDuty 受本帳號權限阻擋，WAF / Secrets Manager 是下一步。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security-so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7" name="Text 4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640080" y="237744"/>
            <a:ext cx="94484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IAM · 兩角色分離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40080" y="438912"/>
            <a:ext cx="9448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權限邊界：誰能拉映像、誰能呼叫 Bedrock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1030072" y="859536"/>
            <a:ext cx="10131552" cy="5779008"/>
          </a:xfrm>
          <a:prstGeom prst="roundRect">
            <a:avLst>
              <a:gd name="adj" fmla="val 949"/>
            </a:avLst>
          </a:prstGeom>
          <a:solidFill>
            <a:srgbClr val="FFFFFF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228600" dist="63500" dir="5400000">
              <a:srgbClr val="04101B">
                <a:alpha val="55000"/>
              </a:srgbClr>
            </a:outerShdw>
          </a:effectLst>
        </p:spPr>
      </p:sp>
      <p:pic>
        <p:nvPicPr>
          <p:cNvPr id="11" name="Image 1" descr="/Users/fengchihsheng/Documents/AI_work/fleetmind-yang-ming-hackathon/apps/api/src/main/resources/static/img/diagrams/i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512" y="950976"/>
            <a:ext cx="994867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multi-reg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MULTI-REGION · 設計藍圖（未部署）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多區域 Active-Active：設計，不是現況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這一頁全部還沒有蓋。現況：單一區域 us-east-1、一個 ALB、一個 ECS 服務；帳號裡 Route 53 / DynamoDB / EventBridge / S3 皆為 0。且本次帳號連跨區都不允許（ap-northeast-1 的 ECS/ECR 回 AccessDenied）。但船隊本來就跨國，這是貴司自有帳號上該長的樣子。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亞洲船務端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 · 台 · 韓 · 星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8671255" y="2011680"/>
            <a:ext cx="2880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80983" y="2011680"/>
            <a:ext cx="266090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歐美船務端
</a:t>
            </a:r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EU · US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084168" y="2011680"/>
            <a:ext cx="4023360" cy="658368"/>
          </a:xfrm>
          <a:prstGeom prst="roundRect">
            <a:avLst>
              <a:gd name="adj" fmla="val 12500"/>
            </a:avLst>
          </a:prstGeom>
          <a:solidFill>
            <a:srgbClr val="12385C">
              <a:alpha val="96000"/>
            </a:srgbClr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267048" y="2139696"/>
            <a:ext cx="402336" cy="402336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26704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R53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4779112" y="201168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Route 53
</a:t>
            </a:r>
            <a:pPr algn="l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 / 延遲路由 · 健康檢查 failover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547872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134960" y="2340864"/>
            <a:ext cx="50886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4" name="Shape 21"/>
          <p:cNvSpPr/>
          <p:nvPr/>
        </p:nvSpPr>
        <p:spPr>
          <a:xfrm>
            <a:off x="6095848" y="2670048"/>
            <a:ext cx="0" cy="18288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94660" y="2852928"/>
            <a:ext cx="6202375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994660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197035" y="2852928"/>
            <a:ext cx="0" cy="329184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080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30" name="Shape 27"/>
          <p:cNvSpPr/>
          <p:nvPr/>
        </p:nvSpPr>
        <p:spPr>
          <a:xfrm>
            <a:off x="640080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8"/>
          <p:cNvSpPr/>
          <p:nvPr/>
        </p:nvSpPr>
        <p:spPr>
          <a:xfrm>
            <a:off x="822960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A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ap-northeast-1（東京）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4251960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4251960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804672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941832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41832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1426464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1426464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3081528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3218688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321868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3703320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3703320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2926080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804672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941832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1832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48" name="Text 45"/>
          <p:cNvSpPr/>
          <p:nvPr/>
        </p:nvSpPr>
        <p:spPr>
          <a:xfrm>
            <a:off x="1426464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1426464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50" name="Shape 47"/>
          <p:cNvSpPr/>
          <p:nvPr/>
        </p:nvSpPr>
        <p:spPr>
          <a:xfrm>
            <a:off x="3081528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218688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3218688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3703320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3703320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55" name="Shape 52"/>
          <p:cNvSpPr/>
          <p:nvPr/>
        </p:nvSpPr>
        <p:spPr>
          <a:xfrm>
            <a:off x="6842455" y="3200400"/>
            <a:ext cx="4709160" cy="2057400"/>
          </a:xfrm>
          <a:prstGeom prst="roundRect">
            <a:avLst>
              <a:gd name="adj" fmla="val 4444"/>
            </a:avLst>
          </a:prstGeom>
          <a:solidFill>
            <a:srgbClr val="12385C">
              <a:alpha val="92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42455" y="3200400"/>
            <a:ext cx="4709160" cy="457200"/>
          </a:xfrm>
          <a:prstGeom prst="roundRect">
            <a:avLst>
              <a:gd name="adj" fmla="val 20000"/>
            </a:avLst>
          </a:prstGeom>
          <a:solidFill>
            <a:srgbClr val="1B4D74"/>
          </a:solidFill>
          <a:ln/>
        </p:spPr>
      </p:sp>
      <p:sp>
        <p:nvSpPr>
          <p:cNvPr id="57" name="Shape 54"/>
          <p:cNvSpPr/>
          <p:nvPr/>
        </p:nvSpPr>
        <p:spPr>
          <a:xfrm>
            <a:off x="6842455" y="3429000"/>
            <a:ext cx="4709160" cy="22860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58" name="Text 55"/>
          <p:cNvSpPr/>
          <p:nvPr/>
        </p:nvSpPr>
        <p:spPr>
          <a:xfrm>
            <a:off x="7025335" y="320040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 B</a:t>
            </a:r>
            <a:pPr indent="0" marL="0">
              <a:buNone/>
            </a:pPr>
            <a:r>
              <a:rPr lang="en-US" sz="9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　us-east-1（維吉尼亞）</a:t>
            </a:r>
            <a:endParaRPr lang="en-US" sz="1250" dirty="0"/>
          </a:p>
        </p:txBody>
      </p:sp>
      <p:sp>
        <p:nvSpPr>
          <p:cNvPr id="59" name="Shape 56"/>
          <p:cNvSpPr/>
          <p:nvPr/>
        </p:nvSpPr>
        <p:spPr>
          <a:xfrm>
            <a:off x="10454335" y="328269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60" name="Text 57"/>
          <p:cNvSpPr/>
          <p:nvPr/>
        </p:nvSpPr>
        <p:spPr>
          <a:xfrm>
            <a:off x="10454335" y="328269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ACTIVE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7007047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2" name="Shape 59"/>
          <p:cNvSpPr/>
          <p:nvPr/>
        </p:nvSpPr>
        <p:spPr>
          <a:xfrm>
            <a:off x="7144207" y="3813048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7144207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800" dirty="0"/>
          </a:p>
        </p:txBody>
      </p:sp>
      <p:sp>
        <p:nvSpPr>
          <p:cNvPr id="64" name="Text 61"/>
          <p:cNvSpPr/>
          <p:nvPr/>
        </p:nvSpPr>
        <p:spPr>
          <a:xfrm>
            <a:off x="7628839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ALB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628839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區域入口</a:t>
            </a:r>
            <a:endParaRPr lang="en-US" sz="850" dirty="0"/>
          </a:p>
        </p:txBody>
      </p:sp>
      <p:sp>
        <p:nvSpPr>
          <p:cNvPr id="66" name="Shape 63"/>
          <p:cNvSpPr/>
          <p:nvPr/>
        </p:nvSpPr>
        <p:spPr>
          <a:xfrm>
            <a:off x="9283903" y="3767328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9421063" y="3813048"/>
            <a:ext cx="384048" cy="384048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9421063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800" dirty="0"/>
          </a:p>
        </p:txBody>
      </p:sp>
      <p:sp>
        <p:nvSpPr>
          <p:cNvPr id="69" name="Text 66"/>
          <p:cNvSpPr/>
          <p:nvPr/>
        </p:nvSpPr>
        <p:spPr>
          <a:xfrm>
            <a:off x="9905695" y="3813048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</a:t>
            </a:r>
            <a:endParaRPr lang="en-US" sz="1100" dirty="0"/>
          </a:p>
        </p:txBody>
      </p:sp>
      <p:sp>
        <p:nvSpPr>
          <p:cNvPr id="70" name="Text 67"/>
          <p:cNvSpPr/>
          <p:nvPr/>
        </p:nvSpPr>
        <p:spPr>
          <a:xfrm>
            <a:off x="9905695" y="4047134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SG 收口</a:t>
            </a:r>
            <a:endParaRPr lang="en-US" sz="850" dirty="0"/>
          </a:p>
        </p:txBody>
      </p:sp>
      <p:sp>
        <p:nvSpPr>
          <p:cNvPr id="71" name="Shape 68"/>
          <p:cNvSpPr/>
          <p:nvPr/>
        </p:nvSpPr>
        <p:spPr>
          <a:xfrm>
            <a:off x="9128455" y="4005072"/>
            <a:ext cx="1371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72" name="Shape 69"/>
          <p:cNvSpPr/>
          <p:nvPr/>
        </p:nvSpPr>
        <p:spPr>
          <a:xfrm>
            <a:off x="7007047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7144207" y="4398264"/>
            <a:ext cx="384048" cy="384048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7144207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DDB</a:t>
            </a:r>
            <a:endParaRPr lang="en-US" sz="800" dirty="0"/>
          </a:p>
        </p:txBody>
      </p:sp>
      <p:sp>
        <p:nvSpPr>
          <p:cNvPr id="75" name="Text 72"/>
          <p:cNvSpPr/>
          <p:nvPr/>
        </p:nvSpPr>
        <p:spPr>
          <a:xfrm>
            <a:off x="7628839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</a:t>
            </a:r>
            <a:endParaRPr lang="en-US" sz="1100" dirty="0"/>
          </a:p>
        </p:txBody>
      </p:sp>
      <p:sp>
        <p:nvSpPr>
          <p:cNvPr id="76" name="Text 73"/>
          <p:cNvSpPr/>
          <p:nvPr/>
        </p:nvSpPr>
        <p:spPr>
          <a:xfrm>
            <a:off x="7628839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9283903" y="4352544"/>
            <a:ext cx="2103120" cy="475488"/>
          </a:xfrm>
          <a:prstGeom prst="roundRect">
            <a:avLst>
              <a:gd name="adj" fmla="val 15385"/>
            </a:avLst>
          </a:prstGeom>
          <a:solidFill>
            <a:srgbClr val="0A2540">
              <a:alpha val="98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76200" dist="25400" dir="5400000">
              <a:srgbClr val="04101B">
                <a:alpha val="45000"/>
              </a:srgbClr>
            </a:outerShdw>
          </a:effectLst>
        </p:spPr>
      </p:sp>
      <p:sp>
        <p:nvSpPr>
          <p:cNvPr id="78" name="Shape 75"/>
          <p:cNvSpPr/>
          <p:nvPr/>
        </p:nvSpPr>
        <p:spPr>
          <a:xfrm>
            <a:off x="9421063" y="4398264"/>
            <a:ext cx="384048" cy="384048"/>
          </a:xfrm>
          <a:prstGeom prst="ellipse">
            <a:avLst/>
          </a:prstGeom>
          <a:solidFill>
            <a:srgbClr val="5C7B95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9421063" y="4389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950" dirty="0"/>
          </a:p>
        </p:txBody>
      </p:sp>
      <p:sp>
        <p:nvSpPr>
          <p:cNvPr id="80" name="Text 77"/>
          <p:cNvSpPr/>
          <p:nvPr/>
        </p:nvSpPr>
        <p:spPr>
          <a:xfrm>
            <a:off x="9905695" y="4398264"/>
            <a:ext cx="1389888" cy="20665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100" dirty="0"/>
          </a:p>
        </p:txBody>
      </p:sp>
      <p:sp>
        <p:nvSpPr>
          <p:cNvPr id="81" name="Text 78"/>
          <p:cNvSpPr/>
          <p:nvPr/>
        </p:nvSpPr>
        <p:spPr>
          <a:xfrm>
            <a:off x="9905695" y="4632350"/>
            <a:ext cx="1389888" cy="16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跨區複製源</a:t>
            </a:r>
            <a:endParaRPr lang="en-US" sz="850" dirty="0"/>
          </a:p>
        </p:txBody>
      </p:sp>
      <p:sp>
        <p:nvSpPr>
          <p:cNvPr id="82" name="Shape 79"/>
          <p:cNvSpPr/>
          <p:nvPr/>
        </p:nvSpPr>
        <p:spPr>
          <a:xfrm>
            <a:off x="5440680" y="3200400"/>
            <a:ext cx="1307592" cy="2057400"/>
          </a:xfrm>
          <a:prstGeom prst="roundRect">
            <a:avLst>
              <a:gd name="adj" fmla="val 6993"/>
            </a:avLst>
          </a:prstGeom>
          <a:solidFill>
            <a:srgbClr val="0A2540">
              <a:alpha val="92000"/>
            </a:srgbClr>
          </a:solidFill>
          <a:ln w="12700">
            <a:solidFill>
              <a:srgbClr val="F4A72B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5440680" y="3273552"/>
            <a:ext cx="1307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 · 匯總</a:t>
            </a:r>
            <a:endParaRPr lang="en-US" sz="900" dirty="0"/>
          </a:p>
        </p:txBody>
      </p:sp>
      <p:sp>
        <p:nvSpPr>
          <p:cNvPr id="84" name="Shape 81"/>
          <p:cNvSpPr/>
          <p:nvPr/>
        </p:nvSpPr>
        <p:spPr>
          <a:xfrm>
            <a:off x="5532120" y="3602736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5" name="Text 82"/>
          <p:cNvSpPr/>
          <p:nvPr/>
        </p:nvSpPr>
        <p:spPr>
          <a:xfrm>
            <a:off x="5559552" y="3602736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DynamoDB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Global Tables ⇄ 雙向</a:t>
            </a:r>
            <a:endParaRPr lang="en-US" sz="900" dirty="0"/>
          </a:p>
        </p:txBody>
      </p:sp>
      <p:sp>
        <p:nvSpPr>
          <p:cNvPr id="86" name="Shape 83"/>
          <p:cNvSpPr/>
          <p:nvPr/>
        </p:nvSpPr>
        <p:spPr>
          <a:xfrm>
            <a:off x="5532120" y="4027932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7" name="Text 84"/>
          <p:cNvSpPr/>
          <p:nvPr/>
        </p:nvSpPr>
        <p:spPr>
          <a:xfrm>
            <a:off x="5559552" y="4027932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 CRR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跨區複製備份</a:t>
            </a:r>
            <a:endParaRPr lang="en-US" sz="900" dirty="0"/>
          </a:p>
        </p:txBody>
      </p:sp>
      <p:sp>
        <p:nvSpPr>
          <p:cNvPr id="88" name="Shape 85"/>
          <p:cNvSpPr/>
          <p:nvPr/>
        </p:nvSpPr>
        <p:spPr>
          <a:xfrm>
            <a:off x="5532120" y="4453128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89" name="Text 86"/>
          <p:cNvSpPr/>
          <p:nvPr/>
        </p:nvSpPr>
        <p:spPr>
          <a:xfrm>
            <a:off x="5559552" y="4453128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EventBridge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跨區匯總</a:t>
            </a:r>
            <a:endParaRPr lang="en-US" sz="900" dirty="0"/>
          </a:p>
        </p:txBody>
      </p:sp>
      <p:sp>
        <p:nvSpPr>
          <p:cNvPr id="90" name="Shape 87"/>
          <p:cNvSpPr/>
          <p:nvPr/>
        </p:nvSpPr>
        <p:spPr>
          <a:xfrm>
            <a:off x="5532120" y="4878324"/>
            <a:ext cx="1124712" cy="384048"/>
          </a:xfrm>
          <a:prstGeom prst="roundRect">
            <a:avLst>
              <a:gd name="adj" fmla="val 14286"/>
            </a:avLst>
          </a:prstGeom>
          <a:solidFill>
            <a:srgbClr val="1B4D74"/>
          </a:solidFill>
          <a:ln/>
        </p:spPr>
      </p:sp>
      <p:sp>
        <p:nvSpPr>
          <p:cNvPr id="91" name="Text 88"/>
          <p:cNvSpPr/>
          <p:nvPr/>
        </p:nvSpPr>
        <p:spPr>
          <a:xfrm>
            <a:off x="5559552" y="4878324"/>
            <a:ext cx="1069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SNS / SES
</a:t>
            </a:r>
            <a:pPr algn="ctr"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即時告警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5358384" y="4251960"/>
            <a:ext cx="82296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3" name="Shape 90"/>
          <p:cNvSpPr/>
          <p:nvPr/>
        </p:nvSpPr>
        <p:spPr>
          <a:xfrm>
            <a:off x="6757416" y="4251960"/>
            <a:ext cx="85039" cy="0"/>
          </a:xfrm>
          <a:prstGeom prst="line">
            <a:avLst/>
          </a:prstGeom>
          <a:noFill/>
          <a:ln w="19050">
            <a:solidFill>
              <a:srgbClr val="F4A72B"/>
            </a:solidFill>
            <a:prstDash val="solid"/>
            <a:headEnd type="triangle"/>
            <a:tailEnd type="triangle"/>
          </a:ln>
        </p:spPr>
      </p:sp>
      <p:sp>
        <p:nvSpPr>
          <p:cNvPr id="94" name="Shape 91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95" name="Text 92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一區故障　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健康檢查失敗 → Route 53 自動剔除故障區、流量全導健康區；DynamoDB Global Tables 已雙向同步、S3 CRR 已備份 → RPO≈0、資料不丟、對外服務不中斷。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ocean-dee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5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7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五案比較 — 現行方案 A 為導入基準線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方案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運算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入口 / URL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閒置成本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維運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冷啟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落地可行性</a:t>
                      </a:r>
                      <a:endParaRPr lang="en-US" sz="11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 現行 ★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ECS Fargate 容器常駐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ALB 靜態 URL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低（小時費）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中（VPC/IAM）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無冷啟（常駐）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★ 最高 · 已上線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D7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B Serverless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Lambda 按呼叫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API Gateway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極低（近零）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中（元件多）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冷（Java Lambda）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C App Runner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全託管容器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Runner HTTPS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低-中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最低（免 ALB/VPC）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帳號受阻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D EC2+Docker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單台 EC2 常駐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Elastic IP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最低（單台）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高（自管/單點）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無冷啟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 · 保底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E 資料管線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Fargate + Glue/Athena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App / QuickSight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中高（掃描+授權）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高（多層）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7D6E4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—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Hiragino Sans" pitchFamily="34" charset="0"/>
                          <a:ea typeface="Hiragino Sans" pitchFamily="34" charset="-122"/>
                          <a:cs typeface="Hiragino Sans" pitchFamily="34" charset="-120"/>
                        </a:rPr>
                        <a:t>低 · 藍圖價值高</a:t>
                      </a:r>
                      <a:endParaRPr lang="en-US" sz="1050" dirty="0">
                        <a:latin typeface="Hiragino Sans" charset="0"/>
                        <a:ea typeface="Hiragino Sans" charset="0"/>
                        <a:cs typeface="Hiragino Sans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4D7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85C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" name="Text 10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6" name="Text 12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8" name="Text 14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640080" y="54864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960120" y="5486400"/>
            <a:ext cx="103171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為主線（已上線、導入風險最低）；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為資料驅動與全艦隊營運的演進方向。C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6002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ROADMAP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 15 艘 demo 到全艦隊即時營運平台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8FA8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26782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5" name="Text 12"/>
          <p:cNvSpPr/>
          <p:nvPr/>
        </p:nvSpPr>
        <p:spPr>
          <a:xfrm>
            <a:off x="1226782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8" name="Shape 15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046106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23" name="Text 20"/>
          <p:cNvSpPr/>
          <p:nvPr/>
        </p:nvSpPr>
        <p:spPr>
          <a:xfrm>
            <a:off x="4046106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近期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459404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6" name="Shape 23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4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3642284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2F6E9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65430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F6E9E"/>
          </a:solidFill>
          <a:ln/>
        </p:spPr>
      </p:sp>
      <p:sp>
        <p:nvSpPr>
          <p:cNvPr id="31" name="Text 28"/>
          <p:cNvSpPr/>
          <p:nvPr/>
        </p:nvSpPr>
        <p:spPr>
          <a:xfrm>
            <a:off x="6865430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中期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278728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F6E9E"/>
          </a:solidFill>
          <a:ln/>
        </p:spPr>
      </p:sp>
      <p:sp>
        <p:nvSpPr>
          <p:cNvPr id="34" name="Shape 31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2F6E9E"/>
          </a:solidFill>
          <a:ln/>
        </p:spPr>
      </p:sp>
      <p:sp>
        <p:nvSpPr>
          <p:cNvPr id="35" name="Text 32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61608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684753" y="1463040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9" name="Text 36"/>
          <p:cNvSpPr/>
          <p:nvPr/>
        </p:nvSpPr>
        <p:spPr>
          <a:xfrm>
            <a:off x="9684753" y="14630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願景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9098051" y="2377440"/>
            <a:ext cx="2453564" cy="2240280"/>
          </a:xfrm>
          <a:prstGeom prst="roundRect">
            <a:avLst>
              <a:gd name="adj" fmla="val 3673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42" name="Shape 39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43" name="Text 40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9280931" y="2999232"/>
            <a:ext cx="20878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40080" y="5715000"/>
            <a:ext cx="10911535" cy="685800"/>
          </a:xfrm>
          <a:prstGeom prst="roundRect">
            <a:avLst>
              <a:gd name="adj" fmla="val 10667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14400" y="571500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decision-lights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4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決策級聯：正常 → 注意 → 行動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640080" y="1463040"/>
            <a:ext cx="10911535" cy="502920"/>
          </a:xfrm>
          <a:prstGeom prst="roundRect">
            <a:avLst>
              <a:gd name="adj" fmla="val 12727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1463040"/>
            <a:ext cx="105091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6" name="Shape 13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正常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DCEFE9"/>
          </a:solidFill>
          <a:ln/>
        </p:spPr>
      </p:sp>
      <p:sp>
        <p:nvSpPr>
          <p:cNvPr id="23" name="Text 20"/>
          <p:cNvSpPr/>
          <p:nvPr/>
        </p:nvSpPr>
        <p:spPr>
          <a:xfrm>
            <a:off x="932688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多數船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7" name="Shape 24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8" name="Text 25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注意</a:t>
            </a:r>
            <a:endParaRPr lang="en-US" sz="1900" dirty="0"/>
          </a:p>
        </p:txBody>
      </p:sp>
      <p:sp>
        <p:nvSpPr>
          <p:cNvPr id="29" name="Text 26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4612538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BE7C2"/>
          </a:solidFill>
          <a:ln/>
        </p:spPr>
      </p:sp>
      <p:sp>
        <p:nvSpPr>
          <p:cNvPr id="34" name="Text 31"/>
          <p:cNvSpPr/>
          <p:nvPr/>
        </p:nvSpPr>
        <p:spPr>
          <a:xfrm>
            <a:off x="4722266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· 8.9%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8" name="Shape 35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9" name="Text 36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行動</a:t>
            </a:r>
            <a:endParaRPr lang="en-US" sz="1900" dirty="0"/>
          </a:p>
        </p:txBody>
      </p:sp>
      <p:sp>
        <p:nvSpPr>
          <p:cNvPr id="40" name="Text 37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條件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8402117" y="4828032"/>
            <a:ext cx="2966618" cy="493776"/>
          </a:xfrm>
          <a:prstGeom prst="roundRect">
            <a:avLst>
              <a:gd name="adj" fmla="val 11111"/>
            </a:avLst>
          </a:prstGeom>
          <a:solidFill>
            <a:srgbClr val="F7DAD1"/>
          </a:solidFill>
          <a:ln/>
        </p:spPr>
      </p:sp>
      <p:sp>
        <p:nvSpPr>
          <p:cNvPr id="45" name="Text 42"/>
          <p:cNvSpPr/>
          <p:nvPr/>
        </p:nvSpPr>
        <p:spPr>
          <a:xfrm>
            <a:off x="8511845" y="4828032"/>
            <a:ext cx="278373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例　</a:t>
            </a:r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 · 21.8%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22960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4612538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8402117" y="5358384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9" name="Shape 46"/>
          <p:cNvSpPr/>
          <p:nvPr/>
        </p:nvSpPr>
        <p:spPr>
          <a:xfrm>
            <a:off x="640080" y="580644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>
              <a:alpha val="96000"/>
            </a:srgbClr>
          </a:solidFill>
          <a:ln w="12700">
            <a:solidFill>
              <a:srgbClr val="1B4D74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96112" y="580644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port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6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0A2540">
              <a:alpha val="82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9" name="Text 6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/  18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502920"/>
            <a:ext cx="6522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786384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現場導覽：一個穩定 URL，三個入口</a:t>
            </a:r>
            <a:endParaRPr lang="en-US" sz="3600" dirty="0"/>
          </a:p>
        </p:txBody>
      </p:sp>
      <p:sp>
        <p:nvSpPr>
          <p:cNvPr id="15" name="Shape 12"/>
          <p:cNvSpPr/>
          <p:nvPr/>
        </p:nvSpPr>
        <p:spPr>
          <a:xfrm>
            <a:off x="640080" y="1463040"/>
            <a:ext cx="10911535" cy="457200"/>
          </a:xfrm>
          <a:prstGeom prst="roundRect">
            <a:avLst>
              <a:gd name="adj" fmla="val 14000"/>
            </a:avLst>
          </a:prstGeom>
          <a:solidFill>
            <a:srgbClr val="0A2540">
              <a:alpha val="86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841248" y="1463040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2" name="Text 19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9" name="Text 26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>
              <a:alpha val="94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2F6E9E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5" name="Shape 32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6" name="Text 33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40" name="Text 37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fengchihsheng/Documents/AI_work/fleetmind-yang-ming-hackathon/apps/api/src/main/resources/static/img/horizon-journe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>
              <a:alpha val="64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0A2540">
              <a:alpha val="86000"/>
            </a:srgbClr>
          </a:solidFill>
          <a:ln/>
        </p:spPr>
      </p:sp>
      <p:sp>
        <p:nvSpPr>
          <p:cNvPr id="5" name="Shape 2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5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11" name="Shape 8"/>
          <p:cNvSpPr/>
          <p:nvPr/>
        </p:nvSpPr>
        <p:spPr>
          <a:xfrm>
            <a:off x="457200" y="1097280"/>
            <a:ext cx="8138160" cy="3429000"/>
          </a:xfrm>
          <a:prstGeom prst="roundRect">
            <a:avLst>
              <a:gd name="adj" fmla="val 3200"/>
            </a:avLst>
          </a:prstGeom>
          <a:solidFill>
            <a:srgbClr val="0A2540">
              <a:alpha val="82000"/>
            </a:srgbClr>
          </a:solidFill>
          <a:ln/>
          <a:effectLst>
            <a:outerShdw sx="100000" sy="100000" kx="0" ky="0" algn="bl" rotWithShape="0" blurRad="177800" dist="50800" dir="5400000">
              <a:srgbClr val="04101B">
                <a:alpha val="5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0080" y="137160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640080" y="182880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40080" y="356616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以已上線的 Fargate + ALB 為基準線穩定營運，用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>
              <a:alpha val="96000"/>
            </a:srgbClr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4101B">
                <a:alpha val="5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4008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7D6E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640080" y="6080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2026-07-15T15:41:12Z</dcterms:created>
  <dcterms:modified xsi:type="dcterms:W3CDTF">2026-07-15T15:41:12Z</dcterms:modified>
</cp:coreProperties>
</file>