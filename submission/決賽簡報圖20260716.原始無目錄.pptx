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4" r:id="rId3"/>
    <p:sldId id="275" r:id="rId4"/>
    <p:sldId id="276" r:id="rId5"/>
    <p:sldId id="277" r:id="rId6"/>
    <p:sldId id="278" r:id="rId7"/>
    <p:sldId id="284" r:id="rId8"/>
    <p:sldId id="279" r:id="rId9"/>
    <p:sldId id="280" r:id="rId10"/>
    <p:sldId id="281" r:id="rId11"/>
    <p:sldId id="264" r:id="rId12"/>
    <p:sldId id="266" r:id="rId13"/>
    <p:sldId id="283" r:id="rId14"/>
    <p:sldId id="257" r:id="rId15"/>
    <p:sldId id="258" r:id="rId16"/>
    <p:sldId id="259" r:id="rId17"/>
    <p:sldId id="260" r:id="rId18"/>
    <p:sldId id="272" r:id="rId19"/>
    <p:sldId id="273" r:id="rId20"/>
    <p:sldId id="261" r:id="rId21"/>
    <p:sldId id="262" r:id="rId22"/>
    <p:sldId id="263" r:id="rId23"/>
    <p:sldId id="28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22" autoAdjust="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92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開場
講：船舶推進效率隨時間衰退、油耗上升；養護能恢復，但「何時做」靠經驗。
FleetMind 把它變成可計算、可解釋、人可拍板的決策支援。
定位句（整場回扣兩次）：「數字來自計算，語言來自 AI，決策留給人。」
──────── 全場地圖（12 分鐘：8 報告 + 4 Q&amp;A） ────────
 P1  0:00 開場定位          P7  4:25 誠實：baseline 勝出
 P2  0:30 痛點 + 資料規模    P8  5:25 多耗油噸數（不談金額）
 P3  1:10 兩條主線          P9  6:20 限制 + 想要的資料
 P4  1:50 方法 k=FOC/STW³   P10 6:55 架構
 P5  2:35 ★ LIVE DEMO ←唯一離開投影片的一分鐘
 P6  3:35 UWI 誠信          P11 7:35 收尾 → Q&amp;A
 P12–P16 = Q&amp;A 備援頁，被問到才翻（見各頁備忘稿）
──────── 上台前 10 分鐘（缺一不可） ────────
1. 開四個分頁，全在 http://fleetmind-alb-330672315.us-east-1.elb.amazonaws.com
   ①/proposal.html（本簡報）②/dashboard.html（demo）③/deck.html（架構深水區）④/architecture.html
2. ★ 在 /dashboard.html 選 S11，按一次「生成 AI 決策簡報」，等它回來。
   這一發是冷的、要 13.5 秒；預熱後台上那發只要 8 秒。不預熱＝觀眾替你付這 13.5 秒，
   而前端 15 秒就放棄 → 簡報可能整個拿不到。
3. 確認 S11 = 21.8%、紅燈「已超門檻」。讀不到數字 → 走演練 B（見 P5 備忘稿）。
超時處置：講完 P8（5:25 那頁）若已過 6:30，直接跳 P11 收尾。寧可少講兩頁。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開場：FleetMind 用陽明 15 艘同型船 5 年正午報表，依 ISO 19030 (k=FOC/STW³) 偵測船體污損造成的 Speed Loss，做節能決策支援。最嚴重的 S11 有 21.8% Speed Loss（539 有效日）。這份簡報聚焦 AWS 架構：現行已在帳號 516665228894 / us-east-1 上線，並比較五種上雲方案的取捨。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4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這頁一次看懂：上方命題、中間現行五個核心服務、下方五種方案的定位。A 現行強化最穩、B Serverless 最雲原生、C App Runner 受帳號權限阻擋、D EC2 最省最保底、E 資料分析管線是企業級願景藍圖。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2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現行架構 Day1 已實測上線：Spring Boot 單服務同時服務 vanilla-JS 看板與 REST API，資料 build 時烤進映像，跑在 ECS Fargate(ARM64)，前置 ALB 給穩定 URL，Bedrock 出 AI 簡報並過 guardrail，SNS 發告警。選它的理由是導入風險最低、可交付性最高：單一部署單元、資料零外部相依，今天就已經穩定在跑。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15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前一頁是我們自己的畫法，這頁是 AWS 官方符號版：圖中每個資源組態與端點狀態，都在 2026-07-15 以 boto3 / curl 從帳號 516665228894、us-east-1 實際讀回，標「推導」「非讀回」者除外。路徑一條線看完：評審瀏覽器 → ALB fleetmind-alb（internet-facing、入站 tcp/80 來自 0.0.0.0/0、目標群組 fleetmind-tg → 172.31.65.255:8080、狀態 healthy）→ VPC vpc-0415efac81151722c 裡的 ECS Fargate task（叢集 fleetmind、服務 fleetmind-svc、任務定義 fleetmind-api:5、ARM64 / Linux、512 CPU / 1024 MiB、awsvpc、容器埠 8080、desiredCount 1）。task 往外接 Bedrock（us.anthropic.claude-haiku-4-5、Converse API，/ai-brief 過 AiBriefGuardrail.validate()）、SNS topic fleetmind-alerts、SES v2、CloudWatch Logs /fleetmind/api；映像從 ECR fleetmind-api 拉，real-metrics.json 在 build 時就烤進去。三件圖上直接標出來、不藏的事：① 請求路徑中沒有任何資料存放 —— S3 與 DynamoDB 都沒用到，Java 程式碼零參照；② SNS 目前 0 個訂閱，publish 會成功，但目前扇出到沒有任何人；③ 兩個子網都是公有、task 有公網 IP（assignPublicIp ENABLED，為了免 NAT gateway 也能拉 ECR），收口靠的是 security group fleetmind-sg 只放行來自 ALB SG 的 tcp/8080，不是靠 private subnet。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7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同一顆容器，把一次請求拆成三條路徑看，圖上只畫 2026-07-15 於帳號 516665228894 實際存在並經驗證的資源。(a) 讀取路徑：RealDataService 直接從映像內讀 real-metrics.json —— 無網路呼叫、無資料庫、無快取層，冷啟動當下就持有真實資料；/api/fleet/summary、/api/vessels/{id}/performance、/decision、/before-after、/underwater-events 全部由記憶體中的真實資料直接回應。資料規模是 15 艘船、2021–2025 noon reports，k = FOC / STW³（ISO 19030）。(b) AI 路徑：/api/vessels/{id}/ai-brief → Bedrock Converse → AiBriefGuardrail.validate() → 降級階梯：通過就回傳 AI 摘要並快取為 last-good；護欄驗證失敗改用快取的 last-good；連 last-good 都沒有時才走決定性 fallback。這條階梯就是「數字來自計算、語言來自 AI」的實作 —— AI 講錯話會被護欄擋下來，不會污染數字。(c) 告警路徑：門檻判定 S11 Speed Loss 21.8% 大於門檻 10%（門檻走 /api/config/threshold 可調）→ /api/alerts/notify，SNS 與 SES 同時送出。誠實補充圖上也寫了：SNS 目前訂閱數 0，publish 成功但不會送達任何人；今天真正把告警送到收件匣的，是 SES 這條路徑。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7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比較表沿六個維度（運算 / 入口 / 閒置成本 / 維運 / 冷啟 / 落地可行性）排列五案，highlight 現行方案 A。結論：A 為主線、D 為保底、B/E 為演進方向、C 受阻。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 是現行架構的正式化：把 demo 臨時做法收斂為 ECS Service 常駐 + 健檢自動重拉。它與已上線一致、可靠度最高，是導入風險最低的基準線。代價是非資料驅動、無 BI、架構保守，長期擴展要再往 B/E 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0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 最雲原生：拆成 API Gateway + Lambda + DynamoDB + S3 + EventBridge，天生資料驅動、零閒置成本，擴展性最強。但拆分工作量大、Java Lambda 冷啟風險、本機難重現，適合有工程餘裕、要一次把資料驅動做到位時。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3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 架構上最省心：同一顆映像交給 App Runner 全託管，免碰 ALB/VPC。但本 workshop 帳號實測 App Runner 被 AccessDenied，是決定性阻斷，故只能列為對照 / 賽後方案。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D 是保底路線：一台 EC2 + Docker + Elastic IP，最省最可控，且帳號 EC2 已實測可用，是 ALB/App Runner 都受阻時一定跑得起來的後手。代價是自管 OS、單點故障、HTTPS 要自己配。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06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資安採縱深防禦：① 邊緣 Shield 擋 DDoS + WAF 過濾 L7；② VPC 收斂 — ALB 是唯一對外入口，ECS task 的 SG 只放行 ALB SG 的 8080（實測：直打 task 公網 IP 已 timeout，走 ALB 仍 200）。誠實補充：兩個子網都是公有、task 仍有公網 IP（無 NAT 要拉 ECR），收口靠的是 SG 不是子網；③ 帳號級 GuardDuty 威脅偵測 + CloudTrail 稽核；④ 機密與加密 — Secrets Manager 託管憑證、KMS 金鑰加密、IAM 職責分離（execution role 拉 ECR/寫 log、task role 只有 Bedrock/SNS/SES；動作已收斂，SNS 綁單一 topic ARN，Bedrock 與 SES 仍為 Resource *）。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開場先講清楚：這一頁是設計，不是現況——全部還沒有蓋。實查帳號：Route 53 hosted zone 0、DynamoDB 0 張表、EventBridge 0 條規則、S3 0 個 bucket；而且本次 workshop 帳號連跨區都不允許，ap-northeast-1 的 ECS 與 ECR 直接回 AccessDenied，所以這條路在比賽帳號上走不了。/ 設計本身：不同國家船務端經 Route 53 地理/延遲路由就近接入，兩區域皆 active，各自 ALB→ECS + DynamoDB；Global Tables 雙向複製、S3 CRR 備份、EventBridge 跨區匯總告警 → SNS/SES；健康檢查失敗自動 failover，RPO≈0。/ 為什麼今天沒有它：現行把 real-metrics.json 烤進映像、請求路徑上沒有資料存放層，沒有東西可以跨區複製——多區域的前提是先把狀態外置到 DynamoDB。而且 3 天內無法演練 failover，未經演練的災備等於沒有。落地順序：狀態外置 → 單區多 AZ（ALB 已跨 1d/1f）→ 再談雙區。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[0:30–1:10] 痛點 + 資料規模
講：船殼與螺旋槳污損讓同樣航速要燒更多油。船東靠水下清潔（UWC）與拋光（PP）恢復效能，
但「何時做、值不值得」目前多憑經驗，缺乏可量化、可歸因、可回溯的依據。
四張卡不要逐一唸，只點兩個：
 · 「15 艘船、5 年、21,282 列日報 + 77 筆養護事件」→ 我們有本錢做量化，不是玩具資料。
 · 「Speed Loss 全隊 −12% ~ +22%」→ 這個跨度就是問題本身：有的剛養護、有的重度污損。
頁尾那句唸出來會加分：「資料由命題企業提供，僅存於競賽 AWS 帳號、不進版控、賽後刪除。」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左邊：油耗預測模型</a:t>
            </a:r>
          </a:p>
          <a:p>
            <a:r>
              <a:rPr lang="zh-TW" altLang="en-US" dirty="0"/>
              <a:t>目標是預測被隱藏的</a:t>
            </a:r>
            <a:r>
              <a:rPr lang="en-US" altLang="zh-TW" dirty="0"/>
              <a:t>102</a:t>
            </a:r>
            <a:r>
              <a:rPr lang="zh-TW" altLang="en-US" dirty="0"/>
              <a:t>格油耗數值。</a:t>
            </a:r>
          </a:p>
          <a:p>
            <a:r>
              <a:rPr lang="zh-TW" altLang="en-US" dirty="0"/>
              <a:t>除了預測缺失值，也進一步進行「反事實推論」。</a:t>
            </a:r>
          </a:p>
          <a:p>
            <a:r>
              <a:rPr lang="zh-TW" altLang="en-US" dirty="0"/>
              <a:t>反事實是什麼？</a:t>
            </a:r>
          </a:p>
          <a:p>
            <a:r>
              <a:rPr lang="zh-TW" altLang="en-US" dirty="0"/>
              <a:t>假設現在這艘船有污損。</a:t>
            </a:r>
          </a:p>
          <a:p>
            <a:r>
              <a:rPr lang="zh-TW" altLang="en-US" dirty="0"/>
              <a:t>模型先預測：</a:t>
            </a:r>
          </a:p>
          <a:p>
            <a:r>
              <a:rPr lang="zh-TW" altLang="en-US" dirty="0"/>
              <a:t>目前狀態一天會燒多少油？</a:t>
            </a:r>
          </a:p>
          <a:p>
            <a:r>
              <a:rPr lang="zh-TW" altLang="en-US" dirty="0"/>
              <a:t>再把污損時鐘歸零，模擬：</a:t>
            </a:r>
          </a:p>
          <a:p>
            <a:r>
              <a:rPr lang="zh-TW" altLang="en-US" dirty="0"/>
              <a:t>假設今天剛清洗完成，一天會燒多少油？</a:t>
            </a:r>
          </a:p>
          <a:p>
            <a:r>
              <a:rPr lang="zh-TW" altLang="en-US" dirty="0"/>
              <a:t>兩者相減：</a:t>
            </a:r>
          </a:p>
          <a:p>
            <a:r>
              <a:rPr lang="zh-TW" altLang="en-US" dirty="0"/>
              <a:t>就是目前因污損多燒的燃油量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[1:10–1:50] 兩條主線
講：兩個產出，一句話各帶過——
 · Speed Loss Dashboard → 讓衰退看得見（ISO 19030 框架、船殼 vs 螺旋槳歸因、事件比對）
 · 油耗預測模型 → 讓代價算得出（預測 102 格被遮蔽的全速油耗 + 反事實推論）
關鍵是下一句：「兩者共用同一套確定性計算。」
多耗油量估算、單服務架構、AI guardrail 都是從這個核心長出去的，不是三個獨立功能。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1</a:t>
            </a:r>
            <a:r>
              <a:rPr lang="zh-TW" altLang="en-US" dirty="0"/>
              <a:t>：載入與驗證</a:t>
            </a:r>
          </a:p>
          <a:p>
            <a:r>
              <a:rPr lang="zh-TW" altLang="en-US" dirty="0"/>
              <a:t>你們不直接把異常資料刪掉，而是：</a:t>
            </a:r>
          </a:p>
          <a:p>
            <a:endParaRPr lang="zh-TW" altLang="en-US" dirty="0"/>
          </a:p>
          <a:p>
            <a:r>
              <a:rPr lang="zh-TW" altLang="en-US" dirty="0"/>
              <a:t>* 做型別檢查</a:t>
            </a:r>
          </a:p>
          <a:p>
            <a:r>
              <a:rPr lang="zh-TW" altLang="en-US" dirty="0"/>
              <a:t>* 做合理範圍檢查</a:t>
            </a:r>
          </a:p>
          <a:p>
            <a:r>
              <a:rPr lang="zh-TW" altLang="en-US" dirty="0"/>
              <a:t>* 標記品質旗標</a:t>
            </a:r>
          </a:p>
          <a:p>
            <a:r>
              <a:rPr lang="zh-TW" altLang="en-US" dirty="0"/>
              <a:t>* 保留原始資料</a:t>
            </a:r>
          </a:p>
          <a:p>
            <a:endParaRPr lang="zh-TW" altLang="en-US" dirty="0"/>
          </a:p>
          <a:p>
            <a:r>
              <a:rPr lang="zh-TW" altLang="en-US" dirty="0"/>
              <a:t>這比直接刪資料更可追溯。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步驟</a:t>
            </a:r>
            <a:r>
              <a:rPr lang="en-US" altLang="zh-TW" dirty="0"/>
              <a:t>2</a:t>
            </a:r>
            <a:r>
              <a:rPr lang="zh-TW" altLang="en-US" dirty="0"/>
              <a:t>：養護事件與日報對齊</a:t>
            </a:r>
          </a:p>
          <a:p>
            <a:endParaRPr lang="zh-TW" altLang="en-US" dirty="0"/>
          </a:p>
          <a:p>
            <a:r>
              <a:rPr lang="en-US" altLang="zh-TW" dirty="0" err="1"/>
              <a:t>maintenance.event_day</a:t>
            </a:r>
            <a:r>
              <a:rPr lang="en-US" altLang="zh-TW" dirty="0"/>
              <a:t> </a:t>
            </a:r>
            <a:r>
              <a:rPr lang="zh-TW" altLang="en-US" dirty="0"/>
              <a:t>和日報時間軸一致，所以可以直接知道：</a:t>
            </a:r>
          </a:p>
          <a:p>
            <a:endParaRPr lang="zh-TW" altLang="en-US" dirty="0"/>
          </a:p>
          <a:p>
            <a:r>
              <a:rPr lang="zh-TW" altLang="en-US" dirty="0"/>
              <a:t>* 清洗前的效能</a:t>
            </a:r>
          </a:p>
          <a:p>
            <a:r>
              <a:rPr lang="zh-TW" altLang="en-US" dirty="0"/>
              <a:t>* 清洗當天</a:t>
            </a:r>
          </a:p>
          <a:p>
            <a:r>
              <a:rPr lang="zh-TW" altLang="en-US" dirty="0"/>
              <a:t>* 清洗後的效能</a:t>
            </a:r>
          </a:p>
          <a:p>
            <a:r>
              <a:rPr lang="zh-TW" altLang="en-US" dirty="0"/>
              <a:t>* 效果維持多久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步驟</a:t>
            </a:r>
            <a:r>
              <a:rPr lang="en-US" altLang="zh-TW" dirty="0"/>
              <a:t>3</a:t>
            </a:r>
            <a:r>
              <a:rPr lang="zh-TW" altLang="en-US" dirty="0"/>
              <a:t>：效能指標 </a:t>
            </a:r>
            <a:r>
              <a:rPr lang="en-US" altLang="zh-TW" dirty="0"/>
              <a:t>k</a:t>
            </a:r>
          </a:p>
          <a:p>
            <a:endParaRPr lang="en-US" altLang="zh-TW" dirty="0"/>
          </a:p>
          <a:p>
            <a:r>
              <a:rPr lang="zh-TW" altLang="en-US" dirty="0"/>
              <a:t>核心公式是：</a:t>
            </a:r>
          </a:p>
          <a:p>
            <a:endParaRPr lang="zh-TW" altLang="en-US" dirty="0"/>
          </a:p>
          <a:p>
            <a:r>
              <a:rPr lang="en-US" altLang="zh-TW" dirty="0"/>
              <a:t>k = Daily FOC ÷ STW³</a:t>
            </a:r>
          </a:p>
          <a:p>
            <a:endParaRPr lang="en-US" altLang="zh-TW" dirty="0"/>
          </a:p>
          <a:p>
            <a:r>
              <a:rPr lang="zh-TW" altLang="en-US" dirty="0"/>
              <a:t>其中：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FOC</a:t>
            </a:r>
            <a:r>
              <a:rPr lang="zh-TW" altLang="en-US" dirty="0"/>
              <a:t>：</a:t>
            </a:r>
            <a:r>
              <a:rPr lang="en-US" altLang="zh-TW" dirty="0"/>
              <a:t>Fuel Oil Consumption</a:t>
            </a:r>
            <a:r>
              <a:rPr lang="zh-TW" altLang="en-US" dirty="0"/>
              <a:t>，燃油消耗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</a:t>
            </a:r>
            <a:r>
              <a:rPr lang="zh-TW" altLang="en-US" dirty="0"/>
              <a:t>：</a:t>
            </a:r>
            <a:r>
              <a:rPr lang="en-US" altLang="zh-TW" dirty="0"/>
              <a:t>Speed Through Water</a:t>
            </a:r>
            <a:r>
              <a:rPr lang="zh-TW" altLang="en-US" dirty="0"/>
              <a:t>，對水速度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STW³</a:t>
            </a:r>
            <a:r>
              <a:rPr lang="zh-TW" altLang="en-US" dirty="0"/>
              <a:t>：對水速度的三次方</a:t>
            </a:r>
          </a:p>
          <a:p>
            <a:endParaRPr lang="zh-TW" altLang="en-US" dirty="0"/>
          </a:p>
          <a:p>
            <a:r>
              <a:rPr lang="zh-TW" altLang="en-US" dirty="0"/>
              <a:t>為什麼速度要三次方？</a:t>
            </a:r>
          </a:p>
          <a:p>
            <a:endParaRPr lang="zh-TW" altLang="en-US" dirty="0"/>
          </a:p>
          <a:p>
            <a:r>
              <a:rPr lang="zh-TW" altLang="en-US" dirty="0"/>
              <a:t>船舶阻力及所需推進功率大致會隨速度的三次方增加。</a:t>
            </a:r>
          </a:p>
          <a:p>
            <a:endParaRPr lang="zh-TW" altLang="en-US" dirty="0"/>
          </a:p>
          <a:p>
            <a:r>
              <a:rPr lang="zh-TW" altLang="en-US" dirty="0"/>
              <a:t>例如航速稍微提高，油耗不只是等比例提高，而可能大幅增加。</a:t>
            </a:r>
          </a:p>
          <a:p>
            <a:endParaRPr lang="zh-TW" altLang="en-US" dirty="0"/>
          </a:p>
          <a:p>
            <a:r>
              <a:rPr lang="zh-TW" altLang="en-US" dirty="0"/>
              <a:t>因此不能直接比較兩天的原始油耗：</a:t>
            </a:r>
          </a:p>
          <a:p>
            <a:endParaRPr lang="zh-TW" altLang="en-US" dirty="0"/>
          </a:p>
          <a:p>
            <a:r>
              <a:rPr lang="zh-TW" altLang="en-US" dirty="0"/>
              <a:t>* 今天跑</a:t>
            </a:r>
            <a:r>
              <a:rPr lang="en-US" altLang="zh-TW" dirty="0"/>
              <a:t>16</a:t>
            </a:r>
            <a:r>
              <a:rPr lang="zh-TW" altLang="en-US" dirty="0"/>
              <a:t>節</a:t>
            </a:r>
          </a:p>
          <a:p>
            <a:r>
              <a:rPr lang="zh-TW" altLang="en-US" dirty="0"/>
              <a:t>* 明天跑</a:t>
            </a:r>
            <a:r>
              <a:rPr lang="en-US" altLang="zh-TW" dirty="0"/>
              <a:t>12</a:t>
            </a:r>
            <a:r>
              <a:rPr lang="zh-TW" altLang="en-US" dirty="0"/>
              <a:t>節</a:t>
            </a:r>
          </a:p>
          <a:p>
            <a:endParaRPr lang="zh-TW" altLang="en-US" dirty="0"/>
          </a:p>
          <a:p>
            <a:r>
              <a:rPr lang="zh-TW" altLang="en-US" dirty="0"/>
              <a:t>即使明天油耗比較少，也不代表明天效率比較好。</a:t>
            </a:r>
          </a:p>
          <a:p>
            <a:endParaRPr lang="zh-TW" altLang="en-US" dirty="0"/>
          </a:p>
          <a:p>
            <a:r>
              <a:rPr lang="zh-TW" altLang="en-US" dirty="0"/>
              <a:t>用 </a:t>
            </a:r>
            <a:r>
              <a:rPr lang="en-US" altLang="zh-TW" dirty="0"/>
              <a:t>FOC </a:t>
            </a:r>
            <a:r>
              <a:rPr lang="zh-TW" altLang="en-US" dirty="0"/>
              <a:t>除以 </a:t>
            </a:r>
            <a:r>
              <a:rPr lang="en-US" altLang="zh-TW" dirty="0"/>
              <a:t>STW³</a:t>
            </a:r>
            <a:r>
              <a:rPr lang="zh-TW" altLang="en-US" dirty="0"/>
              <a:t>，是把速度影響正規化。</a:t>
            </a:r>
          </a:p>
          <a:p>
            <a:endParaRPr lang="zh-TW" altLang="en-US" dirty="0"/>
          </a:p>
          <a:p>
            <a:r>
              <a:rPr lang="en-US" altLang="zh-TW" dirty="0"/>
              <a:t>k </a:t>
            </a:r>
            <a:r>
              <a:rPr lang="zh-TW" altLang="en-US" dirty="0"/>
              <a:t>越高代表什麼？</a:t>
            </a:r>
          </a:p>
          <a:p>
            <a:endParaRPr lang="zh-TW" altLang="en-US" dirty="0"/>
          </a:p>
          <a:p>
            <a:r>
              <a:rPr lang="zh-TW" altLang="en-US" dirty="0"/>
              <a:t>同樣航速下需要更多油：</a:t>
            </a:r>
          </a:p>
          <a:p>
            <a:endParaRPr lang="zh-TW" altLang="en-US" dirty="0"/>
          </a:p>
          <a:p>
            <a:r>
              <a:rPr lang="en-US" altLang="zh-TW" dirty="0"/>
              <a:t>k</a:t>
            </a:r>
            <a:r>
              <a:rPr lang="zh-TW" altLang="en-US" dirty="0"/>
              <a:t>越高，效能通常越差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為什麼用 </a:t>
            </a:r>
            <a:r>
              <a:rPr lang="en-US" altLang="zh-TW" dirty="0"/>
              <a:t>STW</a:t>
            </a:r>
            <a:r>
              <a:rPr lang="zh-TW" altLang="en-US" dirty="0"/>
              <a:t>，不用 </a:t>
            </a:r>
            <a:r>
              <a:rPr lang="en-US" altLang="zh-TW" dirty="0"/>
              <a:t>SOG</a:t>
            </a:r>
            <a:r>
              <a:rPr lang="zh-TW" altLang="en-US" dirty="0"/>
              <a:t>？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</a:t>
            </a:r>
            <a:r>
              <a:rPr lang="zh-TW" altLang="en-US" dirty="0"/>
              <a:t>：船相對海水的速度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SOG</a:t>
            </a:r>
            <a:r>
              <a:rPr lang="zh-TW" altLang="en-US" dirty="0"/>
              <a:t>：船相對地面的速度</a:t>
            </a:r>
          </a:p>
          <a:p>
            <a:r>
              <a:rPr lang="zh-TW" altLang="en-US" dirty="0"/>
              <a:t>海流會影響 </a:t>
            </a:r>
            <a:r>
              <a:rPr lang="en-US" altLang="zh-TW" dirty="0"/>
              <a:t>SOG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例如順流時，船的 </a:t>
            </a:r>
            <a:r>
              <a:rPr lang="en-US" altLang="zh-TW" dirty="0"/>
              <a:t>SOG </a:t>
            </a:r>
            <a:r>
              <a:rPr lang="zh-TW" altLang="en-US" dirty="0"/>
              <a:t>變快，但主機不一定輸出更多功率。</a:t>
            </a:r>
          </a:p>
          <a:p>
            <a:r>
              <a:rPr lang="zh-TW" altLang="en-US" dirty="0"/>
              <a:t>因此分析推進效率時，</a:t>
            </a:r>
            <a:r>
              <a:rPr lang="en-US" altLang="zh-TW" dirty="0"/>
              <a:t>STW</a:t>
            </a:r>
            <a:r>
              <a:rPr lang="zh-TW" altLang="en-US" dirty="0"/>
              <a:t>比</a:t>
            </a:r>
            <a:r>
              <a:rPr lang="en-US" altLang="zh-TW" dirty="0"/>
              <a:t>SOG</a:t>
            </a:r>
            <a:r>
              <a:rPr lang="zh-TW" altLang="en-US" dirty="0"/>
              <a:t>合理。</a:t>
            </a:r>
          </a:p>
          <a:p>
            <a:r>
              <a:rPr lang="zh-TW" altLang="en-US" dirty="0"/>
              <a:t>步驟</a:t>
            </a:r>
            <a:r>
              <a:rPr lang="en-US" altLang="zh-TW" dirty="0"/>
              <a:t>4</a:t>
            </a:r>
            <a:r>
              <a:rPr lang="zh-TW" altLang="en-US" dirty="0"/>
              <a:t>：同速帶比較</a:t>
            </a:r>
          </a:p>
          <a:p>
            <a:r>
              <a:rPr lang="zh-TW" altLang="en-US" dirty="0"/>
              <a:t>只拿速度相近的資料比較，範圍是 </a:t>
            </a:r>
            <a:r>
              <a:rPr lang="en-US" altLang="zh-TW" dirty="0"/>
              <a:t>±1 knot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例如基準是</a:t>
            </a:r>
            <a:r>
              <a:rPr lang="en-US" altLang="zh-TW" dirty="0"/>
              <a:t>14</a:t>
            </a:r>
            <a:r>
              <a:rPr lang="zh-TW" altLang="en-US" dirty="0"/>
              <a:t>節，就比較</a:t>
            </a:r>
            <a:r>
              <a:rPr lang="en-US" altLang="zh-TW" dirty="0"/>
              <a:t>13</a:t>
            </a:r>
            <a:r>
              <a:rPr lang="zh-TW" altLang="en-US" dirty="0"/>
              <a:t>到</a:t>
            </a:r>
            <a:r>
              <a:rPr lang="en-US" altLang="zh-TW" dirty="0"/>
              <a:t>15</a:t>
            </a:r>
            <a:r>
              <a:rPr lang="zh-TW" altLang="en-US" dirty="0"/>
              <a:t>節的資料。</a:t>
            </a:r>
          </a:p>
          <a:p>
            <a:r>
              <a:rPr lang="zh-TW" altLang="en-US" dirty="0"/>
              <a:t>目的是降低不同營運航速造成的誤差。</a:t>
            </a:r>
            <a:endParaRPr lang="en-US" altLang="zh-TW" dirty="0"/>
          </a:p>
          <a:p>
            <a:r>
              <a:rPr lang="en-US" altLang="zh-TW" dirty="0"/>
              <a:t>Theil–Sen </a:t>
            </a:r>
            <a:r>
              <a:rPr lang="zh-TW" altLang="en-US" dirty="0"/>
              <a:t>是什麼？</a:t>
            </a:r>
          </a:p>
          <a:p>
            <a:endParaRPr lang="zh-TW" altLang="en-US" dirty="0"/>
          </a:p>
          <a:p>
            <a:r>
              <a:rPr lang="zh-TW" altLang="en-US" dirty="0"/>
              <a:t>一種穩健趨勢估計方法。</a:t>
            </a:r>
          </a:p>
          <a:p>
            <a:endParaRPr lang="zh-TW" altLang="en-US" dirty="0"/>
          </a:p>
          <a:p>
            <a:r>
              <a:rPr lang="zh-TW" altLang="en-US" dirty="0"/>
              <a:t>它不像一般線性回歸那麼容易被極端值拉走。</a:t>
            </a:r>
          </a:p>
          <a:p>
            <a:endParaRPr lang="zh-TW" altLang="en-US" dirty="0"/>
          </a:p>
          <a:p>
            <a:r>
              <a:rPr lang="zh-TW" altLang="en-US" dirty="0"/>
              <a:t>船舶日報可能受到：</a:t>
            </a:r>
          </a:p>
          <a:p>
            <a:endParaRPr lang="zh-TW" altLang="en-US" dirty="0"/>
          </a:p>
          <a:p>
            <a:r>
              <a:rPr lang="zh-TW" altLang="en-US" dirty="0"/>
              <a:t>* 暴風</a:t>
            </a:r>
          </a:p>
          <a:p>
            <a:r>
              <a:rPr lang="zh-TW" altLang="en-US" dirty="0"/>
              <a:t>* 異常油耗紀錄</a:t>
            </a:r>
          </a:p>
          <a:p>
            <a:r>
              <a:rPr lang="zh-TW" altLang="en-US" dirty="0"/>
              <a:t>* 短期機械狀態</a:t>
            </a:r>
          </a:p>
          <a:p>
            <a:r>
              <a:rPr lang="zh-TW" altLang="en-US" dirty="0"/>
              <a:t>* 感測誤差</a:t>
            </a:r>
          </a:p>
          <a:p>
            <a:endParaRPr lang="zh-TW" altLang="en-US" dirty="0"/>
          </a:p>
          <a:p>
            <a:r>
              <a:rPr lang="en-US" altLang="zh-TW" dirty="0"/>
              <a:t>Theil–Sen </a:t>
            </a:r>
            <a:r>
              <a:rPr lang="zh-TW" altLang="en-US" dirty="0"/>
              <a:t>可以更穩健地找出長期效能衰退趨勢。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船隊如何分？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S1–S12</a:t>
            </a:r>
            <a:r>
              <a:rPr lang="zh-TW" altLang="en-US" dirty="0"/>
              <a:t>：訓練船，油耗資料可見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S21–S23</a:t>
            </a:r>
            <a:r>
              <a:rPr lang="zh-TW" altLang="en-US" dirty="0"/>
              <a:t>：預測船，養護後部分油耗被遮蔽</a:t>
            </a:r>
          </a:p>
          <a:p>
            <a:endParaRPr lang="zh-TW" altLang="en-US" dirty="0"/>
          </a:p>
          <a:p>
            <a:r>
              <a:rPr lang="zh-TW" altLang="en-US" dirty="0"/>
              <a:t>船型分成：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W1</a:t>
            </a:r>
            <a:r>
              <a:rPr lang="zh-TW" altLang="en-US" dirty="0"/>
              <a:t>：</a:t>
            </a:r>
            <a:r>
              <a:rPr lang="en-US" altLang="zh-TW" dirty="0"/>
              <a:t>S1–S8</a:t>
            </a:r>
            <a:r>
              <a:rPr lang="zh-TW" altLang="en-US" dirty="0"/>
              <a:t>、</a:t>
            </a:r>
            <a:r>
              <a:rPr lang="en-US" altLang="zh-TW" dirty="0"/>
              <a:t>S21</a:t>
            </a:r>
          </a:p>
          <a:p>
            <a:r>
              <a:rPr lang="en-US" altLang="zh-TW" dirty="0"/>
              <a:t>* W2</a:t>
            </a:r>
            <a:r>
              <a:rPr lang="zh-TW" altLang="en-US" dirty="0"/>
              <a:t>：</a:t>
            </a:r>
            <a:r>
              <a:rPr lang="en-US" altLang="zh-TW" dirty="0"/>
              <a:t>S9–S12</a:t>
            </a:r>
            <a:r>
              <a:rPr lang="zh-TW" altLang="en-US" dirty="0"/>
              <a:t>、</a:t>
            </a:r>
            <a:r>
              <a:rPr lang="en-US" altLang="zh-TW" dirty="0"/>
              <a:t>S22–S23</a:t>
            </a:r>
          </a:p>
          <a:p>
            <a:endParaRPr lang="en-US" altLang="zh-TW" dirty="0"/>
          </a:p>
          <a:p>
            <a:r>
              <a:rPr lang="zh-TW" altLang="en-US" dirty="0"/>
              <a:t>因此可以從同型姊妹船的歷史學習，預測資料被遮蔽的船，這就是簡報中的「跨姊妹船遷移學習」。</a:t>
            </a:r>
          </a:p>
          <a:p>
            <a:endParaRPr lang="zh-TW" altLang="en-US" dirty="0"/>
          </a:p>
          <a:p>
            <a:r>
              <a:rPr lang="zh-TW" altLang="en-US" dirty="0"/>
              <a:t>台上最重要一句</a:t>
            </a:r>
          </a:p>
          <a:p>
            <a:endParaRPr lang="zh-TW" altLang="en-US" dirty="0"/>
          </a:p>
          <a:p>
            <a:r>
              <a:rPr lang="zh-TW" altLang="en-US" dirty="0"/>
              <a:t>我們從不直接比較原始油耗，也不直接比較原始航速。我們先用 </a:t>
            </a:r>
            <a:r>
              <a:rPr lang="en-US" altLang="zh-TW" dirty="0"/>
              <a:t>k </a:t>
            </a:r>
            <a:r>
              <a:rPr lang="zh-TW" altLang="en-US" dirty="0"/>
              <a:t>將速度影響正規化，再於同速帶內比較效能趨勢。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9A6E-7F81-2F84-D797-A4AF62F0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E103A-3793-3D85-DEFE-CABAA3D4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AF0BD-4503-E0DF-06B0-A46D33DEE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① 排名表點 S11
   「15 艘裡最嚴重：速度損失 21.8%、信心 HIGH、已超 10% 門檻、692 天沒清洗。」
   失敗：表沒出來 → 演練 B。
② 看趨勢 ＋ 事件標記線
   「五年慢慢爬上來，撞到門檻。這條垂直線是水下事件——清了，但 k 沒有降回去，
    恢復率 −4.62%。」
   「這不是我們的圖有問題，這是發現。官方也明示：純檢查（UWI）本就不該帶來改善。」
   失敗：圖沒出來 → 講這段話，跳③。
③ 按「生成 AI 決策簡報」← 最有價值也最脆弱，它真的在打 Bedrock
   按下去之後立刻接著講：「數字不是 AI 掰的——每個數字都帶編號上標引用，
    點下去會跳回產生它的 API。」講完它剛好回來。
   ★ 不要盯著轉圈等。實測：預熱過 8 秒／沒預熱 13.5 秒，兩種都會回來。
   ★ 轉圈不是故障訊號，畫面自己跳出「AI 簡報暫不可用」才是。
     最大的風險是你以為壞了、手癢去按「離線備援」，親手把最好的一刻換成英文版。
回扣：「數字全部來自 core-calc 的確定性計算；AI 只負責把它說成人話。」
──────── 演練 A：真的回不來（畫面出現錯誤訊息） ────────
不要重按。講：「這裡有降級階梯：Bedrock → 護欄驗證 → 快取 last-good → 決定性 fallback。
走到哪一階都會有輸出，因為這條路徑設計成不能開天窗。」然後按「離線備援」。
這不是掩飾，這就是設計——講出來反而加分。
──────── 演練 B：全站掛掉／會場網路斷 ────────
不要 debug。切回 /proposal.html，投影片是靜態 JPG。
講：「Live demo 走不了，我用投影片講完，結束後歡迎到攤位實機看。」
（前一晚先把 PPTX 下載到本機，斷網也能放。）
對照船（被問到才講）：S23 8.9%、船殼歸因 96%、信心 HIGH ——「該排清洗」的乾淨案例。
S11 是極端案例（692 天沒清）。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40F77-31C8-487A-EA37-863B98A3B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60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AB90-9E25-413C-55B2-A8002E43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2888C-986C-7A16-CB25-149734861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4FE39-9C74-4157-DA28-C667064C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 互動趨勢圖</a:t>
            </a:r>
          </a:p>
          <a:p>
            <a:endParaRPr lang="zh-TW" altLang="en-US" dirty="0"/>
          </a:p>
          <a:p>
            <a:r>
              <a:rPr lang="zh-TW" altLang="en-US" dirty="0"/>
              <a:t>點選船舶後可以看到：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Speed Loss </a:t>
            </a:r>
            <a:r>
              <a:rPr lang="zh-TW" altLang="en-US" dirty="0"/>
              <a:t>隨時間變化</a:t>
            </a:r>
          </a:p>
          <a:p>
            <a:r>
              <a:rPr lang="zh-TW" altLang="en-US" dirty="0"/>
              <a:t>* 養護事件的位置</a:t>
            </a:r>
          </a:p>
          <a:p>
            <a:r>
              <a:rPr lang="zh-TW" altLang="en-US" dirty="0"/>
              <a:t>* 效能是否跨越門檻</a:t>
            </a:r>
          </a:p>
          <a:p>
            <a:r>
              <a:rPr lang="zh-TW" altLang="en-US" dirty="0"/>
              <a:t>* 資料缺口</a:t>
            </a:r>
          </a:p>
          <a:p>
            <a:r>
              <a:rPr lang="zh-TW" altLang="en-US" dirty="0"/>
              <a:t>* 養護前後差異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歸因卡</a:t>
            </a:r>
          </a:p>
          <a:p>
            <a:endParaRPr lang="zh-TW" altLang="en-US" dirty="0"/>
          </a:p>
          <a:p>
            <a:r>
              <a:rPr lang="zh-TW" altLang="en-US" dirty="0"/>
              <a:t>顯示：</a:t>
            </a:r>
          </a:p>
          <a:p>
            <a:endParaRPr lang="zh-TW" altLang="en-US" dirty="0"/>
          </a:p>
          <a:p>
            <a:r>
              <a:rPr lang="zh-TW" altLang="en-US" dirty="0"/>
              <a:t>* 船殼污損占比</a:t>
            </a:r>
          </a:p>
          <a:p>
            <a:r>
              <a:rPr lang="zh-TW" altLang="en-US" dirty="0"/>
              <a:t>* 螺旋槳污損占比</a:t>
            </a:r>
          </a:p>
          <a:p>
            <a:r>
              <a:rPr lang="zh-TW" altLang="en-US" dirty="0"/>
              <a:t>* 樣本數 </a:t>
            </a:r>
            <a:r>
              <a:rPr lang="en-US" altLang="zh-TW" dirty="0"/>
              <a:t>n</a:t>
            </a:r>
          </a:p>
          <a:p>
            <a:r>
              <a:rPr lang="en-US" altLang="zh-TW" dirty="0"/>
              <a:t>* </a:t>
            </a:r>
            <a:r>
              <a:rPr lang="zh-TW" altLang="en-US" dirty="0"/>
              <a:t>信心等級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en-US" altLang="zh-TW" dirty="0"/>
              <a:t>Before–After</a:t>
            </a:r>
          </a:p>
          <a:p>
            <a:endParaRPr lang="en-US" altLang="zh-TW" dirty="0"/>
          </a:p>
          <a:p>
            <a:r>
              <a:rPr lang="zh-TW" altLang="en-US" dirty="0"/>
              <a:t>比較養護事件前後的 </a:t>
            </a:r>
            <a:r>
              <a:rPr lang="en-US" altLang="zh-TW" dirty="0"/>
              <a:t>median k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假設：</a:t>
            </a:r>
          </a:p>
          <a:p>
            <a:endParaRPr lang="zh-TW" altLang="en-US" dirty="0"/>
          </a:p>
          <a:p>
            <a:r>
              <a:rPr lang="zh-TW" altLang="en-US" dirty="0"/>
              <a:t>* 養護前 </a:t>
            </a:r>
            <a:r>
              <a:rPr lang="en-US" altLang="zh-TW" dirty="0"/>
              <a:t>k = 0.35</a:t>
            </a:r>
          </a:p>
          <a:p>
            <a:r>
              <a:rPr lang="en-US" altLang="zh-TW" dirty="0"/>
              <a:t>* </a:t>
            </a:r>
            <a:r>
              <a:rPr lang="zh-TW" altLang="en-US" dirty="0"/>
              <a:t>養護後 </a:t>
            </a:r>
            <a:r>
              <a:rPr lang="en-US" altLang="zh-TW" dirty="0"/>
              <a:t>k = 0.30</a:t>
            </a:r>
          </a:p>
          <a:p>
            <a:endParaRPr lang="en-US" altLang="zh-TW" dirty="0"/>
          </a:p>
          <a:p>
            <a:r>
              <a:rPr lang="zh-TW" altLang="en-US" dirty="0"/>
              <a:t>代表養護後同樣航速所需油耗降低，效能恢復。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「誠實信心」是什麼？</a:t>
            </a:r>
          </a:p>
          <a:p>
            <a:endParaRPr lang="zh-TW" altLang="en-US" dirty="0"/>
          </a:p>
          <a:p>
            <a:r>
              <a:rPr lang="zh-TW" altLang="en-US" dirty="0"/>
              <a:t>不是只顯示一個漂亮百分比，而是連同：</a:t>
            </a:r>
          </a:p>
          <a:p>
            <a:endParaRPr lang="zh-TW" altLang="en-US" dirty="0"/>
          </a:p>
          <a:p>
            <a:r>
              <a:rPr lang="zh-TW" altLang="en-US" dirty="0"/>
              <a:t>* 誤差區間</a:t>
            </a:r>
          </a:p>
          <a:p>
            <a:r>
              <a:rPr lang="zh-TW" altLang="en-US" dirty="0"/>
              <a:t>* 樣本數</a:t>
            </a:r>
          </a:p>
          <a:p>
            <a:r>
              <a:rPr lang="zh-TW" altLang="en-US" dirty="0"/>
              <a:t>* 信心等級</a:t>
            </a:r>
          </a:p>
          <a:p>
            <a:r>
              <a:rPr lang="zh-TW" altLang="en-US" dirty="0"/>
              <a:t>* 未解釋殘差</a:t>
            </a:r>
          </a:p>
          <a:p>
            <a:endParaRPr lang="zh-TW" altLang="en-US" dirty="0"/>
          </a:p>
          <a:p>
            <a:r>
              <a:rPr lang="zh-TW" altLang="en-US" dirty="0"/>
              <a:t>一起顯示。</a:t>
            </a:r>
          </a:p>
          <a:p>
            <a:endParaRPr lang="zh-TW" altLang="en-US" dirty="0"/>
          </a:p>
          <a:p>
            <a:r>
              <a:rPr lang="zh-TW" altLang="en-US" dirty="0"/>
              <a:t>例如：</a:t>
            </a:r>
          </a:p>
          <a:p>
            <a:endParaRPr lang="zh-TW" altLang="en-US" dirty="0"/>
          </a:p>
          <a:p>
            <a:r>
              <a:rPr lang="en-US" altLang="zh-TW" dirty="0"/>
              <a:t>Speed Loss 8.9%</a:t>
            </a:r>
            <a:r>
              <a:rPr lang="zh-TW" altLang="en-US" dirty="0"/>
              <a:t>、</a:t>
            </a:r>
            <a:r>
              <a:rPr lang="en-US" altLang="zh-TW" dirty="0"/>
              <a:t>HIGH confidence</a:t>
            </a:r>
            <a:r>
              <a:rPr lang="zh-TW" altLang="en-US" dirty="0"/>
              <a:t>、</a:t>
            </a:r>
            <a:r>
              <a:rPr lang="en-US" altLang="zh-TW" dirty="0"/>
              <a:t>n=506</a:t>
            </a:r>
          </a:p>
          <a:p>
            <a:endParaRPr lang="en-US" altLang="zh-TW" dirty="0"/>
          </a:p>
          <a:p>
            <a:r>
              <a:rPr lang="zh-TW" altLang="en-US" dirty="0"/>
              <a:t>會比只顯示「</a:t>
            </a:r>
            <a:r>
              <a:rPr lang="en-US" altLang="zh-TW" dirty="0"/>
              <a:t>8.9%</a:t>
            </a:r>
            <a:r>
              <a:rPr lang="zh-TW" altLang="en-US" dirty="0"/>
              <a:t>」更可信。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FA690-89DA-3B04-EB52-9CAEC5D1E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5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</a:t>
            </a:r>
            <a:r>
              <a:rPr lang="en-US" altLang="zh-TW" dirty="0"/>
              <a:t>96%</a:t>
            </a:r>
            <a:r>
              <a:rPr lang="zh-TW" altLang="en-US" dirty="0"/>
              <a:t>是怎麼來的？</a:t>
            </a:r>
          </a:p>
          <a:p>
            <a:endParaRPr lang="zh-TW" altLang="en-US" dirty="0"/>
          </a:p>
          <a:p>
            <a:r>
              <a:rPr lang="zh-TW" altLang="en-US" dirty="0"/>
              <a:t>你們不是直接「看到資料就知道」。</a:t>
            </a:r>
          </a:p>
          <a:p>
            <a:endParaRPr lang="zh-TW" altLang="en-US" dirty="0"/>
          </a:p>
          <a:p>
            <a:r>
              <a:rPr lang="zh-TW" altLang="en-US" dirty="0"/>
              <a:t>方法是利用不同養護事件形成的隔離區段：</a:t>
            </a:r>
          </a:p>
          <a:p>
            <a:endParaRPr lang="zh-TW" altLang="en-US" dirty="0"/>
          </a:p>
          <a:p>
            <a:r>
              <a:rPr lang="zh-TW" altLang="en-US" dirty="0"/>
              <a:t>* 若只有船殼清洗，觀察清洗前後 </a:t>
            </a:r>
            <a:r>
              <a:rPr lang="en-US" altLang="zh-TW" dirty="0"/>
              <a:t>k </a:t>
            </a:r>
            <a:r>
              <a:rPr lang="zh-TW" altLang="en-US" dirty="0"/>
              <a:t>的變化</a:t>
            </a:r>
          </a:p>
          <a:p>
            <a:r>
              <a:rPr lang="zh-TW" altLang="en-US" dirty="0"/>
              <a:t>* 若只有螺旋槳拋光，觀察拋光前後 </a:t>
            </a:r>
            <a:r>
              <a:rPr lang="en-US" altLang="zh-TW" dirty="0"/>
              <a:t>k </a:t>
            </a:r>
            <a:r>
              <a:rPr lang="zh-TW" altLang="en-US" dirty="0"/>
              <a:t>的變化</a:t>
            </a:r>
          </a:p>
          <a:p>
            <a:r>
              <a:rPr lang="zh-TW" altLang="en-US" dirty="0"/>
              <a:t>* 根據不同介入後的效能恢復與後續漂移率，估算兩者貢獻</a:t>
            </a:r>
          </a:p>
          <a:p>
            <a:endParaRPr lang="zh-TW" altLang="en-US" dirty="0"/>
          </a:p>
          <a:p>
            <a:r>
              <a:rPr lang="zh-TW" altLang="en-US" dirty="0"/>
              <a:t>但如果區段資料不足，就會：</a:t>
            </a:r>
          </a:p>
          <a:p>
            <a:endParaRPr lang="zh-TW" altLang="en-US" dirty="0"/>
          </a:p>
          <a:p>
            <a:r>
              <a:rPr lang="zh-TW" altLang="en-US" dirty="0"/>
              <a:t>顯示</a:t>
            </a:r>
            <a:r>
              <a:rPr lang="en-US" altLang="zh-TW" dirty="0"/>
              <a:t>50/50</a:t>
            </a:r>
            <a:r>
              <a:rPr lang="zh-TW" altLang="en-US" dirty="0"/>
              <a:t>預設值，而且標明信心不足。</a:t>
            </a:r>
          </a:p>
          <a:p>
            <a:endParaRPr lang="zh-TW" altLang="en-US" dirty="0"/>
          </a:p>
          <a:p>
            <a:r>
              <a:rPr lang="zh-TW" altLang="en-US" dirty="0"/>
              <a:t>不是假裝模型知道。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能不能排除天氣、引擎和海流？</a:t>
            </a:r>
          </a:p>
          <a:p>
            <a:endParaRPr lang="zh-TW" altLang="en-US" dirty="0"/>
          </a:p>
          <a:p>
            <a:r>
              <a:rPr lang="zh-TW" altLang="en-US" dirty="0"/>
              <a:t>目前不能完全排除。</a:t>
            </a:r>
          </a:p>
          <a:p>
            <a:endParaRPr lang="zh-TW" altLang="en-US" dirty="0"/>
          </a:p>
          <a:p>
            <a:r>
              <a:rPr lang="zh-TW" altLang="en-US" dirty="0"/>
              <a:t>你們只有 </a:t>
            </a:r>
            <a:r>
              <a:rPr lang="en-US" altLang="zh-TW" dirty="0"/>
              <a:t>Noon Report </a:t>
            </a:r>
            <a:r>
              <a:rPr lang="zh-TW" altLang="en-US" dirty="0"/>
              <a:t>和維修紀錄，因此目前是：</a:t>
            </a:r>
          </a:p>
          <a:p>
            <a:endParaRPr lang="zh-TW" altLang="en-US" dirty="0"/>
          </a:p>
          <a:p>
            <a:r>
              <a:rPr lang="zh-TW" altLang="en-US" dirty="0"/>
              <a:t>根據 </a:t>
            </a:r>
            <a:r>
              <a:rPr lang="en-US" altLang="zh-TW" dirty="0"/>
              <a:t>Speed Loss </a:t>
            </a:r>
            <a:r>
              <a:rPr lang="zh-TW" altLang="en-US" dirty="0"/>
              <a:t>與養護事件的時間關係進行關聯歸因。</a:t>
            </a:r>
          </a:p>
          <a:p>
            <a:endParaRPr lang="zh-TW" altLang="en-US" dirty="0"/>
          </a:p>
          <a:p>
            <a:r>
              <a:rPr lang="zh-TW" altLang="en-US" dirty="0"/>
              <a:t>不是嚴格的物理因果歸因。</a:t>
            </a:r>
          </a:p>
          <a:p>
            <a:endParaRPr lang="zh-TW" altLang="en-US" dirty="0"/>
          </a:p>
          <a:p>
            <a:r>
              <a:rPr lang="zh-TW" altLang="en-US" dirty="0"/>
              <a:t>這一點一定要誠實講。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是什麼？</a:t>
            </a:r>
          </a:p>
          <a:p>
            <a:endParaRPr lang="zh-TW" altLang="en-US" dirty="0"/>
          </a:p>
          <a:p>
            <a:r>
              <a:rPr lang="en-US" altLang="zh-TW" dirty="0"/>
              <a:t>Underwater Inspection</a:t>
            </a:r>
            <a:r>
              <a:rPr lang="zh-TW" altLang="en-US" dirty="0"/>
              <a:t>，只檢查，不清洗、不拋光。</a:t>
            </a:r>
          </a:p>
          <a:p>
            <a:endParaRPr lang="zh-TW" altLang="en-US" dirty="0"/>
          </a:p>
          <a:p>
            <a:r>
              <a:rPr lang="zh-TW" altLang="en-US" dirty="0"/>
              <a:t>因此理論上：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不應讓污損突然消失。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你們如何處理</a:t>
            </a:r>
            <a:r>
              <a:rPr lang="en-US" altLang="zh-TW" dirty="0"/>
              <a:t>UWI</a:t>
            </a:r>
            <a:r>
              <a:rPr lang="zh-TW" altLang="en-US" dirty="0"/>
              <a:t>？</a:t>
            </a:r>
          </a:p>
          <a:p>
            <a:endParaRPr lang="zh-TW" altLang="en-US" dirty="0"/>
          </a:p>
          <a:p>
            <a:r>
              <a:rPr lang="zh-TW" altLang="en-US" dirty="0"/>
              <a:t>在預測模型裡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不會重置污損時鐘。</a:t>
            </a:r>
          </a:p>
          <a:p>
            <a:endParaRPr lang="zh-TW" altLang="en-US" dirty="0"/>
          </a:p>
          <a:p>
            <a:r>
              <a:rPr lang="zh-TW" altLang="en-US" dirty="0"/>
              <a:t>假設一艘船距離上次清洗</a:t>
            </a:r>
            <a:r>
              <a:rPr lang="en-US" altLang="zh-TW" dirty="0"/>
              <a:t>300</a:t>
            </a:r>
            <a:r>
              <a:rPr lang="zh-TW" altLang="en-US" dirty="0"/>
              <a:t>天，今天做</a:t>
            </a:r>
            <a:r>
              <a:rPr lang="en-US" altLang="zh-TW" dirty="0"/>
              <a:t>UWI</a:t>
            </a:r>
            <a:r>
              <a:rPr lang="zh-TW" altLang="en-US" dirty="0"/>
              <a:t>：</a:t>
            </a:r>
          </a:p>
          <a:p>
            <a:endParaRPr lang="zh-TW" altLang="en-US" dirty="0"/>
          </a:p>
          <a:p>
            <a:r>
              <a:rPr lang="zh-TW" altLang="en-US" dirty="0"/>
              <a:t>* 明天仍然是</a:t>
            </a:r>
            <a:r>
              <a:rPr lang="en-US" altLang="zh-TW" dirty="0"/>
              <a:t>301</a:t>
            </a:r>
            <a:r>
              <a:rPr lang="zh-TW" altLang="en-US" dirty="0"/>
              <a:t>天左右</a:t>
            </a:r>
          </a:p>
          <a:p>
            <a:r>
              <a:rPr lang="zh-TW" altLang="en-US" dirty="0"/>
              <a:t>* 不會被錯誤當成「剛清洗完成」</a:t>
            </a:r>
          </a:p>
          <a:p>
            <a:endParaRPr lang="zh-TW" altLang="en-US" dirty="0"/>
          </a:p>
          <a:p>
            <a:r>
              <a:rPr lang="zh-TW" altLang="en-US" dirty="0"/>
              <a:t>在</a:t>
            </a:r>
            <a:r>
              <a:rPr lang="en-US" altLang="zh-TW" dirty="0"/>
              <a:t>Dashboard</a:t>
            </a:r>
            <a:r>
              <a:rPr lang="zh-TW" altLang="en-US" dirty="0"/>
              <a:t>裡</a:t>
            </a:r>
          </a:p>
          <a:p>
            <a:endParaRPr lang="zh-TW" altLang="en-US" dirty="0"/>
          </a:p>
          <a:p>
            <a:r>
              <a:rPr lang="zh-TW" altLang="en-US" dirty="0"/>
              <a:t>仍然顯示實際量測到的前後變化。</a:t>
            </a:r>
          </a:p>
          <a:p>
            <a:endParaRPr lang="zh-TW" altLang="en-US" dirty="0"/>
          </a:p>
          <a:p>
            <a:r>
              <a:rPr lang="zh-TW" altLang="en-US" dirty="0"/>
              <a:t>因為真實資料可能因：</a:t>
            </a:r>
          </a:p>
          <a:p>
            <a:endParaRPr lang="zh-TW" altLang="en-US" dirty="0"/>
          </a:p>
          <a:p>
            <a:r>
              <a:rPr lang="zh-TW" altLang="en-US" dirty="0"/>
              <a:t>* 天氣</a:t>
            </a:r>
          </a:p>
          <a:p>
            <a:r>
              <a:rPr lang="zh-TW" altLang="en-US" dirty="0"/>
              <a:t>* 載況</a:t>
            </a:r>
          </a:p>
          <a:p>
            <a:r>
              <a:rPr lang="zh-TW" altLang="en-US" dirty="0"/>
              <a:t>* 洋流</a:t>
            </a:r>
          </a:p>
          <a:p>
            <a:r>
              <a:rPr lang="zh-TW" altLang="en-US" dirty="0"/>
              <a:t>* 測量噪音</a:t>
            </a:r>
          </a:p>
          <a:p>
            <a:endParaRPr lang="zh-TW" altLang="en-US" dirty="0"/>
          </a:p>
          <a:p>
            <a:r>
              <a:rPr lang="zh-TW" altLang="en-US" dirty="0"/>
              <a:t>出現變動。</a:t>
            </a:r>
          </a:p>
          <a:p>
            <a:endParaRPr lang="zh-TW" altLang="en-US" dirty="0"/>
          </a:p>
          <a:p>
            <a:r>
              <a:rPr lang="zh-TW" altLang="en-US" dirty="0"/>
              <a:t>重要說法</a:t>
            </a:r>
          </a:p>
          <a:p>
            <a:endParaRPr lang="zh-TW" altLang="en-US" dirty="0"/>
          </a:p>
          <a:p>
            <a:r>
              <a:rPr lang="zh-TW" altLang="en-US" dirty="0"/>
              <a:t>預測模型使用乾淨的物理先驗；</a:t>
            </a:r>
            <a:r>
              <a:rPr lang="en-US" altLang="zh-TW" dirty="0"/>
              <a:t>Dashboard </a:t>
            </a:r>
            <a:r>
              <a:rPr lang="zh-TW" altLang="en-US" dirty="0"/>
              <a:t>則誠實呈現統計實測與信心。兩者角色不同，不是矛盾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[4:25–5:25] 誠實 —— baseline 勝出
三個數字：RMSE 3.51 MT · MAPE 5.22% · 102/102 格 1:1 提交。
這頁的價值不在數字，在右邊那張「刻意的簡單」：
「我們試過更複雜的堆疊與單調約束——在防漏驗證上都沒贏過樸素 GBM baseline，
 於是資料驅動地選 baseline。不 ship 比 baseline 差的模型，是原則，不是能力上限。」
防漏驗證要講，這是評審會追的：
「我們不用隨機 K-fold。在可見船上模擬真實遮蔽——挑真養護事件後的合格日窗把答案藏起來，
 只用可見特徵預測、逐窗評分。等於把預測船會遇到的難處，在有答案的船上重演一次。
 另外跑 GroupKFold(by ship) 確認跨船遷移不是靠記住單船。」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三艘船的例子</a:t>
            </a:r>
          </a:p>
          <a:p>
            <a:endParaRPr lang="zh-TW" altLang="en-US" dirty="0"/>
          </a:p>
          <a:p>
            <a:r>
              <a:rPr lang="en-US" dirty="0"/>
              <a:t>S23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16.4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潛在可省</a:t>
            </a:r>
            <a:r>
              <a:rPr lang="en-US" altLang="zh-TW" dirty="0"/>
              <a:t>24.4%</a:t>
            </a:r>
          </a:p>
          <a:p>
            <a:r>
              <a:rPr lang="en-US" altLang="zh-TW" dirty="0"/>
              <a:t>* </a:t>
            </a:r>
            <a:r>
              <a:rPr lang="en-US" dirty="0"/>
              <a:t>HIGH confidence</a:t>
            </a:r>
          </a:p>
          <a:p>
            <a:r>
              <a:rPr lang="en-US" dirty="0"/>
              <a:t>* n=506</a:t>
            </a:r>
          </a:p>
          <a:p>
            <a:endParaRPr lang="en-US" dirty="0"/>
          </a:p>
          <a:p>
            <a:r>
              <a:rPr lang="zh-TW" altLang="en-US" dirty="0"/>
              <a:t>這是最適合主打的案例，因為信心高、樣本多。</a:t>
            </a:r>
          </a:p>
          <a:p>
            <a:endParaRPr lang="zh-TW" altLang="en-US" dirty="0"/>
          </a:p>
          <a:p>
            <a:r>
              <a:rPr lang="en-US" dirty="0"/>
              <a:t>S6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14.8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但樣本不足</a:t>
            </a:r>
          </a:p>
          <a:p>
            <a:r>
              <a:rPr lang="zh-TW" altLang="en-US" dirty="0"/>
              <a:t>* </a:t>
            </a:r>
            <a:r>
              <a:rPr lang="en-US" dirty="0"/>
              <a:t>LOW confidence</a:t>
            </a:r>
          </a:p>
          <a:p>
            <a:endParaRPr lang="en-US" dirty="0"/>
          </a:p>
          <a:p>
            <a:r>
              <a:rPr lang="zh-TW" altLang="en-US" dirty="0"/>
              <a:t>不能直接下達清洗建議，適合先做便宜的水下檢查。</a:t>
            </a:r>
          </a:p>
          <a:p>
            <a:endParaRPr lang="zh-TW" altLang="en-US" dirty="0"/>
          </a:p>
          <a:p>
            <a:r>
              <a:rPr lang="en-US" dirty="0"/>
              <a:t>S11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40.1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數值極高</a:t>
            </a:r>
          </a:p>
          <a:p>
            <a:r>
              <a:rPr lang="zh-TW" altLang="en-US" dirty="0"/>
              <a:t>* 但它是</a:t>
            </a:r>
            <a:r>
              <a:rPr lang="en-US" altLang="zh-TW" dirty="0"/>
              <a:t>692</a:t>
            </a:r>
            <a:r>
              <a:rPr lang="zh-TW" altLang="en-US" dirty="0"/>
              <a:t>天未有效清洗的極端案例</a:t>
            </a:r>
          </a:p>
          <a:p>
            <a:endParaRPr lang="zh-TW" altLang="en-US" dirty="0"/>
          </a:p>
          <a:p>
            <a:r>
              <a:rPr lang="zh-TW" altLang="en-US" dirty="0"/>
              <a:t>適合呈現風險，但不能把它當成一般船舶的典型狀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收尾：現行 Fargate + ALB 是穩定的導入基準線；EC2 保底、Serverless 與資料分析管線是未來營運藍圖。Live URL 可現場打開。一句話願景：讓數字站得住、決策留給人。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presentation/img/cover-ship-du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385C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船舶效能分析與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節能決策支援系統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陽明海運 · 航運物流組</a:t>
            </a: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|    AWS Summit Taipei 2026 百工百業瘋 AI — AI Everywhere Hackathon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團隊 </a:t>
            </a:r>
            <a:r>
              <a:rPr lang="en-US" sz="1200" dirty="0" err="1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FleetMind（工程</a:t>
            </a:r>
            <a:r>
              <a:rPr lang="en-US" sz="12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1 + 簡報 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ero-daw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7132320" cy="3703320"/>
          </a:xfrm>
          <a:prstGeom prst="roundRect">
            <a:avLst>
              <a:gd name="adj" fmla="val 2963"/>
            </a:avLst>
          </a:prstGeom>
          <a:solidFill>
            <a:srgbClr val="0A2540">
              <a:alpha val="82000"/>
            </a:srgbClr>
          </a:solidFill>
          <a:ln/>
          <a:effectLst>
            <a:outerShdw blurRad="177800" dist="508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8229600" y="1097280"/>
            <a:ext cx="2468880" cy="24688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8748065" y="1615745"/>
            <a:ext cx="1431950" cy="143195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9217152" y="2084832"/>
            <a:ext cx="493776" cy="493776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8641080" y="1508760"/>
            <a:ext cx="1645920" cy="164592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8986723" y="1854403"/>
            <a:ext cx="954634" cy="95463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9299448" y="2167128"/>
            <a:ext cx="329184" cy="329184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7635240" y="13716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52400" dist="50800" dir="5400000" algn="bl" rotWithShape="0">
              <a:srgbClr val="05121F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7818120" y="116586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823960" y="16459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FOC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915400" y="233172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823960" y="23957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STW³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72668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· 船體效能指標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 · AWS ARCHITECTURE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架構藍圖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與五種上雲路徑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400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一套船舶效能決策系統 — 從已上線的 Fargate demo 到全艦隊營運平台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932688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× 5 年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932688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同型船 · 2021–2025 正午報表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438912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最嚴重 Speed Loss · 539 有效日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845552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Day1 上線</a:t>
            </a:r>
            <a:endParaRPr lang="en-US" sz="3300" dirty="0"/>
          </a:p>
        </p:txBody>
      </p:sp>
      <p:sp>
        <p:nvSpPr>
          <p:cNvPr id="27" name="Text 24"/>
          <p:cNvSpPr/>
          <p:nvPr/>
        </p:nvSpPr>
        <p:spPr>
          <a:xfrm>
            <a:off x="7845552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6"/>
          <p:cNvSpPr/>
          <p:nvPr/>
        </p:nvSpPr>
        <p:spPr>
          <a:xfrm>
            <a:off x="7717536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640080" y="58704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914400" y="587044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　</a:t>
            </a: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9100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globe-networ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ONE-PAGER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一頁看懂：一個命題、一套現行架構、五種方案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81328"/>
            <a:ext cx="10911535" cy="987552"/>
          </a:xfrm>
          <a:prstGeom prst="roundRect">
            <a:avLst>
              <a:gd name="adj" fmla="val 8333"/>
            </a:avLst>
          </a:prstGeom>
          <a:solidFill>
            <a:srgbClr val="0A2540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960120" y="1481328"/>
            <a:ext cx="102714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　</a:t>
            </a: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艘同型船、5 年正午報表，依 ISO 19030 以 k=FOC/STW³ 偵測船體污損 Speed Loss，把「何時清、值不值、省多少」變成可計算、可解釋、人可拍板的決策支援。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70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現行架構（已部署）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1464229" y="3127248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146422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容器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44993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8"/>
          <p:cNvSpPr/>
          <p:nvPr/>
        </p:nvSpPr>
        <p:spPr>
          <a:xfrm>
            <a:off x="2873593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9"/>
          <p:cNvSpPr/>
          <p:nvPr/>
        </p:nvSpPr>
        <p:spPr>
          <a:xfrm>
            <a:off x="3697742" y="3127248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369774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19313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19313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78507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5107107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5"/>
          <p:cNvSpPr/>
          <p:nvPr/>
        </p:nvSpPr>
        <p:spPr>
          <a:xfrm>
            <a:off x="5931256" y="3127248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931256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52827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2827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映像倉庫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12020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0"/>
          <p:cNvSpPr/>
          <p:nvPr/>
        </p:nvSpPr>
        <p:spPr>
          <a:xfrm>
            <a:off x="734062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1"/>
          <p:cNvSpPr/>
          <p:nvPr/>
        </p:nvSpPr>
        <p:spPr>
          <a:xfrm>
            <a:off x="8164769" y="3127248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2"/>
          <p:cNvSpPr/>
          <p:nvPr/>
        </p:nvSpPr>
        <p:spPr>
          <a:xfrm>
            <a:off x="816476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8634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634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345534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6"/>
          <p:cNvSpPr/>
          <p:nvPr/>
        </p:nvSpPr>
        <p:spPr>
          <a:xfrm>
            <a:off x="9574134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10398282" y="3127248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1039828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619854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19854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五種上雲方案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3"/>
          <p:cNvSpPr/>
          <p:nvPr/>
        </p:nvSpPr>
        <p:spPr>
          <a:xfrm>
            <a:off x="1347186" y="4544568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4"/>
          <p:cNvSpPr/>
          <p:nvPr/>
        </p:nvSpPr>
        <p:spPr>
          <a:xfrm>
            <a:off x="1347186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85800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現行強化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685800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Fargate + ALB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77251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3584357" y="454456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3584357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2922971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Serverless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2922971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APIGW + Lambda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114422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5821528" y="4544568"/>
            <a:ext cx="548640" cy="548640"/>
          </a:xfrm>
          <a:prstGeom prst="ellipse">
            <a:avLst/>
          </a:prstGeom>
          <a:solidFill>
            <a:srgbClr val="5A6B7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5821528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5160142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160142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零 infra（受阻）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351593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8058699" y="4544568"/>
            <a:ext cx="548640" cy="548640"/>
          </a:xfrm>
          <a:prstGeom prst="ellipse">
            <a:avLst/>
          </a:prstGeom>
          <a:solidFill>
            <a:srgbClr val="2F6E9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8058699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7397313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 + Docker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397313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最省保底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588764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3"/>
          <p:cNvSpPr/>
          <p:nvPr/>
        </p:nvSpPr>
        <p:spPr>
          <a:xfrm>
            <a:off x="10295870" y="4544568"/>
            <a:ext cx="548640" cy="548640"/>
          </a:xfrm>
          <a:prstGeom prst="ellipse">
            <a:avLst/>
          </a:prstGeom>
          <a:solidFill>
            <a:srgbClr val="F4A7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1029587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9634484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資料分析管線</a:t>
            </a:r>
            <a:endParaRPr lang="en-US" sz="1250" dirty="0"/>
          </a:p>
        </p:txBody>
      </p:sp>
      <p:sp>
        <p:nvSpPr>
          <p:cNvPr id="69" name="Text 66"/>
          <p:cNvSpPr/>
          <p:nvPr/>
        </p:nvSpPr>
        <p:spPr>
          <a:xfrm>
            <a:off x="9634484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+ BI + ML 未來式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是已上線基準線；E 是全艦隊願景路線圖；B / C / D 是中間的取捨光譜。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9995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DEPLOYED · DAY1 實測上線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現行架構：ECS Fargate + ALB 單服務容器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713232" y="1527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存取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07208" y="1481328"/>
            <a:ext cx="1783080" cy="1965960"/>
          </a:xfrm>
          <a:prstGeom prst="roundRect">
            <a:avLst>
              <a:gd name="adj" fmla="val 5128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2880360" y="1527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91456" y="1481328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4864608" y="1527048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執行 · 映像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1481328"/>
            <a:ext cx="4044391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7580376" y="152704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· 通知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" y="21854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914400" y="2382012"/>
            <a:ext cx="384048" cy="384048"/>
          </a:xfrm>
          <a:prstGeom prst="ellipse">
            <a:avLst/>
          </a:prstGeom>
          <a:solidFill>
            <a:srgbClr val="8FA8BD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/>
          <p:nvPr/>
        </p:nvSpPr>
        <p:spPr>
          <a:xfrm>
            <a:off x="91440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99032" y="2231136"/>
            <a:ext cx="97840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評審 / 瀏覽器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2631186"/>
            <a:ext cx="97840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請求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16936" y="2185416"/>
            <a:ext cx="1563624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3054096" y="23820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3054096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2231136"/>
            <a:ext cx="85039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38728" y="2631186"/>
            <a:ext cx="85039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928616" y="1865376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2"/>
          <p:cNvSpPr/>
          <p:nvPr/>
        </p:nvSpPr>
        <p:spPr>
          <a:xfrm>
            <a:off x="5065776" y="2039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3"/>
          <p:cNvSpPr/>
          <p:nvPr/>
        </p:nvSpPr>
        <p:spPr>
          <a:xfrm>
            <a:off x="506577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550408" y="1911096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50408" y="2286000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· :8080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28616" y="2779776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5065776" y="2871216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5065776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0408" y="2825496"/>
            <a:ext cx="152704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50408" y="3109874"/>
            <a:ext cx="152704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 · 資料烤入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16952" y="186537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2"/>
          <p:cNvSpPr/>
          <p:nvPr/>
        </p:nvSpPr>
        <p:spPr>
          <a:xfrm>
            <a:off x="7754112" y="2002536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3"/>
          <p:cNvSpPr/>
          <p:nvPr/>
        </p:nvSpPr>
        <p:spPr>
          <a:xfrm>
            <a:off x="77541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238744" y="191109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· Claude Haiku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38744" y="224576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Converse · guardrail 驗 cited 數值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16952" y="268833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7754112" y="2825496"/>
            <a:ext cx="384048" cy="384048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77541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38744" y="273405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· fleetmind-alerts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38744" y="306872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48716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449884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048756" y="2761488"/>
            <a:ext cx="0" cy="0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7187184" y="223113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7187184" y="296265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6"/>
          <p:cNvSpPr/>
          <p:nvPr/>
        </p:nvSpPr>
        <p:spPr>
          <a:xfrm>
            <a:off x="640080" y="3675888"/>
            <a:ext cx="5349240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7"/>
          <p:cNvSpPr/>
          <p:nvPr/>
        </p:nvSpPr>
        <p:spPr>
          <a:xfrm>
            <a:off x="640080" y="36758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　exec role 拉 ECR · task role 授 Bedrock + SNS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172200" y="3675888"/>
            <a:ext cx="5379415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172200" y="36758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　/fleetmind/api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40080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1"/>
          <p:cNvSpPr/>
          <p:nvPr/>
        </p:nvSpPr>
        <p:spPr>
          <a:xfrm>
            <a:off x="868680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68680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離線　core-calc 讀 15 船 2021–2025 正午報表，跑 ISO 19030 k 與品質旗標 → MetricsExportCli 產 real-metrics.json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　Dockerfile COPY real-metrics.json 一起打包 jar → 推 ECR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Runtime　評審 → ALB → Fargate 回決策看板 + REST：/fleet/summary、/vessels/{id}/decision、/config/threshold…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　/ai-brief → Bedrock Converse → guardrail 驗 cited 數值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　門檻跨越 → /alerts/notify → SNS Publish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324448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6553048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為什麼是它 — demo 風險最低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553048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單一部署單元、單一 codebase，3 天內最好 debug 與彩排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資料烤進映像＝零外部資料相依，冷啟即有真資料（repo 不含企業資料）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給穩定 URL，task 重啟換 IP 不會讓 live demo 連結失效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+ SNS 已實測打通，Email 告警與可調門檻需求已滿足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Fargate 成本低、免管 EC2 / OS patch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654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ARCHITECTURE · 實帳號快照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官方符號版：現行架構逐項對過真實帳號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blurRad="228600" dist="63500" dir="5400000" algn="bl" rotWithShape="0">
              <a:srgbClr val="04101B">
                <a:alpha val="5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/Users/fengchihsheng/Documents/AI_work/fleetmind-yang-ming-hackathon/apps/api/src/main/resources/static/img/diagrams/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FLOW · 讀取 / AI / 告警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一次請求的三條路徑，與 AI 的降級階梯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blurRad="228600" dist="63500" dir="5400000" algn="bl" rotWithShape="0">
              <a:srgbClr val="04101B">
                <a:alpha val="5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/Users/fengchihsheng/Documents/AI_work/fleetmind-yang-ming-hackathon/apps/api/src/main/resources/static/img/diagrams/data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ocean-dee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五案比較 — 現行方案 A 為導入基準線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9144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已上線 / 佳</a:t>
            </a:r>
            <a:endParaRPr lang="en-US" sz="1050" dirty="0"/>
          </a:p>
        </p:txBody>
      </p:sp>
      <p:sp>
        <p:nvSpPr>
          <p:cNvPr id="12" name="Shape 11"/>
          <p:cNvSpPr/>
          <p:nvPr/>
        </p:nvSpPr>
        <p:spPr>
          <a:xfrm>
            <a:off x="3154680" y="5074920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4290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需注意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5074920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5943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受阻 / 高風險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960120" y="548640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判讀　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近期以 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A（現行強化）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為主線（已上線、導入風險最低）；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D（EC2）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為托管服務受阻時的保底；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 / E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為資料驅動與全艦隊營運的演進方向。C 因帳號 AccessDenied 暫不採用。</a:t>
            </a:r>
            <a:endParaRPr lang="en-US" sz="12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FE4931E2-456E-C4B1-DD25-A0433AE7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27632"/>
            <a:ext cx="10865408" cy="3264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hip-du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A · 現行強化版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 Fargate + ALB + Bedrock + SNS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沿用現行單服務容器，把 demo 臨時做法收斂為正式 ECS Service（desiredCount 維持、健檢失敗自動重拉）。五案之中可交付性最高、導入風險最低的基準線。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Service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Fargate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常駐 · 自動重拉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映像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Alarms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日誌 + 健康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與已上線架構一致，Day3 重跑成本最低、最可靠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 codebase 好維護、好彩排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靜態 URL 解決臨時 IP 問題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 SNS 已實測，Email + 門檻需求即刻滿足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非資料驅動，更新資料要重 build / 重部署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BI 自助分析層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VPC / ALB / 雙 IAM 設定較多，臨時憑證到期需重跑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架構保守：未含資料層與自助分析，長期擴展需再演進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首要目標是穩穩 demo、時間有限、要把工程師的 Email／告警／可調門檻需求確定交付時的預設選擇。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3966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cloud-abstrac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B · 全 SERVERLESS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6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Gateway + Lambda + DynamoDB（資料驅動）</a:t>
            </a:r>
            <a:endParaRPr lang="en-US" sz="3066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極低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把單服務拆成 API Gateway + Lambda 後端、S3 托管前端與原始報表、DynamoDB 存 metrics 與門檻、EventBridge 排程重算。零常駐、按呼叫計費、天生資料驅動。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Gateway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API 入口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21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無狀態運算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靜態站 + raw 報表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DB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metrics / 門檻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排程重算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 / SNS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Email 告警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天生資料驅動：新報表進 S3 自動重算，命中 15→97 艘敘事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按呼叫計費、零閒置成本、自動擴縮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 排程 + SES Email 直接命中告警需求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 handler 解耦，單點改動不動全局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monolith 拆多 Lambda + IaC，3 天工作量與整合風險大增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Lambda 冷啟延遲可能拖慢 demo 首打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本機難完整重現 APIGW+Lambda+DynamoDB，除錯較難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元件變多，臨時憑證下佈署面更廣、易出錯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要強調資料驅動、自動擴縮與『15→97 艘同架構』，且團隊有把握在時限內完成拆分與整合時。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54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network-gri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C · APP RUNNER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全託管容器，零 infra（本次受帳號權限阻擋）</a:t>
            </a:r>
            <a:endParaRPr lang="en-US" sz="356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低-中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7DAD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低 · 受阻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Spring Boot 映像改由 App Runner 從 ECR 拉起，AWS 全託管 HTTPS / 負載平衡 / 自動擴縮，免自建 ALB/VPC/SG。惟本 workshop 帳號 App Runner 實測 AccessDenied，只能列對照。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456914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4569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 · HTTPS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30363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877251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694085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6940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2971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22971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arm64 映像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67534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5114422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60142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0142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04705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7351593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168427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1684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397313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97313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341876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9588764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10405598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104055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634484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34484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access / 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管理面最少：免 ALB/VPC/SG/target group，設定步驟最短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沿用同一映像與 codebase，遷移成本近零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內建 HTTPS + 穩定網域 + 自動擴縮，demo URL 天生穩定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維持單服務好除錯特性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1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3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 workshop 帳號 App Runner AccessDenied → 決定性阻斷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 Fargate 一樣非資料驅動、更新要重 build 映像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客製網路 / 私有子網彈性不如 ECS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/ 映像限制較多，遇權限問題無替代路徑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帳號放行 App Runner、想用最少 infra 步驟托管同一顆容器、不想碰 ALB/VPC 時（本次因 AccessDenied 不建議作主線）。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4846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D · EC2 +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44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單台虛機 docker run，最省最可控的保底路線</a:t>
            </a:r>
            <a:endParaRPr lang="en-US" sz="3544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最低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 · 保底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開一台 EC2（Graviton t4g / x86），docker run 同一顆映像，綁 Elastic IP 得固定位址，安全群組開 8080/443。完全掌控 OS / 網路 / 生命週期，成本壓到最低，無託管服務依賴。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Graviton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docker run 容器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固定公網位址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 /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本機映像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pull 或 docker load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Group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 8080/443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成本最低、最可控：一台機器全包，無託管服務加價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 給固定位址，重啟不換 IP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 docker 行為與 EC2 幾乎一致，除錯最直覺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App Runner/ALB 權限依賴，帳號 EC2 已實測可用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要自管 OS patch / Docker / 重啟 / 健康監控，無自動復原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單台＝單點故障，掛了 demo 就斷（需手動重拉）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 要自己配（反代 / 憑證），比 ALB 麻煩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非資料驅動、無自動擴縮，擴展敘事最弱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要極致省成本、完全掌控，或托管服務權限受阻時，需要一條一定跑得起來的保底部署。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2795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· 現況與規劃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資安：已收口的入口 + 規劃中的縱深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41248" y="146304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縱深防禦是目標；這頁把「已經在跑的」和「還沒做的」分開講。入口已用 SG 收成 ALB 單點、IAM 已職責分離 — 這兩項可當場驗。其餘是下一步。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41248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已實作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可當場驗證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1248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978408" y="2670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978408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63040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63040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唯一對外入口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直打 task IP:8080 → timeout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70520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3107680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310768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92312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592312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只放行 ALB SG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07096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fleetmind-sg 無 0.0.0.0/0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99792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5236952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523695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21584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職責分離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21584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 / execution role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136368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拉不到 ECR、寫不了 log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229064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3"/>
          <p:cNvSpPr/>
          <p:nvPr/>
        </p:nvSpPr>
        <p:spPr>
          <a:xfrm>
            <a:off x="7366224" y="2670048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4"/>
          <p:cNvSpPr/>
          <p:nvPr/>
        </p:nvSpPr>
        <p:spPr>
          <a:xfrm>
            <a:off x="736622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50856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50856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/fleetmind/api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65640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awslogs driver 已設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358335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9"/>
          <p:cNvSpPr/>
          <p:nvPr/>
        </p:nvSpPr>
        <p:spPr>
          <a:xfrm>
            <a:off x="9495495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0"/>
          <p:cNvSpPr/>
          <p:nvPr/>
        </p:nvSpPr>
        <p:spPr>
          <a:xfrm>
            <a:off x="9495495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80127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Shield Standard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980127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自動生效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94911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預設, 非我們部署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40080" y="3986784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5"/>
          <p:cNvSpPr/>
          <p:nvPr/>
        </p:nvSpPr>
        <p:spPr>
          <a:xfrm>
            <a:off x="841248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規劃中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20116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尚未部署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4124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978408" y="45537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97840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WAF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46304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WAF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46304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L7 規則過濾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7782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WebACL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50283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3639998" y="4553712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5"/>
          <p:cNvSpPr/>
          <p:nvPr/>
        </p:nvSpPr>
        <p:spPr>
          <a:xfrm>
            <a:off x="363999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GD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12463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GuardDuty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412463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威脅偵測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353941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本帳號 AccessDenied, 開不了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16442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6301588" y="4553712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1"/>
          <p:cNvSpPr/>
          <p:nvPr/>
        </p:nvSpPr>
        <p:spPr>
          <a:xfrm>
            <a:off x="630158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SM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78622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Secrets Manager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678622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憑證託管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620100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secret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826017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66"/>
          <p:cNvSpPr/>
          <p:nvPr/>
        </p:nvSpPr>
        <p:spPr>
          <a:xfrm>
            <a:off x="8963177" y="4553712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7"/>
          <p:cNvSpPr/>
          <p:nvPr/>
        </p:nvSpPr>
        <p:spPr>
          <a:xfrm>
            <a:off x="8963177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9447809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 CMK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9447809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自管金鑰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62593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現用 AWS 託管預設金鑰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40080" y="576072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2"/>
          <p:cNvSpPr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誠實盤點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今天真正擋得住的是入口：SG 只放行 ALB，直打 task 公網 IP 已 timeout。IAM 動作已收斂、SNS 綁單一 topic ARN，但 Bedrock 與 SES 仍是 Resource *，不宣稱「全程最小權限」。GuardDuty 受本帳號權限阻擋，WAF / Secrets Manager 是下一步。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multi-reg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MULTI-REGION · 設計藍圖（未部署）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多區域 Active-Active：設計，不是現況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這一頁全部還沒有蓋。現況：單一區域 us-east-1、一個 ALB、一個 ECS 服務；帳號裡 Route 53 / DynamoDB / EventBridge / S3 皆為 0。且本次帳號連跨區都不允許（ap-northeast-1 的 ECS/ECR 回 AccessDenied）。但船隊本來就跨國，這是貴司自有帳號上該長的樣子。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749808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亞洲船務端
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 · 台 · 韓 · 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1255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780983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歐美船務端
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· US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84168" y="20116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6"/>
          <p:cNvSpPr/>
          <p:nvPr/>
        </p:nvSpPr>
        <p:spPr>
          <a:xfrm>
            <a:off x="4267048" y="2139696"/>
            <a:ext cx="402336" cy="402336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4267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R53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79112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Route 53
</a:t>
            </a:r>
            <a:r>
              <a:rPr lang="en-US" sz="9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 / 延遲路由 · 健康檢查 failover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47872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0"/>
          <p:cNvSpPr/>
          <p:nvPr/>
        </p:nvSpPr>
        <p:spPr>
          <a:xfrm>
            <a:off x="8134960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6095848" y="2670048"/>
            <a:ext cx="0" cy="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994660" y="2852928"/>
            <a:ext cx="6202375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2994660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9197035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5"/>
          <p:cNvSpPr/>
          <p:nvPr/>
        </p:nvSpPr>
        <p:spPr>
          <a:xfrm>
            <a:off x="640080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6"/>
          <p:cNvSpPr/>
          <p:nvPr/>
        </p:nvSpPr>
        <p:spPr>
          <a:xfrm>
            <a:off x="640080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640080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A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ap-northeast-1（東京）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51960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425196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2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3"/>
          <p:cNvSpPr/>
          <p:nvPr/>
        </p:nvSpPr>
        <p:spPr>
          <a:xfrm>
            <a:off x="94183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426464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26464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1528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3218688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321868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03320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03320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26080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2"/>
          <p:cNvSpPr/>
          <p:nvPr/>
        </p:nvSpPr>
        <p:spPr>
          <a:xfrm>
            <a:off x="804672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3"/>
          <p:cNvSpPr/>
          <p:nvPr/>
        </p:nvSpPr>
        <p:spPr>
          <a:xfrm>
            <a:off x="941832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4"/>
          <p:cNvSpPr/>
          <p:nvPr/>
        </p:nvSpPr>
        <p:spPr>
          <a:xfrm>
            <a:off x="941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26464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426464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081528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3218688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321868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703320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03320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42455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842455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6842455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5"/>
          <p:cNvSpPr/>
          <p:nvPr/>
        </p:nvSpPr>
        <p:spPr>
          <a:xfrm>
            <a:off x="7025335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B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us-east-1（維吉尼亞）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0454335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7"/>
          <p:cNvSpPr/>
          <p:nvPr/>
        </p:nvSpPr>
        <p:spPr>
          <a:xfrm>
            <a:off x="10454335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007047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9"/>
          <p:cNvSpPr/>
          <p:nvPr/>
        </p:nvSpPr>
        <p:spPr>
          <a:xfrm>
            <a:off x="7144207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0"/>
          <p:cNvSpPr/>
          <p:nvPr/>
        </p:nvSpPr>
        <p:spPr>
          <a:xfrm>
            <a:off x="7144207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628839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628839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83903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4"/>
          <p:cNvSpPr/>
          <p:nvPr/>
        </p:nvSpPr>
        <p:spPr>
          <a:xfrm>
            <a:off x="9421063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5"/>
          <p:cNvSpPr/>
          <p:nvPr/>
        </p:nvSpPr>
        <p:spPr>
          <a:xfrm>
            <a:off x="9421063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905695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905695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128455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69"/>
          <p:cNvSpPr/>
          <p:nvPr/>
        </p:nvSpPr>
        <p:spPr>
          <a:xfrm>
            <a:off x="7007047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70"/>
          <p:cNvSpPr/>
          <p:nvPr/>
        </p:nvSpPr>
        <p:spPr>
          <a:xfrm>
            <a:off x="7144207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1"/>
          <p:cNvSpPr/>
          <p:nvPr/>
        </p:nvSpPr>
        <p:spPr>
          <a:xfrm>
            <a:off x="7144207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628839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628839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3903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5"/>
          <p:cNvSpPr/>
          <p:nvPr/>
        </p:nvSpPr>
        <p:spPr>
          <a:xfrm>
            <a:off x="9421063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76"/>
          <p:cNvSpPr/>
          <p:nvPr/>
        </p:nvSpPr>
        <p:spPr>
          <a:xfrm>
            <a:off x="9421063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9905695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9905695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0680" y="3200400"/>
            <a:ext cx="1307592" cy="2057400"/>
          </a:xfrm>
          <a:prstGeom prst="roundRect">
            <a:avLst>
              <a:gd name="adj" fmla="val 6993"/>
            </a:avLst>
          </a:prstGeom>
          <a:solidFill>
            <a:srgbClr val="0A2540">
              <a:alpha val="92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80"/>
          <p:cNvSpPr/>
          <p:nvPr/>
        </p:nvSpPr>
        <p:spPr>
          <a:xfrm>
            <a:off x="5440680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 · 匯總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32120" y="3602736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55955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Tables ⇄ 雙向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532120" y="4027932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7" name="Text 84"/>
          <p:cNvSpPr/>
          <p:nvPr/>
        </p:nvSpPr>
        <p:spPr>
          <a:xfrm>
            <a:off x="5559552" y="402793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CRR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跨區複製備份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5532120" y="4453128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9" name="Text 86"/>
          <p:cNvSpPr/>
          <p:nvPr/>
        </p:nvSpPr>
        <p:spPr>
          <a:xfrm>
            <a:off x="5559552" y="4453128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跨區匯總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532120" y="4878324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1" name="Text 88"/>
          <p:cNvSpPr/>
          <p:nvPr/>
        </p:nvSpPr>
        <p:spPr>
          <a:xfrm>
            <a:off x="5559552" y="48783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/ SES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即時告警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358384" y="4251960"/>
            <a:ext cx="82296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Shape 90"/>
          <p:cNvSpPr/>
          <p:nvPr/>
        </p:nvSpPr>
        <p:spPr>
          <a:xfrm>
            <a:off x="6757416" y="4251960"/>
            <a:ext cx="85039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Shape 91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92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一區故障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健康檢查失敗 → Route 53 自動剔除故障區、流量全導健康區；DynamoDB Global Tables 已雙向同步、S3 CRR 已備份 → RPO≈0、資料不丟、對外服務不中斷。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船殼污損每天在偷油——但何時該清，全靠經驗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船殼與螺旋槳污損讓同樣航速要燒更多油。船東靠水下清潔（UWC）與拋光（PP）恢復效能，但「何時做、值不值得、省多少」目前多憑經驗，缺乏可量化、可歸因、可回溯的決策依據。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艘船 · 5 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匿名航行日報（noon report）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9404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596564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21,282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96564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日報列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96564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＋ 77 筆水下養護事件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15888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-12% ~ +22%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15888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全隊範圍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5888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從剛養護到重度污損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051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235211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211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格待預測油耗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211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S21–S23 養護後遮蔽窗格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資料由命題企業提供，僅存於競賽 AWS 帳號、不進版控、賽後刪除。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兩條主線：看得見衰退，算得出代價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反事實預測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油耗預測模型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308610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 102 格被遮蔽的全速油耗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反事實推論：現在做 UWC/PP 能少燒多少油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污損時鐘 + </a:t>
            </a:r>
            <a:r>
              <a:rPr lang="en-US" sz="1400" dirty="0" err="1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跨姊妹船遷移學習</a:t>
            </a: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TW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-</a:t>
            </a:r>
            <a:r>
              <a:rPr lang="en-US" altLang="zh-TW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&gt;</a:t>
            </a:r>
            <a:r>
              <a:rPr lang="zh-TW" altLang="en-US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因污損多燒的燃油量</a:t>
            </a:r>
            <a:endParaRPr lang="en-US" altLang="zh-TW" b="1" dirty="0">
              <a:solidFill>
                <a:srgbClr val="1C7293"/>
              </a:solidFill>
              <a:latin typeface="Hiragino Sans" pitchFamily="34" charset="0"/>
              <a:ea typeface="Hiragino Sans" pitchFamily="34" charset="-122"/>
            </a:endParaRPr>
          </a:p>
          <a:p>
            <a:pPr>
              <a:spcAft>
                <a:spcPts val="800"/>
              </a:spcAft>
              <a:buSzPct val="100000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predict/ · Python · sklearn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98768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98768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效能診斷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Dashboard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98768" y="3197312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框架下的效能衰退趨勢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 vs 螺旋槳歸因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養護事件與效能恢復時序對比</a:t>
            </a: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TW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-&gt;</a:t>
            </a:r>
            <a:r>
              <a:rPr lang="zh-TW" altLang="en-US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讓效能衰退看得見</a:t>
            </a:r>
            <a:endParaRPr lang="en-US" altLang="zh-TW" b="1" dirty="0">
              <a:solidFill>
                <a:srgbClr val="1C7293"/>
              </a:solidFill>
              <a:latin typeface="Hiragino Sans" pitchFamily="34" charset="0"/>
              <a:ea typeface="Hiragino Sans" pitchFamily="34" charset="-122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8768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core-calc + apps/api · Java / Spring Boot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兩者共用同一套確定性計算：多耗油量反事實、單服務可維運架構、AI 護欄，皆由此延伸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從噪音日報到可比的效能指標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載入 + 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船日報 + 77 養護事件；型別/範圍檢查，不刪列只標旗標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事件直接對齊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maintenance.event_day 與日報 NOON_UTC 同軸，直接 join（無日曆錨點難題）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效能指標 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 Daily FOC / STW³；以對水速度 STW 正規化，隔離洋流與航速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008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同速帶比較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參考窗 10–15 合格日、±1 kn 同速帶、Theil-Sen 穩健趨勢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647895" cy="4160520"/>
          </a:xfrm>
          <a:prstGeom prst="roundRect">
            <a:avLst>
              <a:gd name="adj" fmla="val 1978"/>
            </a:avLst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船隊結構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訓練船 S1–S12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2807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全量可見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80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預測船 S21–S23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780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養護後遮蔽 · 102 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78040" y="4014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W1 型　S1–S8, S21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78040" y="43068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同設計姊妹船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7804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W2 型　S9–S12, S22–S23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7804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不同航線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78040" y="5532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被遮蔽的 3 艘預測船，在同型訓練船上有大量可見歷史 → 遷移學習。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船隊即時盤點：誰在漏油，先看誰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102" y="2536180"/>
            <a:ext cx="448056" cy="29502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33222" y="218870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32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16202" y="4281952"/>
            <a:ext cx="448056" cy="12044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433322" y="3934480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8.9%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333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16302" y="4295485"/>
            <a:ext cx="448056" cy="119091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233422" y="3948013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334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6402" y="4309019"/>
            <a:ext cx="448056" cy="117738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033522" y="3961547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335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16502" y="4349618"/>
            <a:ext cx="448056" cy="11367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833622" y="400214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336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16602" y="4349618"/>
            <a:ext cx="448056" cy="11367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633722" y="400214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37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16702" y="4620280"/>
            <a:ext cx="448056" cy="866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433822" y="427280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338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16802" y="4904476"/>
            <a:ext cx="448056" cy="5819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33922" y="455700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39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6400800" cy="0"/>
          </a:xfrm>
          <a:prstGeom prst="line">
            <a:avLst/>
          </a:prstGeom>
          <a:noFill/>
          <a:ln w="12700">
            <a:solidFill>
              <a:srgbClr val="CBD8E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依 Speed Loss 排序的船隊優先盤點（前 8 名）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1737360"/>
            <a:ext cx="4190695" cy="4206240"/>
          </a:xfrm>
          <a:prstGeom prst="roundRect">
            <a:avLst>
              <a:gd name="adj" fmla="val 196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635240" y="20116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互動趨勢圖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35240" y="232257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點選任一船，看 Speed Loss 隨航程變化、事件標記、資料缺口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35240" y="29718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35240" y="328269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每船顯示船殼/螺旋槳佔比、信心等級與樣本數 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35240" y="39319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Before-After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424281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養護事件前後 median k 對比與恢復幅度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35240" y="48920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誠實信心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35240" y="520293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顯示 ±區間、n、未解釋殘差，不做假精確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D17F2-1BC5-8DD4-0F8D-2DD1C62E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838EFF-F29B-D7FD-E4BB-788A903BB4C2}"/>
              </a:ext>
            </a:extLst>
          </p:cNvPr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19E6FC-DA2F-F15E-0A75-C18941B025D7}"/>
              </a:ext>
            </a:extLst>
          </p:cNvPr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</a:t>
            </a: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：</a:t>
            </a:r>
            <a:r>
              <a:rPr lang="zh-TW" alt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互動趨勢圖</a:t>
            </a:r>
            <a:endParaRPr lang="en-US" sz="3000" dirty="0"/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73CCE971-4286-A501-A431-5C4E89CC2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07" y="1590580"/>
            <a:ext cx="11379785" cy="3676839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0AFC8E5-F572-A8E7-4613-18FADE4ADF48}"/>
              </a:ext>
            </a:extLst>
          </p:cNvPr>
          <p:cNvSpPr/>
          <p:nvPr/>
        </p:nvSpPr>
        <p:spPr>
          <a:xfrm>
            <a:off x="640080" y="2743200"/>
            <a:ext cx="10059588" cy="4393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036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6F802-C8AC-A03C-EED6-2592904A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B7BEC-C6B3-D627-15F2-D802AEA5BD75}"/>
              </a:ext>
            </a:extLst>
          </p:cNvPr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971CFA-58A1-5415-E6FB-0DC58D16D73F}"/>
              </a:ext>
            </a:extLst>
          </p:cNvPr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</a:t>
            </a: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：</a:t>
            </a:r>
            <a:r>
              <a:rPr lang="zh-TW" alt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歸因卡</a:t>
            </a:r>
            <a:endParaRPr lang="en-US" sz="3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564D3B-2E39-54F9-DA05-684480E33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3" y="1399032"/>
            <a:ext cx="11417887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4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②A　效能歸因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污損是船殼還是螺旋槳？—— 分開才好排養護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 範例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96%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來自船殼污損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螺旋槳僅佔 4%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建議優先安排水下清潔（UWC），拋光次之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為何歸因船殼？</a:t>
            </a:r>
            <a:endParaRPr lang="en-US" sz="1050" dirty="0"/>
          </a:p>
          <a:p>
            <a:pPr marL="0" indent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單靠 Noon Report 無法物理拆分海流／天氣／引擎老化；我們以 Speed Loss 與維修事件的時間關聯推估主因，並用隔離區段量 k 漂移率拆船殼／螺旋槳（區段稀疏時退回標記過的 50/50，不假裝精準）。</a:t>
            </a:r>
            <a:endParaRPr lang="en-US" sz="10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給更多感測資料（天氣／扭矩／軸功率）→ 可升級為真正的 Attribution Model。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79415" cy="411480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誠實處理「純檢查」事件（UWI）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官方提示：純檢查（UWI）不清不拋，不該帶來效能改善。</a:t>
            </a:r>
            <a:endParaRPr lang="en-US" sz="12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我們的做法 — 兩個地方，兩種角色：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預測模型：污損時鐘在 UWI 不重置 → 模型不會幻覺出一段恢復（物理先驗放這裡）。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Dashboard：呈現實測 k 變化 + 信心，不宣稱「零變化」（稀疏資料上仍有雜訊，誠實顯示）。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②B + ④　油耗預測模型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在只給部分特徵下，還原被遮蔽的油耗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MT　RMSE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　MAPE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25780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102/102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5780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格提交 1:1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演算法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物理 baseline（k·STW³）→ 梯度提升樹（HistGBM）→ 依驗證擇優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特徵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STW/STW³/RPM/滑差 · 吃水載況 · 風浪湧水溫 · 污損時鐘（UWI 不重置）· 船型 W1/W2 · 燃料熱值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防漏答驗證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在可見船上模擬真實遮蔽（事件後合格日窗藏答案再評分）+ 跨船 GroupKFold，不用隨機 K-fold。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691640"/>
            <a:ext cx="4190695" cy="3657600"/>
          </a:xfrm>
          <a:prstGeom prst="roundRect">
            <a:avLst>
              <a:gd name="adj" fmla="val 2250"/>
            </a:avLst>
          </a:prstGeom>
          <a:solidFill>
            <a:srgbClr val="E8EFF4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635240" y="19202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刻意的簡單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331720"/>
            <a:ext cx="3639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我們試過更複雜的堆疊與單調約束——在防漏驗證上都沒贏過樸素 GBM baseline，於是資料驅動地選 baseline。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361188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「不 ship 比 baseline 差的模型」是原則，不是能力上限。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57200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提交標的：全速時段油耗總量（MT），以每小時率×全速時數還原。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presentation/img/wake-exhau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商務決策價值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同一個模型回答：污損正在多燒多少油？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反事實推論：把污損時鐘歸零重新預測，得到同航速下每天多耗的燃油噸數。只談噸數，不談金額。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82735" y="148132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9082735" y="1481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粗估 · 非正式數字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10911535" cy="3291840"/>
          </a:xfrm>
          <a:prstGeom prst="roundRect">
            <a:avLst>
              <a:gd name="adj" fmla="val 2500"/>
            </a:avLst>
          </a:prstGeom>
          <a:solidFill>
            <a:srgbClr val="12385C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945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可省比例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每日多耗燃油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信心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19456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24.4%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16.4 MT/日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680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HIGH · n=506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3666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S6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19456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25.1%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14.8 MT/日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680960" y="36667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LOW · 樣本不足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2194560" y="4453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52.3%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0" y="4453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40.1 MT/日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680960" y="4453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極端 · 692 天未清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決策支援，非自動指令：低信心→先做便宜的水下檢查；高信心且多耗油量大→建議清潔；最終由輪機主管拍板。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9144000" y="1005840"/>
            <a:ext cx="2926080" cy="29260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9758477" y="1620317"/>
            <a:ext cx="1697126" cy="169712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0314432" y="2176272"/>
            <a:ext cx="585216" cy="585216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9646920" y="1508760"/>
            <a:ext cx="1920240" cy="19202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10050170" y="1912010"/>
            <a:ext cx="1113739" cy="1113739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10415016" y="2276856"/>
            <a:ext cx="384048" cy="384048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457200" y="109728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0A2540">
              <a:alpha val="82000"/>
            </a:srgbClr>
          </a:solidFill>
          <a:ln/>
          <a:effectLst>
            <a:outerShdw blurRad="177800" dist="508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400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一個命題，五種上雲路徑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穩穩 demo，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也留得住未來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以已上線的 Fargate + ALB 為基準線穩定營運，用 EC2 保底、用 Serverless 與資料分析管線描繪從 15 艘到全艦隊的營運藍圖 — 讓數字站得住、決策留給人。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　</a:t>
            </a: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+ ALB + ECR + Bedrock (Claude Haiku) + SNS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　數字來自計算　語言來自 AI　決策留給人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5041</Words>
  <Application>Microsoft Macintosh PowerPoint</Application>
  <PresentationFormat>寬螢幕</PresentationFormat>
  <Paragraphs>796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6" baseType="lpstr">
      <vt:lpstr>Hiragino Sans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陽明海運 AI 船舶效能分析與節能決策</dc:title>
  <dc:subject>PptxGenJS Presentation</dc:subject>
  <dc:creator>FleetMind</dc:creator>
  <cp:lastModifiedBy>CHIHSHENG FENG</cp:lastModifiedBy>
  <cp:revision>3</cp:revision>
  <dcterms:created xsi:type="dcterms:W3CDTF">2026-07-16T04:46:42Z</dcterms:created>
  <dcterms:modified xsi:type="dcterms:W3CDTF">2026-07-16T05:59:38Z</dcterms:modified>
</cp:coreProperties>
</file>