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開場：FleetMind 用陽明 15 艘同型船 5 年正午報表，依 ISO 19030 (k=FOC/STW³) 偵測船體污損造成的 Speed Loss，做節能決策支援。最嚴重的 S11 有 21.8% Speed Loss（539 有效日）。這份簡報聚焦 AWS 架構：現行已在帳號 516665228894 / us-east-1 上線，並比較五種上雲方案的取捨。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這頁一次看懂：上方命題、中間現行五個核心服務、下方五種方案的定位。A 現行強化最穩、B Serverless 最雲原生、C App Runner 受帳號權限阻擋、D EC2 最省最保底、E 資料分析管線是企業級願景藍圖。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現行架構 Day1 已實測上線：Spring Boot 單服務同時服務 vanilla-JS 看板與 REST API，資料 build 時烤進映像，跑在 ECS Fargate(ARM64)，前置 ALB 給穩定 URL，Bedrock 出 AI 簡報並過 guardrail，SNS 發告警。選它的理由是導入風險最低、可交付性最高：單一部署單元、資料零外部相依，今天就已經穩定在跑。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前一頁是我們自己的畫法，這頁是 AWS 官方符號版：圖中每個資源組態與端點狀態，都在 2026-07-15 以 boto3 / curl 從帳號 516665228894、us-east-1 實際讀回，標「推導」「非讀回」者除外。路徑一條線看完：評審瀏覽器 → ALB fleetmind-alb（internet-facing、入站 tcp/80 來自 0.0.0.0/0、目標群組 fleetmind-tg → 172.31.65.255:8080、狀態 healthy）→ VPC vpc-0415efac81151722c 裡的 ECS Fargate task（叢集 fleetmind、服務 fleetmind-svc、任務定義 fleetmind-api:5、ARM64 / Linux、512 CPU / 1024 MiB、awsvpc、容器埠 8080、desiredCount 1）。task 往外接 Bedrock（us.anthropic.claude-haiku-4-5、Converse API，/ai-brief 過 AiBriefGuardrail.validate()）、SNS topic fleetmind-alerts、SES v2、CloudWatch Logs /fleetmind/api；映像從 ECR fleetmind-api 拉，real-metrics.json 在 build 時就烤進去。三件圖上直接標出來、不藏的事：① 請求路徑中沒有任何資料存放 —— S3 與 DynamoDB 都沒用到，Java 程式碼零參照；② SNS 目前 0 個訂閱，publish 會成功，但目前扇出到沒有任何人；③ 兩個子網都是公有、task 有公網 IP（assignPublicIp ENABLED，為了免 NAT gateway 也能拉 ECR），收口靠的是 security group fleetmind-sg 只放行來自 ALB SG 的 tcp/8080，不是靠 private subnet。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同一顆容器，把一次請求拆成三條路徑看，圖上只畫 2026-07-15 於帳號 516665228894 實際存在並經驗證的資源。(a) 讀取路徑：RealDataService 直接從映像內讀 real-metrics.json —— 無網路呼叫、無資料庫、無快取層，冷啟動當下就持有真實資料；/api/fleet/summary、/api/vessels/{id}/performance、/decision、/before-after、/underwater-events 全部由記憶體中的真實資料直接回應。資料規模是 15 艘船、2021–2025 noon reports，k = FOC / STW³（ISO 19030）。(b) AI 路徑：/api/vessels/{id}/ai-brief → Bedrock Converse → AiBriefGuardrail.validate() → 降級階梯：通過就回傳 AI 摘要並快取為 last-good；護欄驗證失敗改用快取的 last-good；連 last-good 都沒有時才走決定性 fallback。這條階梯就是「數字來自計算、語言來自 AI」的實作 —— AI 講錯話會被護欄擋下來，不會污染數字。(c) 告警路徑：門檻判定 S11 Speed Loss 21.8% 大於門檻 10%（門檻走 /api/config/threshold 可調）→ /api/alerts/notify，SNS 與 SES 同時送出。誠實補充圖上也寫了：SNS 目前訂閱數 0，publish 成功但不會送達任何人；今天真正把告警送到收件匣的，是 SES 這條路徑。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A 是現行架構的正式化：把 demo 臨時做法收斂為 ECS Service 常駐 + 健檢自動重拉。它與已上線一致、可靠度最高，是導入風險最低的基準線。代價是非資料驅動、無 BI、架構保守，長期擴展要再往 B/E 演進。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B 最雲原生：拆成 API Gateway + Lambda + DynamoDB + S3 + EventBridge，天生資料驅動、零閒置成本，擴展性最強。但拆分工作量大、Java Lambda 冷啟風險、本機難重現，適合有工程餘裕、要一次把資料驅動做到位時。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C 架構上最省心：同一顆映像交給 App Runner 全託管，免碰 ALB/VPC。但本 workshop 帳號實測 App Runner 被 AccessDenied，是決定性阻斷，故只能列為對照 / 賽後方案。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D 是保底路線：一台 EC2 + Docker + Elastic IP，最省最可控，且帳號 EC2 已實測可用，是 ALB/App Runner 都受阻時一定跑得起來的後手。代價是自管 OS、單點故障、HTTPS 要自己配。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E 是企業級願景藍圖：S3 data lake + Glue ETL + Athena/Timestream + QuickSight BI + Bedrock/SageMaker 預測 + 未來 IoT Core 遙測。它不宜當 Day3 實跑主線，但作為架構故事線與企業資料應用說明極具說服力。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資安採縱深防禦：① 邊緣 Shield 擋 DDoS + WAF 過濾 L7；② VPC 收斂 — ALB 是唯一對外入口，ECS task 的 SG 只放行 ALB SG 的 8080（實測：直打 task 公網 IP 已 timeout，走 ALB 仍 200）。誠實補充：兩個子網都是公有、task 仍有公網 IP（無 NAT 要拉 ECR），收口靠的是 SG 不是子網；③ 帳號級 GuardDuty 威脅偵測 + CloudTrail 稽核；④ 機密與加密 — Secrets Manager 託管憑證、KMS 金鑰加密、IAM 職責分離（execution role 拉 ECR/寫 log、task role 只有 Bedrock/SNS/SES；動作已收斂，SNS 綁單一 topic ARN，Bedrock 與 SES 仍為 Resource *）。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前一頁說「IAM 職責分離」可當場驗、且不宣稱全程最小權限 —— 這頁是那句話的圖證，2026-07-15 自帳號讀回。上半兩個角色，trust policy 都是 ecs-tasks.amazonaws.com：執行角色 fleetmind-ecs-exec 由 ECS agent 使用，掛 AWS 受管政策 AmazonECSTaskExecutionRolePolicy，負責拉 ECR 映像與寫 CloudWatch Logs —— 應用程式取不到這組憑證。任務角色 fleetmind-ecs-task 才是容器內應用程式的執行期身分，三條 inline 政策：fleetmind-ecs-task-inline（bedrock:InvokeModel 與 InvokeModelWithResponseStream）、fleetmind-ecs-task-sns（sns:Publish）、fleetmind-ses-send（ses:SendEmail、ses:SendRawEmail）。角色分離是真的最小權限收穫：應用程式永遠不能拉映像，也不能寫自己的 log group。但誠實框架就印在圖右邊 —— 三條政策裡只有 SNS 那條把 Resource 釘死到單一 topic ARN arn:aws:sns:us-east-1:516665228894:fleetmind-alerts，Bedrock 與 SES 兩條仍是萬用字元 *，未縮小到資源層級。所以正確說法是「動作已收斂、一個資源釘死、兩個仍是萬用字元」，不是「最小權限」。下半是網路權限邊界：任務 SG 先前入站為 0.0.0.0/0，任務以公網 IP 直接對外應答，curl http://98.92.30.118:8080/api/health 已證明回 200；改為只放行 ALB SG 之後，同一支 curl 逾時，而 ALB 仍回 200 —— 這兩支 curl 評審要驗當場就能驗。任務仍有公網 IP（assignPublicIp ENABLED，為了不架 NAT gateway 也能從 ECR 拉映像），所以不是 private subnet、也不是沒有公網 IP；正確說法是 public subnet + public IP，但 SG 只放行 ALB。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開場先講清楚：這一頁是設計，不是現況——全部還沒有蓋。實查帳號：Route 53 hosted zone 0、DynamoDB 0 張表、EventBridge 0 條規則、S3 0 個 bucket；而且本次 workshop 帳號連跨區都不允許，ap-northeast-1 的 ECS 與 ECR 直接回 AccessDenied，所以這條路在比賽帳號上走不了。/ 設計本身：不同國家船務端經 Route 53 地理/延遲路由就近接入，兩區域皆 active，各自 ALB→ECS + DynamoDB；Global Tables 雙向複製、S3 CRR 備份、EventBridge 跨區匯總告警 → SNS/SES；健康檢查失敗自動 failover，RPO≈0。/ 為什麼今天沒有它：現行把 real-metrics.json 烤進映像、請求路徑上沒有資料存放層，沒有東西可以跨區複製——多區域的前提是先把狀態外置到 DynamoDB。而且 3 天內無法演練 failover，未經演練的災備等於沒有。落地順序：狀態外置 → 單區多 AZ（ALB 已跨 1d/1f）→ 再談雙區。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比較表沿六個維度（運算 / 入口 / 閒置成本 / 維運 / 冷啟 / 落地可行性）排列五案，highlight 現行方案 A。結論：A 為主線、D 為保底、B/E 為演進方向、C 受阻。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路線圖：Phase 0 現行 15 艘 demo；Phase 1 補資料驅動三扇門（系統介接 ingest API、檔案上傳 CSV/xlsx、後台設定門檻/通道/燃料對應）；Phase 2 擴到全艦隊 + Serverless + QuickSight/Athena BI；Phase 3 IoT Core 即時遙測 + SageMaker 預測，走向近即時偵測。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決策級聯把架構連到產品輸出：Speed Loss 相對可調門檻分三態 — 正常(綠,持續監測) / 注意(黃,進 review 佇列+Bedrock 證據簡報) / 行動(紅,SNS 告警+人安排清洗)。例子用真實資料：S23 8.9%(n=506,HIGH) 屬注意；S11 21.8%(539 有效日,691 天未清,priority 1) 屬行動。門檻與通道皆可調，最後一步留給人。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現場導覽：三個入口都掛在同一顆 Fargate 容器 / 同一個 ALB 靜態網域。/ 首頁講命題與方法、/dashboard.html 是 15 艘決策看板（Speed Loss 排序 + 證據 + AI 簡報 + 可調門檻）、/architecture.html 是架構互動版。task 重啟不換 IP，現場可安心直接打開。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收尾：現行 Fargate + ALB 是穩定的導入基準線；EC2 保底、Serverless 與資料分析管線是未來營運藍圖。Live URL 可現場打開。一句話願景：讓數字站得住、決策留給人。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hero-daw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4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868680"/>
            <a:ext cx="7132320" cy="3703320"/>
          </a:xfrm>
          <a:prstGeom prst="roundRect">
            <a:avLst>
              <a:gd name="adj" fmla="val 2963"/>
            </a:avLst>
          </a:prstGeom>
          <a:solidFill>
            <a:srgbClr val="0A2540">
              <a:alpha val="82000"/>
            </a:srgbClr>
          </a:solidFill>
          <a:ln/>
          <a:effectLst>
            <a:outerShdw sx="100000" sy="100000" kx="0" ky="0" algn="bl" rotWithShape="0" blurRad="177800" dist="50800" dir="5400000">
              <a:srgbClr val="04101B">
                <a:alpha val="5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229600" y="1097280"/>
            <a:ext cx="2468880" cy="246888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48065" y="1615745"/>
            <a:ext cx="1431950" cy="143195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17152" y="2084832"/>
            <a:ext cx="493776" cy="493776"/>
          </a:xfrm>
          <a:prstGeom prst="ellipse">
            <a:avLst/>
          </a:prstGeom>
          <a:solidFill>
            <a:srgbClr val="1B4D74"/>
          </a:solidFill>
          <a:ln/>
        </p:spPr>
      </p:sp>
      <p:sp>
        <p:nvSpPr>
          <p:cNvPr id="8" name="Shape 5"/>
          <p:cNvSpPr/>
          <p:nvPr/>
        </p:nvSpPr>
        <p:spPr>
          <a:xfrm>
            <a:off x="8641080" y="1508760"/>
            <a:ext cx="1645920" cy="164592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86723" y="1854403"/>
            <a:ext cx="954634" cy="954634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299448" y="2167128"/>
            <a:ext cx="329184" cy="329184"/>
          </a:xfrm>
          <a:prstGeom prst="ellipse">
            <a:avLst/>
          </a:prstGeom>
          <a:solidFill>
            <a:srgbClr val="1B4D74"/>
          </a:solidFill>
          <a:ln/>
        </p:spPr>
      </p:sp>
      <p:sp>
        <p:nvSpPr>
          <p:cNvPr id="11" name="Shape 8"/>
          <p:cNvSpPr/>
          <p:nvPr/>
        </p:nvSpPr>
        <p:spPr>
          <a:xfrm>
            <a:off x="7635240" y="137160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52400" dist="50800" dir="5400000">
              <a:srgbClr val="05121F">
                <a:alpha val="5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18120" y="1165860"/>
            <a:ext cx="1097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 =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823960" y="164592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FOC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8915400" y="2331720"/>
            <a:ext cx="21031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23960" y="239572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STW³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726680" y="3200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ISO 19030 · 船體效能指標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10515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4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 · AWS ARCHITECTURE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0080" y="146304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 架構藍圖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與五種上雲路徑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640080" y="3154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一套船舶效能決策系統 — 從已上線的 Fargate demo 到全艦隊營運平台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40080" y="3977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數字來自計算　語言來自 AI　決策留給人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080" y="4709160"/>
            <a:ext cx="10911535" cy="1097280"/>
          </a:xfrm>
          <a:prstGeom prst="roundRect">
            <a:avLst>
              <a:gd name="adj" fmla="val 833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32688" y="4873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艘 × 5 年</a:t>
            </a:r>
            <a:endParaRPr lang="en-US" sz="3300" dirty="0"/>
          </a:p>
        </p:txBody>
      </p:sp>
      <p:sp>
        <p:nvSpPr>
          <p:cNvPr id="23" name="Text 20"/>
          <p:cNvSpPr/>
          <p:nvPr/>
        </p:nvSpPr>
        <p:spPr>
          <a:xfrm>
            <a:off x="932688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同型船 · 2021–2025 正午報表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389120" y="4873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21.8%</a:t>
            </a:r>
            <a:endParaRPr lang="en-US" sz="3300" dirty="0"/>
          </a:p>
        </p:txBody>
      </p:sp>
      <p:sp>
        <p:nvSpPr>
          <p:cNvPr id="25" name="Text 22"/>
          <p:cNvSpPr/>
          <p:nvPr/>
        </p:nvSpPr>
        <p:spPr>
          <a:xfrm>
            <a:off x="4389120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S11 最嚴重 Speed Loss · 539 有效日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845552" y="4873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Day1 上線</a:t>
            </a:r>
            <a:endParaRPr lang="en-US" sz="3300" dirty="0"/>
          </a:p>
        </p:txBody>
      </p:sp>
      <p:sp>
        <p:nvSpPr>
          <p:cNvPr id="27" name="Text 24"/>
          <p:cNvSpPr/>
          <p:nvPr/>
        </p:nvSpPr>
        <p:spPr>
          <a:xfrm>
            <a:off x="7845552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帳號 516665228894 · us-east-1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261104" y="4919472"/>
            <a:ext cx="0" cy="713232"/>
          </a:xfrm>
          <a:prstGeom prst="line">
            <a:avLst/>
          </a:prstGeom>
          <a:noFill/>
          <a:ln w="12700">
            <a:solidFill>
              <a:srgbClr val="1B4D7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17536" y="4919472"/>
            <a:ext cx="0" cy="713232"/>
          </a:xfrm>
          <a:prstGeom prst="line">
            <a:avLst/>
          </a:prstGeom>
          <a:noFill/>
          <a:ln w="12700">
            <a:solidFill>
              <a:srgbClr val="1B4D7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" y="5870448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4400" y="5870448"/>
            <a:ext cx="10362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Live　</a:t>
            </a:r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http://fleetmind-alb-330672315.us-east-1.elb.amazonaws.com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globe-netwo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ONE-PAGER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一頁看懂：一個命題、一套現行架構、五種方案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81328"/>
            <a:ext cx="10911535" cy="987552"/>
          </a:xfrm>
          <a:prstGeom prst="roundRect">
            <a:avLst>
              <a:gd name="adj" fmla="val 8333"/>
            </a:avLst>
          </a:prstGeom>
          <a:solidFill>
            <a:srgbClr val="0A2540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60120" y="1481328"/>
            <a:ext cx="1027145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命題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艘同型船、5 年正午報表，依 ISO 19030 以 k=FOC/STW³ 偵測船體污損 Speed Loss，把「何時清、值不值、省多少」變成可計算、可解釋、人可拍板的決策支援。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670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現行架構（已部署）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464229" y="3127248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64229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 Fargate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ARM64 容器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644993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873593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97742" y="3127248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97742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919313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919313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靜態 URL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878507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107107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931256" y="3127248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31256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152827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52827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映像倉庫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112020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7340620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164769" y="3127248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164769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386340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386340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Haiku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9345534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9574134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10398282" y="3127248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398282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9619854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619854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告警扇出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40080" y="40416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五種上雲方案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640080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1347186" y="4544568"/>
            <a:ext cx="548640" cy="548640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347186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685800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現行強化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685800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Fargate + ALB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877251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584357" y="4544568"/>
            <a:ext cx="548640" cy="54864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584357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</a:t>
            </a:r>
            <a:endParaRPr lang="en-US" sz="2400" dirty="0"/>
          </a:p>
        </p:txBody>
      </p:sp>
      <p:sp>
        <p:nvSpPr>
          <p:cNvPr id="53" name="Text 50"/>
          <p:cNvSpPr/>
          <p:nvPr/>
        </p:nvSpPr>
        <p:spPr>
          <a:xfrm>
            <a:off x="2922971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 Serverless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2922971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APIGW + Lambda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5114422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5821528" y="4544568"/>
            <a:ext cx="548640" cy="548640"/>
          </a:xfrm>
          <a:prstGeom prst="ellipse">
            <a:avLst/>
          </a:prstGeom>
          <a:solidFill>
            <a:srgbClr val="5A6B7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821528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</a:t>
            </a:r>
            <a:endParaRPr lang="en-US" sz="2400" dirty="0"/>
          </a:p>
        </p:txBody>
      </p:sp>
      <p:sp>
        <p:nvSpPr>
          <p:cNvPr id="58" name="Text 55"/>
          <p:cNvSpPr/>
          <p:nvPr/>
        </p:nvSpPr>
        <p:spPr>
          <a:xfrm>
            <a:off x="5160142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 Runner</a:t>
            </a:r>
            <a:endParaRPr lang="en-US" sz="1250" dirty="0"/>
          </a:p>
        </p:txBody>
      </p:sp>
      <p:sp>
        <p:nvSpPr>
          <p:cNvPr id="59" name="Text 56"/>
          <p:cNvSpPr/>
          <p:nvPr/>
        </p:nvSpPr>
        <p:spPr>
          <a:xfrm>
            <a:off x="5160142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零 infra（受阻）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7351593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058699" y="4544568"/>
            <a:ext cx="548640" cy="548640"/>
          </a:xfrm>
          <a:prstGeom prst="ellipse">
            <a:avLst/>
          </a:prstGeom>
          <a:solidFill>
            <a:srgbClr val="2F6E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058699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</a:t>
            </a:r>
            <a:endParaRPr lang="en-US" sz="2400" dirty="0"/>
          </a:p>
        </p:txBody>
      </p:sp>
      <p:sp>
        <p:nvSpPr>
          <p:cNvPr id="63" name="Text 60"/>
          <p:cNvSpPr/>
          <p:nvPr/>
        </p:nvSpPr>
        <p:spPr>
          <a:xfrm>
            <a:off x="7397313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EC2 + Docker</a:t>
            </a:r>
            <a:endParaRPr lang="en-US" sz="1250" dirty="0"/>
          </a:p>
        </p:txBody>
      </p:sp>
      <p:sp>
        <p:nvSpPr>
          <p:cNvPr id="64" name="Text 61"/>
          <p:cNvSpPr/>
          <p:nvPr/>
        </p:nvSpPr>
        <p:spPr>
          <a:xfrm>
            <a:off x="7397313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最省保底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9588764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10295870" y="4544568"/>
            <a:ext cx="548640" cy="548640"/>
          </a:xfrm>
          <a:prstGeom prst="ellipse">
            <a:avLst/>
          </a:prstGeom>
          <a:solidFill>
            <a:srgbClr val="F4A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029587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</a:t>
            </a:r>
            <a:endParaRPr lang="en-US" sz="2400" dirty="0"/>
          </a:p>
        </p:txBody>
      </p:sp>
      <p:sp>
        <p:nvSpPr>
          <p:cNvPr id="68" name="Text 65"/>
          <p:cNvSpPr/>
          <p:nvPr/>
        </p:nvSpPr>
        <p:spPr>
          <a:xfrm>
            <a:off x="9634484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資料分析管線</a:t>
            </a:r>
            <a:endParaRPr lang="en-US" sz="1250" dirty="0"/>
          </a:p>
        </p:txBody>
      </p:sp>
      <p:sp>
        <p:nvSpPr>
          <p:cNvPr id="69" name="Text 66"/>
          <p:cNvSpPr/>
          <p:nvPr/>
        </p:nvSpPr>
        <p:spPr>
          <a:xfrm>
            <a:off x="9634484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 + BI + ML 未來式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 是已上線基準線；E 是全艦隊願景路線圖；B / C / D 是中間的取捨光譜。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rver-r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DEPLOYED · DAY1 實測上線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現行架構：ECS Fargate + ALB 單服務容器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 ★ 最高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152704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存取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807208" y="1481328"/>
            <a:ext cx="1783080" cy="1965960"/>
          </a:xfrm>
          <a:prstGeom prst="roundRect">
            <a:avLst>
              <a:gd name="adj" fmla="val 5128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80360" y="152704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入口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91456" y="1481328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64608" y="1527048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執行 · 映像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507224" y="1481328"/>
            <a:ext cx="4044391" cy="1965960"/>
          </a:xfrm>
          <a:prstGeom prst="roundRect">
            <a:avLst>
              <a:gd name="adj" fmla="val 4651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80376" y="1527048"/>
            <a:ext cx="38980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· 通知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77240" y="2185416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14400" y="2382012"/>
            <a:ext cx="384048" cy="384048"/>
          </a:xfrm>
          <a:prstGeom prst="ellipse">
            <a:avLst/>
          </a:prstGeom>
          <a:solidFill>
            <a:srgbClr val="8FA8B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2372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GET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399032" y="2231136"/>
            <a:ext cx="97840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評審 / 瀏覽器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399032" y="2631186"/>
            <a:ext cx="97840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 請求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916936" y="2185416"/>
            <a:ext cx="1563624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054096" y="2382012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54096" y="2372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538728" y="2231136"/>
            <a:ext cx="850392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538728" y="2631186"/>
            <a:ext cx="85039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靜態 URL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928616" y="1865376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065776" y="2039112"/>
            <a:ext cx="384048" cy="384048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65776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550408" y="1911096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 Fargate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550408" y="2286000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ARM64 · :8080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928616" y="2779776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065776" y="2871216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65776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550408" y="2825496"/>
            <a:ext cx="152704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550408" y="3109874"/>
            <a:ext cx="152704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映像 · 資料烤入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7616952" y="1865376"/>
            <a:ext cx="3824935" cy="658368"/>
          </a:xfrm>
          <a:prstGeom prst="roundRect">
            <a:avLst>
              <a:gd name="adj" fmla="val 11111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7754112" y="2002536"/>
            <a:ext cx="384048" cy="384048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75411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8238744" y="1911096"/>
            <a:ext cx="3111703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 · Claude Haiku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8238744" y="2245766"/>
            <a:ext cx="3111703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Converse · guardrail 驗 cited 數值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616952" y="2688336"/>
            <a:ext cx="3824935" cy="658368"/>
          </a:xfrm>
          <a:prstGeom prst="roundRect">
            <a:avLst>
              <a:gd name="adj" fmla="val 11111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754112" y="2825496"/>
            <a:ext cx="384048" cy="384048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75411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238744" y="2734056"/>
            <a:ext cx="3111703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 · fleetmind-alerts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238744" y="3068726"/>
            <a:ext cx="3111703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告警扇出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2487168" y="2578608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4498848" y="2578608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6048756" y="2761488"/>
            <a:ext cx="0" cy="-146304"/>
          </a:xfrm>
          <a:prstGeom prst="line">
            <a:avLst/>
          </a:prstGeom>
          <a:noFill/>
          <a:ln w="22225">
            <a:solidFill>
              <a:srgbClr val="F4A72B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7187184" y="2231136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7187184" y="2962656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640080" y="3675888"/>
            <a:ext cx="5349240" cy="365760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60" name="Text 57"/>
          <p:cNvSpPr/>
          <p:nvPr/>
        </p:nvSpPr>
        <p:spPr>
          <a:xfrm>
            <a:off x="640080" y="367588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　exec role 拉 ECR · task role 授 Bedrock + SNS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6172200" y="3675888"/>
            <a:ext cx="5379415" cy="365760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62" name="Text 59"/>
          <p:cNvSpPr/>
          <p:nvPr/>
        </p:nvSpPr>
        <p:spPr>
          <a:xfrm>
            <a:off x="6172200" y="3675888"/>
            <a:ext cx="5379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CloudWatch Logs　/fleetmind/api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640080" y="4224528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4" name="Text 61"/>
          <p:cNvSpPr/>
          <p:nvPr/>
        </p:nvSpPr>
        <p:spPr>
          <a:xfrm>
            <a:off x="868680" y="4370832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資料流</a:t>
            </a:r>
            <a:endParaRPr lang="en-US" sz="1400" dirty="0"/>
          </a:p>
        </p:txBody>
      </p:sp>
      <p:sp>
        <p:nvSpPr>
          <p:cNvPr id="65" name="Text 62"/>
          <p:cNvSpPr/>
          <p:nvPr/>
        </p:nvSpPr>
        <p:spPr>
          <a:xfrm>
            <a:off x="868680" y="4700016"/>
            <a:ext cx="48156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離線　core-calc 讀 15 船 2021–2025 正午報表，跑 ISO 19030 k 與品質旗標 → MetricsExportCli 產 real-metrics.json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Build　Dockerfile COPY real-metrics.json 一起打包 jar → 推 ECR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Runtime　評審 → ALB → Fargate 回決策看板 + REST：/fleet/summary、/vessels/{id}/decision、/config/threshold…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簡報　/ai-brief → Bedrock Converse → guardrail 驗 cited 數值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　門檻跨越 → /alerts/notify → SNS Publish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6324448" y="4224528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6553048" y="4370832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為什麼是它 — demo 風險最低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6553048" y="4700016"/>
            <a:ext cx="48156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單一部署單元、單一 codebase，3 天內最好 debug 與彩排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資料烤進映像＝零外部資料相依，冷啟即有真資料（repo 不含企業資料）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 給穩定 URL，task 重啟換 IP 不會讓 live demo 連結失效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 + SNS 已實測打通，Email 告警與可調門檻需求已滿足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ARM64 Fargate 成本低、免管 EC2 / OS patch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rver-r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7" name="Text 4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37744"/>
            <a:ext cx="9448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ARCHITECTURE · 實帳號快照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38912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 官方符號版：現行架構逐項對過真實帳號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30072" y="859536"/>
            <a:ext cx="10131552" cy="5779008"/>
          </a:xfrm>
          <a:prstGeom prst="roundRect">
            <a:avLst>
              <a:gd name="adj" fmla="val 949"/>
            </a:avLst>
          </a:prstGeom>
          <a:solidFill>
            <a:srgbClr val="FFFFFF"/>
          </a:solidFill>
          <a:ln w="12700">
            <a:solidFill>
              <a:srgbClr val="CBD8E2"/>
            </a:solidFill>
            <a:prstDash val="solid"/>
          </a:ln>
          <a:effectLst>
            <a:outerShdw sx="100000" sy="100000" kx="0" ky="0" algn="bl" rotWithShape="0" blurRad="228600" dist="63500" dir="5400000">
              <a:srgbClr val="04101B">
                <a:alpha val="55000"/>
              </a:srgbClr>
            </a:outerShdw>
          </a:effectLst>
        </p:spPr>
      </p:sp>
      <p:pic>
        <p:nvPicPr>
          <p:cNvPr id="11" name="Image 1" descr="/Users/fengchihsheng/Documents/AI_work/fleetmind-yang-ming-hackathon/apps/api/src/main/resources/static/img/diagrams/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12" y="950976"/>
            <a:ext cx="994867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data-flo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7" name="Text 4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37744"/>
            <a:ext cx="9448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DATA FLOW · 讀取 / AI / 告警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38912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一次請求的三條路徑，與 AI 的降級階梯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30072" y="859536"/>
            <a:ext cx="10131552" cy="5779008"/>
          </a:xfrm>
          <a:prstGeom prst="roundRect">
            <a:avLst>
              <a:gd name="adj" fmla="val 949"/>
            </a:avLst>
          </a:prstGeom>
          <a:solidFill>
            <a:srgbClr val="FFFFFF"/>
          </a:solidFill>
          <a:ln w="12700">
            <a:solidFill>
              <a:srgbClr val="CBD8E2"/>
            </a:solidFill>
            <a:prstDash val="solid"/>
          </a:ln>
          <a:effectLst>
            <a:outerShdw sx="100000" sy="100000" kx="0" ky="0" algn="bl" rotWithShape="0" blurRad="228600" dist="63500" dir="5400000">
              <a:srgbClr val="04101B">
                <a:alpha val="55000"/>
              </a:srgbClr>
            </a:outerShdw>
          </a:effectLst>
        </p:spPr>
      </p:sp>
      <p:pic>
        <p:nvPicPr>
          <p:cNvPr id="11" name="Image 1" descr="/Users/fengchihsheng/Documents/AI_work/fleetmind-yang-ming-hackathon/apps/api/src/main/resources/static/img/diagrams/data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12" y="950976"/>
            <a:ext cx="994867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hip-dus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A · 現行強化版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維持 Fargate + ALB + Bedrock + SNS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 ★ 最高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沿用現行單服務容器，把 demo 臨時做法收斂為正式 ECS Service（desiredCount 維持、健檢失敗自動重拉）。五案之中可交付性最高、導入風險最低的基準線。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00963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0096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 Service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Fargate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常駐 · 自動重拉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31846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492197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53080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530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537917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537917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靜態 URL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17057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4344314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005197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0519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390034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390034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arm64 映像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022696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196432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857314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57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242152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242152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Haiku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87481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8048549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8709431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709431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094269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094269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972693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9900666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10561549" y="2542032"/>
            <a:ext cx="329184" cy="329184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56154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CW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9946386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CloudWatch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Alarms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9946386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日誌 + 健康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</p:sp>
      <p:sp>
        <p:nvSpPr>
          <p:cNvPr id="56" name="Shape 53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7" name="Text 54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與已上線架構一致，Day3 重跑成本最低、最可靠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 codebase 好維護、好彩排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 靜態 URL 解決臨時 IP 問題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 / SNS 已實測，Email + 門檻需求即刻滿足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</p:sp>
      <p:sp>
        <p:nvSpPr>
          <p:cNvPr id="61" name="Shape 58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2" name="Text 59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非資料驅動，更新資料要重 build / 重部署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 BI 自助分析層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VPC / ALB / 雙 IAM 設定較多，臨時憑證到期需重跑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架構保守：未含資料層與自助分析，長期擴展需再演進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首要目標是穩穩 demo、時間有限、要把工程師的 Email／告警／可調門檻需求確定交付時的預設選擇。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cloud-abstrac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B · 全 SERVERLESS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66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 Gateway + Lambda + DynamoDB（資料驅動）</a:t>
            </a:r>
            <a:endParaRPr lang="en-US" sz="3066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極低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BE7C2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 中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把單服務拆成 API Gateway + Lambda 後端、S3 托管前端與原始報表、DynamoDB 存 metrics 與門檻、EventBridge 排程重算。零常駐、按呼叫計費、天生資料驅動。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168669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6866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Gateway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 API 入口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05387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227609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56198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5619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λ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273329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Lambda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Java 21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2273329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無狀態運算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641402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3815138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43727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4372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860858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860858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靜態站 + raw 報表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22893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5402667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931256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3125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DB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448387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DynamoDB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48387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metrics / 門檻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81646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6990196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518785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518785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EVT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035916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EventBridge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7035916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排程重算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8403989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8577725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9106314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06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8623445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623445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簡報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999151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10165254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693843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69384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SES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0210974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SES / SNS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10210974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Email 告警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</p:sp>
      <p:sp>
        <p:nvSpPr>
          <p:cNvPr id="62" name="Shape 59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3" name="Text 60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天生資料驅動：新報表進 S3 自動重算，命中 15→97 艘敘事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按呼叫計費、零閒置成本、自動擴縮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EventBridge 排程 + SES Email 直接命中告警需求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各 handler 解耦，單點改動不動全局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</p:sp>
      <p:sp>
        <p:nvSpPr>
          <p:cNvPr id="67" name="Shape 64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8" name="Text 65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monolith 拆多 Lambda + IaC，3 天工作量與整合風險大增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Java Lambda 冷啟延遲可能拖慢 demo 首打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本機難完整重現 APIGW+Lambda+DynamoDB，除錯較難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元件變多，臨時憑證下佈署面更廣、易出錯</a:t>
            </a:r>
            <a:endParaRPr lang="en-US" sz="1150" dirty="0"/>
          </a:p>
        </p:txBody>
      </p:sp>
      <p:sp>
        <p:nvSpPr>
          <p:cNvPr id="70" name="Shape 67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要強調資料驅動、自動擴縮與『15→97 艘同架構』，且團隊有把握在時限內完成拆分與整合時。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network-gri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C · APP RUNNER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6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全託管容器，零 infra（本次受帳號權限阻擋）</a:t>
            </a:r>
            <a:endParaRPr lang="en-US" sz="3560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低-中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7DAD1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 低 · 受阻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同一顆 Spring Boot 映像改由 App Runner 從 ECR 拉起，AWS 全託管 HTTPS / 負載平衡 / 自動擴縮，免自建 ALB/VPC/SG。惟本 workshop 帳號 App Runner 實測 AccessDenied，只能列對照。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456914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569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 Runner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全託管 · HTTPS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630363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877251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94085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94085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922971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922971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同一顆 arm64 映像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867534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114422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931256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3125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160142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160142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簡報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104705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7351593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168427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16842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397313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397313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9341876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9588764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10405598" y="2542032"/>
            <a:ext cx="329184" cy="329184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40559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9634484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9634484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access / instance role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</p:sp>
      <p:sp>
        <p:nvSpPr>
          <p:cNvPr id="50" name="Shape 47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1" name="Text 48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管理面最少：免 ALB/VPC/SG/target group，設定步驟最短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沿用同一映像與 codebase，遷移成本近零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內建 HTTPS + 穩定網域 + 自動擴縮，demo URL 天生穩定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維持單服務好除錯特性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</p:sp>
      <p:sp>
        <p:nvSpPr>
          <p:cNvPr id="55" name="Shape 52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6" name="Text 53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 workshop 帳號 App Runner AccessDenied → 決定性阻斷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與 Fargate 一樣非資料驅動、更新要重 build 映像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客製網路 / 私有子網彈性不如 ECS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 / 映像限制較多，遇權限問題無替代路徑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帳號放行 App Runner、想用最少 infra 步驟托管同一顆容器、不想碰 ALB/VPC 時（本次因 AccessDenied 不建議作主線）。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rver-r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09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D · EC2 + DOCKER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44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單台虛機 docker run，最省最可控的保底路線</a:t>
            </a:r>
            <a:endParaRPr lang="en-US" sz="3544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最低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BE7C2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 中 · 保底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開一台 EC2（Graviton t4g / x86），docker run 同一顆映像，綁 Elastic IP 得固定位址，安全群組開 8080/443。完全掌控 OS / 網路 / 生命週期，成本壓到最低，無託管服務依賴。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00963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0096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EC2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Graviton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docker run 容器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31846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492197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53080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530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537917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Elastic IP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537917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固定公網位址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17057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4344314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005197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0519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390034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 /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本機映像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390034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pull 或 docker load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022696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196432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857314" y="2542032"/>
            <a:ext cx="329184" cy="329184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57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SG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242152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Security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Group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242152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開 8080/443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87481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8048549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8709431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709431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8094269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094269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instance role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972693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9900666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10561549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56154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9946386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9946386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</p:sp>
      <p:sp>
        <p:nvSpPr>
          <p:cNvPr id="56" name="Shape 53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7" name="Text 54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成本最低、最可控：一台機器全包，無託管服務加價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Elastic IP 給固定位址，重啟不換 IP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本機 docker 行為與 EC2 幾乎一致，除錯最直覺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 App Runner/ALB 權限依賴，帳號 EC2 已實測可用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</p:sp>
      <p:sp>
        <p:nvSpPr>
          <p:cNvPr id="61" name="Shape 58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2" name="Text 59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要自管 OS patch / Docker / 重啟 / 健康監控，無自動復原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單台＝單點故障，掛了 demo 就斷（需手動重拉）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HTTPS 要自己配（反代 / 憑證），比 ALB 麻煩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非資料驅動、無自動擴縮，擴展敘事最弱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要極致省成本、完全掌控，或托管服務權限受阻時，需要一條一定跑得起來的保底部署。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data-flo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E · 完整資料分析管線（未來式）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45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 Lake → ETL → Athena/Timestream → App + BI + ML</a:t>
            </a:r>
            <a:endParaRPr lang="en-US" sz="2545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中高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BE7C2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 低 · 藍圖高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企業級藍圖：正午報表落 S3 data lake，Glue/Lambda ETL 清洗換算，Athena（批量）/ Timestream（時序）查詢，App 供決策看板，QuickSight 自助 BI，Bedrock/SageMaker 預測，未來接 IoT Core 收船端遙測。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168669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6866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Data Lake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raw / curated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05387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227609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56198" y="2542032"/>
            <a:ext cx="329184" cy="329184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5619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ETL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273329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Glue /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Lambda ETL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2273329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ISO 19030 換算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641402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3815138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43727" y="2542032"/>
            <a:ext cx="329184" cy="329184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4372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SQL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860858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Athena /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Timestream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860858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SQL / 時序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22893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5402667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931256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3125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448387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Spring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Boot App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448387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決策看板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81646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6990196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518785" y="2542032"/>
            <a:ext cx="329184" cy="329184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518785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BI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7035916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QuickSight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7035916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自助 BI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8403989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8577725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9106314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06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ML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8623445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 /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SageMaker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8623445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簡報 + 預測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999151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10165254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693843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69384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IoT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0210974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IoT Core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10210974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未來遙測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</p:sp>
      <p:sp>
        <p:nvSpPr>
          <p:cNvPr id="62" name="Shape 59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3" name="Text 60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最完整企業級藍圖，涵蓋企業資料應用與 15→97 艘擴展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資料驅動 + BI 自助分析 + 預測 + 即時遙測，長期營運價值最高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 單一資料源、分層清晰，符合資料治理與封存要求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Athena/Timestream/QuickSight 全託管，長期可營運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</p:sp>
      <p:sp>
        <p:nvSpPr>
          <p:cNvPr id="67" name="Shape 64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8" name="Text 65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元件最多、整合最重，導入期最長，只能分階段落地 + 局部 PoC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SageMaker / IoT Core 屬 stretch，需船端遙測到位才有價值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多查詢 / BI 層學習與設定成本高，需專責維運人力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相對當前需求過度工程，先期投入短期難回收</a:t>
            </a:r>
            <a:endParaRPr lang="en-US" sz="1150" dirty="0"/>
          </a:p>
        </p:txBody>
      </p:sp>
      <p:sp>
        <p:nvSpPr>
          <p:cNvPr id="70" name="Shape 67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要展示從 15 艘試點到全艦隊營運平台的完整演進路線圖、規劃中長期資料資產布局，而非近期就要落地時。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curity-so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SECURITY · 現況與規劃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資安：已收口的入口 + 規劃中的縱深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63040"/>
            <a:ext cx="10911535" cy="493776"/>
          </a:xfrm>
          <a:prstGeom prst="roundRect">
            <a:avLst>
              <a:gd name="adj" fmla="val 12963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1463040"/>
            <a:ext cx="1050919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縱深防禦是目標；這頁把「已經在跑的」和「還沒做的」分開講。入口已用 SG 收成 ALB 單點、IAM 已職責分離 — 這兩項可當場驗。其餘是下一步。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2103120"/>
            <a:ext cx="10911535" cy="1755648"/>
          </a:xfrm>
          <a:prstGeom prst="roundRect">
            <a:avLst>
              <a:gd name="adj" fmla="val 5208"/>
            </a:avLst>
          </a:prstGeom>
          <a:solidFill>
            <a:srgbClr val="0A2540">
              <a:alpha val="82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2212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已實作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11680" y="2212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可當場驗證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41248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78408" y="2670048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463040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463040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唯一對外入口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77824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直打 task IP:8080 → timeout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970520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107680" y="2670048"/>
            <a:ext cx="384048" cy="384048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10768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592312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Security Group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592312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只放行 ALB SG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007096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fleetmind-sg 無 0.0.0.0/0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099792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236952" y="2670048"/>
            <a:ext cx="384048" cy="384048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36952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721584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 職責分離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721584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task / execution role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136368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 拉不到 ECR、寫不了 log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229064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366224" y="2670048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66224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CW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850856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CloudWatch Logs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850856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/fleetmind/api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265640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awslogs driver 已設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9358335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495495" y="2670048"/>
            <a:ext cx="384048" cy="384048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495495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SLD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9980127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Shield Standard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9980127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 自動生效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9394911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 預設, 非我們部署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640080" y="3986784"/>
            <a:ext cx="10911535" cy="1755648"/>
          </a:xfrm>
          <a:prstGeom prst="roundRect">
            <a:avLst>
              <a:gd name="adj" fmla="val 5208"/>
            </a:avLst>
          </a:prstGeom>
          <a:solidFill>
            <a:srgbClr val="0A2540">
              <a:alpha val="82000"/>
            </a:srgbClr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41248" y="4096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規劃中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2011680" y="4096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尚未部署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841248" y="4462272"/>
            <a:ext cx="252443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978408" y="4553712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78408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WAF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1463040" y="4507992"/>
            <a:ext cx="181119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 WAF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1463040" y="4792370"/>
            <a:ext cx="18111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L7 規則過濾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877824" y="5102352"/>
            <a:ext cx="2451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目前 0 個 WebACL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502838" y="4462272"/>
            <a:ext cx="252443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3639998" y="4553712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639998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GD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4124630" y="4507992"/>
            <a:ext cx="181119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GuardDuty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4124630" y="4792370"/>
            <a:ext cx="18111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威脅偵測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3539414" y="5102352"/>
            <a:ext cx="2451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本帳號 AccessDenied, 開不了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6164428" y="4462272"/>
            <a:ext cx="252443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6301588" y="4553712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301588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SM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6786220" y="4507992"/>
            <a:ext cx="181119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Secrets Manager</a:t>
            </a:r>
            <a:endParaRPr lang="en-US" sz="1050" dirty="0"/>
          </a:p>
        </p:txBody>
      </p:sp>
      <p:sp>
        <p:nvSpPr>
          <p:cNvPr id="66" name="Text 63"/>
          <p:cNvSpPr/>
          <p:nvPr/>
        </p:nvSpPr>
        <p:spPr>
          <a:xfrm>
            <a:off x="6786220" y="4792370"/>
            <a:ext cx="18111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憑證託管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6201004" y="5102352"/>
            <a:ext cx="2451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目前 0 個 secret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8826017" y="4462272"/>
            <a:ext cx="252443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69" name="Shape 66"/>
          <p:cNvSpPr/>
          <p:nvPr/>
        </p:nvSpPr>
        <p:spPr>
          <a:xfrm>
            <a:off x="8963177" y="4553712"/>
            <a:ext cx="384048" cy="384048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963177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KMS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9447809" y="4507992"/>
            <a:ext cx="181119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KMS CMK</a:t>
            </a:r>
            <a:endParaRPr lang="en-US" sz="1050" dirty="0"/>
          </a:p>
        </p:txBody>
      </p:sp>
      <p:sp>
        <p:nvSpPr>
          <p:cNvPr id="72" name="Text 69"/>
          <p:cNvSpPr/>
          <p:nvPr/>
        </p:nvSpPr>
        <p:spPr>
          <a:xfrm>
            <a:off x="9447809" y="4792370"/>
            <a:ext cx="18111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自管金鑰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8862593" y="5102352"/>
            <a:ext cx="2451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現用 AWS 託管預設金鑰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640080" y="5760720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914400" y="57607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誠實盤點　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今天真正擋得住的是入口：SG 只放行 ALB，直打 task 公網 IP 已 timeout。IAM 動作已收斂、SNS 綁單一 topic ARN，但 Bedrock 與 SES 仍是 Resource *，不宣稱「全程最小權限」。GuardDuty 受本帳號權限阻擋，WAF / Secrets Manager 是下一步。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curity-so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7" name="Text 4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37744"/>
            <a:ext cx="9448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 · 兩角色分離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38912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權限邊界：誰能拉映像、誰能呼叫 Bedrock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30072" y="859536"/>
            <a:ext cx="10131552" cy="5779008"/>
          </a:xfrm>
          <a:prstGeom prst="roundRect">
            <a:avLst>
              <a:gd name="adj" fmla="val 949"/>
            </a:avLst>
          </a:prstGeom>
          <a:solidFill>
            <a:srgbClr val="FFFFFF"/>
          </a:solidFill>
          <a:ln w="12700">
            <a:solidFill>
              <a:srgbClr val="CBD8E2"/>
            </a:solidFill>
            <a:prstDash val="solid"/>
          </a:ln>
          <a:effectLst>
            <a:outerShdw sx="100000" sy="100000" kx="0" ky="0" algn="bl" rotWithShape="0" blurRad="228600" dist="63500" dir="5400000">
              <a:srgbClr val="04101B">
                <a:alpha val="55000"/>
              </a:srgbClr>
            </a:outerShdw>
          </a:effectLst>
        </p:spPr>
      </p:sp>
      <p:pic>
        <p:nvPicPr>
          <p:cNvPr id="11" name="Image 1" descr="/Users/fengchihsheng/Documents/AI_work/fleetmind-yang-ming-hackathon/apps/api/src/main/resources/static/img/diagrams/i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12" y="950976"/>
            <a:ext cx="994867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multi-reg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MULTI-REGION · 設計藍圖（未部署）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多區域 Active-Active：設計，不是現況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63040"/>
            <a:ext cx="10911535" cy="457200"/>
          </a:xfrm>
          <a:prstGeom prst="roundRect">
            <a:avLst>
              <a:gd name="adj" fmla="val 1400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146304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這一頁全部還沒有蓋。現況：單一區域 us-east-1、一個 ALB、一個 ECS 服務；帳號裡 Route 53 / DynamoDB / EventBridge / S3 皆為 0。且本次帳號連跨區都不允許（ap-northeast-1 的 ECS/ECR 回 AccessDenied）。但船隊本來就跨國，這是貴司自有帳號上該長的樣子。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2011680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2011680"/>
            <a:ext cx="2660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亞洲船務端
</a:t>
            </a:r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 · 台 · 韓 · 星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71255" y="2011680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80983" y="2011680"/>
            <a:ext cx="2660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歐美船務端
</a:t>
            </a:r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EU · US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084168" y="2011680"/>
            <a:ext cx="4023360" cy="658368"/>
          </a:xfrm>
          <a:prstGeom prst="roundRect">
            <a:avLst>
              <a:gd name="adj" fmla="val 12500"/>
            </a:avLst>
          </a:prstGeom>
          <a:solidFill>
            <a:srgbClr val="12385C">
              <a:alpha val="96000"/>
            </a:srgbClr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67048" y="2139696"/>
            <a:ext cx="402336" cy="402336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67048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R53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79112" y="20116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Route 53
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地理 / 延遲路由 · 健康檢查 failover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547872" y="2340864"/>
            <a:ext cx="50886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134960" y="2340864"/>
            <a:ext cx="50886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headEnd type="triangle"/>
          </a:ln>
        </p:spPr>
      </p:sp>
      <p:sp>
        <p:nvSpPr>
          <p:cNvPr id="24" name="Shape 21"/>
          <p:cNvSpPr/>
          <p:nvPr/>
        </p:nvSpPr>
        <p:spPr>
          <a:xfrm>
            <a:off x="6095848" y="2670048"/>
            <a:ext cx="0" cy="18288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994660" y="2852928"/>
            <a:ext cx="6202375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994660" y="2852928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197035" y="2852928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40080" y="3200400"/>
            <a:ext cx="4709160" cy="2057400"/>
          </a:xfrm>
          <a:prstGeom prst="roundRect">
            <a:avLst>
              <a:gd name="adj" fmla="val 4444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" y="3200400"/>
            <a:ext cx="4709160" cy="457200"/>
          </a:xfrm>
          <a:prstGeom prst="roundRect">
            <a:avLst>
              <a:gd name="adj" fmla="val 20000"/>
            </a:avLst>
          </a:prstGeom>
          <a:solidFill>
            <a:srgbClr val="1B4D74"/>
          </a:solidFill>
          <a:ln/>
        </p:spPr>
      </p:sp>
      <p:sp>
        <p:nvSpPr>
          <p:cNvPr id="30" name="Shape 27"/>
          <p:cNvSpPr/>
          <p:nvPr/>
        </p:nvSpPr>
        <p:spPr>
          <a:xfrm>
            <a:off x="640080" y="3429000"/>
            <a:ext cx="4709160" cy="228600"/>
          </a:xfrm>
          <a:prstGeom prst="rect">
            <a:avLst/>
          </a:prstGeom>
          <a:solidFill>
            <a:srgbClr val="1B4D74"/>
          </a:solidFill>
          <a:ln/>
        </p:spPr>
      </p:sp>
      <p:sp>
        <p:nvSpPr>
          <p:cNvPr id="31" name="Text 28"/>
          <p:cNvSpPr/>
          <p:nvPr/>
        </p:nvSpPr>
        <p:spPr>
          <a:xfrm>
            <a:off x="82296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 A</a:t>
            </a:r>
            <a:pPr indent="0" marL="0">
              <a:buNone/>
            </a:pP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ap-northeast-1（東京）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251960" y="328269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33" name="Text 30"/>
          <p:cNvSpPr/>
          <p:nvPr/>
        </p:nvSpPr>
        <p:spPr>
          <a:xfrm>
            <a:off x="4251960" y="3282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ACTIVE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04672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941832" y="3813048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41832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426464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426464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區域入口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081528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218688" y="3813048"/>
            <a:ext cx="384048" cy="384048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1868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703320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703320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SG 收口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926080" y="4005072"/>
            <a:ext cx="137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804672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941832" y="4398264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41832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DDB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426464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DynamoDB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1426464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Global Table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3081528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218688" y="4398264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21868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3703320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3703320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跨區複製源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842455" y="3200400"/>
            <a:ext cx="4709160" cy="2057400"/>
          </a:xfrm>
          <a:prstGeom prst="roundRect">
            <a:avLst>
              <a:gd name="adj" fmla="val 4444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842455" y="3200400"/>
            <a:ext cx="4709160" cy="457200"/>
          </a:xfrm>
          <a:prstGeom prst="roundRect">
            <a:avLst>
              <a:gd name="adj" fmla="val 20000"/>
            </a:avLst>
          </a:prstGeom>
          <a:solidFill>
            <a:srgbClr val="1B4D74"/>
          </a:solidFill>
          <a:ln/>
        </p:spPr>
      </p:sp>
      <p:sp>
        <p:nvSpPr>
          <p:cNvPr id="57" name="Shape 54"/>
          <p:cNvSpPr/>
          <p:nvPr/>
        </p:nvSpPr>
        <p:spPr>
          <a:xfrm>
            <a:off x="6842455" y="3429000"/>
            <a:ext cx="4709160" cy="228600"/>
          </a:xfrm>
          <a:prstGeom prst="rect">
            <a:avLst/>
          </a:prstGeom>
          <a:solidFill>
            <a:srgbClr val="1B4D74"/>
          </a:solidFill>
          <a:ln/>
        </p:spPr>
      </p:sp>
      <p:sp>
        <p:nvSpPr>
          <p:cNvPr id="58" name="Text 55"/>
          <p:cNvSpPr/>
          <p:nvPr/>
        </p:nvSpPr>
        <p:spPr>
          <a:xfrm>
            <a:off x="7025335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 B</a:t>
            </a:r>
            <a:pPr indent="0" marL="0">
              <a:buNone/>
            </a:pP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us-east-1（維吉尼亞）</a:t>
            </a:r>
            <a:endParaRPr lang="en-US" sz="1250" dirty="0"/>
          </a:p>
        </p:txBody>
      </p:sp>
      <p:sp>
        <p:nvSpPr>
          <p:cNvPr id="59" name="Shape 56"/>
          <p:cNvSpPr/>
          <p:nvPr/>
        </p:nvSpPr>
        <p:spPr>
          <a:xfrm>
            <a:off x="10454335" y="328269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60" name="Text 57"/>
          <p:cNvSpPr/>
          <p:nvPr/>
        </p:nvSpPr>
        <p:spPr>
          <a:xfrm>
            <a:off x="10454335" y="3282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ACTIVE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7007047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7144207" y="3813048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144207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7628839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7628839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區域入口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9283903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9421063" y="3813048"/>
            <a:ext cx="384048" cy="384048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421063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9905695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9905695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SG 收口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9128455" y="4005072"/>
            <a:ext cx="137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2" name="Shape 69"/>
          <p:cNvSpPr/>
          <p:nvPr/>
        </p:nvSpPr>
        <p:spPr>
          <a:xfrm>
            <a:off x="7007047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7144207" y="4398264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144207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DDB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7628839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DynamoDB</a:t>
            </a:r>
            <a:endParaRPr lang="en-US" sz="1100" dirty="0"/>
          </a:p>
        </p:txBody>
      </p:sp>
      <p:sp>
        <p:nvSpPr>
          <p:cNvPr id="76" name="Text 73"/>
          <p:cNvSpPr/>
          <p:nvPr/>
        </p:nvSpPr>
        <p:spPr>
          <a:xfrm>
            <a:off x="7628839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Global Table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9283903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78" name="Shape 75"/>
          <p:cNvSpPr/>
          <p:nvPr/>
        </p:nvSpPr>
        <p:spPr>
          <a:xfrm>
            <a:off x="9421063" y="4398264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9421063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950" dirty="0"/>
          </a:p>
        </p:txBody>
      </p:sp>
      <p:sp>
        <p:nvSpPr>
          <p:cNvPr id="80" name="Text 77"/>
          <p:cNvSpPr/>
          <p:nvPr/>
        </p:nvSpPr>
        <p:spPr>
          <a:xfrm>
            <a:off x="9905695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9905695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跨區複製源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5440680" y="3200400"/>
            <a:ext cx="1307592" cy="2057400"/>
          </a:xfrm>
          <a:prstGeom prst="roundRect">
            <a:avLst>
              <a:gd name="adj" fmla="val 6993"/>
            </a:avLst>
          </a:prstGeom>
          <a:solidFill>
            <a:srgbClr val="0A2540">
              <a:alpha val="92000"/>
            </a:srgbClr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440680" y="327355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跨區複製 · 匯總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532120" y="3602736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</p:sp>
      <p:sp>
        <p:nvSpPr>
          <p:cNvPr id="85" name="Text 82"/>
          <p:cNvSpPr/>
          <p:nvPr/>
        </p:nvSpPr>
        <p:spPr>
          <a:xfrm>
            <a:off x="5559552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DynamoDB
</a:t>
            </a:r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Global Tables ⇄ 雙向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5532120" y="4027932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</p:sp>
      <p:sp>
        <p:nvSpPr>
          <p:cNvPr id="87" name="Text 84"/>
          <p:cNvSpPr/>
          <p:nvPr/>
        </p:nvSpPr>
        <p:spPr>
          <a:xfrm>
            <a:off x="5559552" y="4027932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 CRR
</a:t>
            </a:r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跨區複製備份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5532120" y="4453128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</p:sp>
      <p:sp>
        <p:nvSpPr>
          <p:cNvPr id="89" name="Text 86"/>
          <p:cNvSpPr/>
          <p:nvPr/>
        </p:nvSpPr>
        <p:spPr>
          <a:xfrm>
            <a:off x="5559552" y="4453128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EventBridge
</a:t>
            </a:r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跨區匯總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5532120" y="4878324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</p:sp>
      <p:sp>
        <p:nvSpPr>
          <p:cNvPr id="91" name="Text 88"/>
          <p:cNvSpPr/>
          <p:nvPr/>
        </p:nvSpPr>
        <p:spPr>
          <a:xfrm>
            <a:off x="5559552" y="4878324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E76F5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 / SES
</a:t>
            </a:r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即時告警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5358384" y="4251960"/>
            <a:ext cx="82296" cy="0"/>
          </a:xfrm>
          <a:prstGeom prst="line">
            <a:avLst/>
          </a:prstGeom>
          <a:noFill/>
          <a:ln w="19050">
            <a:solidFill>
              <a:srgbClr val="F4A72B"/>
            </a:solidFill>
            <a:prstDash val="solid"/>
            <a:headEnd type="triangle"/>
            <a:tailEnd type="triangle"/>
          </a:ln>
        </p:spPr>
      </p:sp>
      <p:sp>
        <p:nvSpPr>
          <p:cNvPr id="93" name="Shape 90"/>
          <p:cNvSpPr/>
          <p:nvPr/>
        </p:nvSpPr>
        <p:spPr>
          <a:xfrm>
            <a:off x="6757416" y="4251960"/>
            <a:ext cx="85039" cy="0"/>
          </a:xfrm>
          <a:prstGeom prst="line">
            <a:avLst/>
          </a:prstGeom>
          <a:noFill/>
          <a:ln w="19050">
            <a:solidFill>
              <a:srgbClr val="F4A72B"/>
            </a:solidFill>
            <a:prstDash val="solid"/>
            <a:headEnd type="triangle"/>
            <a:tailEnd type="triangle"/>
          </a:ln>
        </p:spPr>
      </p:sp>
      <p:sp>
        <p:nvSpPr>
          <p:cNvPr id="94" name="Shape 91"/>
          <p:cNvSpPr/>
          <p:nvPr/>
        </p:nvSpPr>
        <p:spPr>
          <a:xfrm>
            <a:off x="640080" y="571500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914400" y="571500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一區故障　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健康檢查失敗 → Route 53 自動剔除故障區、流量全導健康區；DynamoDB Global Tables 已雙向同步、S3 CRR 已備份 → RPO≈0、資料不丟、對外服務不中斷。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ocean-dee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SIDE-BY-SIDE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五案比較 — 現行方案 A 為導入基準線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1783080"/>
                <a:gridCol w="1463040"/>
                <a:gridCol w="1600200"/>
                <a:gridCol w="1554480"/>
                <a:gridCol w="11247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方案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運算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入口 / URL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閒置成本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維運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冷啟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落地可行性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 現行 ★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ECS Fargate 容器常駐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ALB 靜態 URL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低（小時費）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中（VPC/IAM）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無冷啟（常駐）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★ 最高 · 已上線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B Serverless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Lambda 按呼叫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API Gateway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9D8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極低（近零）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中（元件多）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76F51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冷（Java Lambda）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4A7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中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C App Runner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全託管容器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App Runner HTTPS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低-中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9D8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最低（免 ALB/VPC）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無冷啟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低 · 帳號受阻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D EC2+Docker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單台 EC2 常駐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Elastic IP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9D8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最低（單台）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76F51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高（自管/單點）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無冷啟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4A7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中 · 保底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E 資料管線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Fargate + Glue/Athena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App / QuickSight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76F51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中高（掃描+授權）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76F51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高（多層）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—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4A7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低 · 藍圖價值高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40080" y="5074920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已上線 / 佳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154680" y="5074920"/>
            <a:ext cx="201168" cy="201168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16" name="Text 12"/>
          <p:cNvSpPr/>
          <p:nvPr/>
        </p:nvSpPr>
        <p:spPr>
          <a:xfrm>
            <a:off x="342900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需注意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69280" y="5074920"/>
            <a:ext cx="201168" cy="20116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4"/>
          <p:cNvSpPr/>
          <p:nvPr/>
        </p:nvSpPr>
        <p:spPr>
          <a:xfrm>
            <a:off x="594360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受阻 / 高風險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0080" y="54864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60120" y="548640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判讀　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近期以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A（現行強化）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為主線（已上線、導入風險最低）；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D（EC2）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為托管服務受阻時的保底；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 / 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為資料驅動與全艦隊營運的演進方向。C 因帳號 AccessDenied 暫不採用。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horizon-journe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ROADMAP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從 15 艘 demo 到全艦隊即時營運平台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914400" y="2011680"/>
            <a:ext cx="10362895" cy="0"/>
          </a:xfrm>
          <a:prstGeom prst="line">
            <a:avLst/>
          </a:prstGeom>
          <a:noFill/>
          <a:ln w="38100">
            <a:solidFill>
              <a:srgbClr val="8FA8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20558" y="1865376"/>
            <a:ext cx="292608" cy="292608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26782" y="14630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5" name="Text 12"/>
          <p:cNvSpPr/>
          <p:nvPr/>
        </p:nvSpPr>
        <p:spPr>
          <a:xfrm>
            <a:off x="1226782" y="1463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2377440"/>
            <a:ext cx="2453564" cy="2240280"/>
          </a:xfrm>
          <a:prstGeom prst="roundRect">
            <a:avLst>
              <a:gd name="adj" fmla="val 367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2377440"/>
            <a:ext cx="2453564" cy="502920"/>
          </a:xfrm>
          <a:prstGeom prst="roundRect">
            <a:avLst>
              <a:gd name="adj" fmla="val 16364"/>
            </a:avLst>
          </a:prstGeom>
          <a:solidFill>
            <a:srgbClr val="2A9D8F"/>
          </a:solidFill>
          <a:ln/>
        </p:spPr>
      </p:sp>
      <p:sp>
        <p:nvSpPr>
          <p:cNvPr id="18" name="Shape 15"/>
          <p:cNvSpPr/>
          <p:nvPr/>
        </p:nvSpPr>
        <p:spPr>
          <a:xfrm>
            <a:off x="640080" y="2606040"/>
            <a:ext cx="2453564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2377440"/>
            <a:ext cx="2270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0 · Demo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2999232"/>
            <a:ext cx="20878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艘 · 5 年報表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baked real-metrics.json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 Fargate + ALB 已上線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39882" y="1865376"/>
            <a:ext cx="292608" cy="29260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046106" y="14630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4046106" y="1463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近期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459404" y="2377440"/>
            <a:ext cx="2453564" cy="2240280"/>
          </a:xfrm>
          <a:prstGeom prst="roundRect">
            <a:avLst>
              <a:gd name="adj" fmla="val 367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459404" y="2377440"/>
            <a:ext cx="2453564" cy="502920"/>
          </a:xfrm>
          <a:prstGeom prst="roundRect">
            <a:avLst>
              <a:gd name="adj" fmla="val 16364"/>
            </a:avLst>
          </a:prstGeom>
          <a:solidFill>
            <a:srgbClr val="1C7293"/>
          </a:solidFill>
          <a:ln/>
        </p:spPr>
      </p:sp>
      <p:sp>
        <p:nvSpPr>
          <p:cNvPr id="26" name="Shape 23"/>
          <p:cNvSpPr/>
          <p:nvPr/>
        </p:nvSpPr>
        <p:spPr>
          <a:xfrm>
            <a:off x="3459404" y="2606040"/>
            <a:ext cx="2453564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3550844" y="2377440"/>
            <a:ext cx="2270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1 · 資料驅動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642284" y="2999232"/>
            <a:ext cx="20878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系統介接 ingest API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檔案上傳 CSV/xlsx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後台設定門檻/通道/燃料對應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359206" y="1865376"/>
            <a:ext cx="292608" cy="292608"/>
          </a:xfrm>
          <a:prstGeom prst="ellipse">
            <a:avLst/>
          </a:prstGeom>
          <a:solidFill>
            <a:srgbClr val="2F6E9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865430" y="14630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E9E"/>
          </a:solidFill>
          <a:ln/>
        </p:spPr>
      </p:sp>
      <p:sp>
        <p:nvSpPr>
          <p:cNvPr id="31" name="Text 28"/>
          <p:cNvSpPr/>
          <p:nvPr/>
        </p:nvSpPr>
        <p:spPr>
          <a:xfrm>
            <a:off x="6865430" y="1463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中期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278728" y="2377440"/>
            <a:ext cx="2453564" cy="2240280"/>
          </a:xfrm>
          <a:prstGeom prst="roundRect">
            <a:avLst>
              <a:gd name="adj" fmla="val 367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78728" y="2377440"/>
            <a:ext cx="2453564" cy="502920"/>
          </a:xfrm>
          <a:prstGeom prst="roundRect">
            <a:avLst>
              <a:gd name="adj" fmla="val 16364"/>
            </a:avLst>
          </a:prstGeom>
          <a:solidFill>
            <a:srgbClr val="2F6E9E"/>
          </a:solidFill>
          <a:ln/>
        </p:spPr>
      </p:sp>
      <p:sp>
        <p:nvSpPr>
          <p:cNvPr id="34" name="Shape 31"/>
          <p:cNvSpPr/>
          <p:nvPr/>
        </p:nvSpPr>
        <p:spPr>
          <a:xfrm>
            <a:off x="6278728" y="2606040"/>
            <a:ext cx="2453564" cy="274320"/>
          </a:xfrm>
          <a:prstGeom prst="rect">
            <a:avLst/>
          </a:prstGeom>
          <a:solidFill>
            <a:srgbClr val="2F6E9E"/>
          </a:solidFill>
          <a:ln/>
        </p:spPr>
      </p:sp>
      <p:sp>
        <p:nvSpPr>
          <p:cNvPr id="35" name="Text 32"/>
          <p:cNvSpPr/>
          <p:nvPr/>
        </p:nvSpPr>
        <p:spPr>
          <a:xfrm>
            <a:off x="6370168" y="2377440"/>
            <a:ext cx="2270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2 · 全艦隊 + BI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61608" y="2999232"/>
            <a:ext cx="20878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Serverless / 事件驅動重算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擴到 97 艘同架構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QuickSight / Athena 自助 BI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10178529" y="1865376"/>
            <a:ext cx="292608" cy="292608"/>
          </a:xfrm>
          <a:prstGeom prst="ellipse">
            <a:avLst/>
          </a:prstGeom>
          <a:solidFill>
            <a:srgbClr val="F4A7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684753" y="14630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4A72B"/>
          </a:solidFill>
          <a:ln/>
        </p:spPr>
      </p:sp>
      <p:sp>
        <p:nvSpPr>
          <p:cNvPr id="39" name="Text 36"/>
          <p:cNvSpPr/>
          <p:nvPr/>
        </p:nvSpPr>
        <p:spPr>
          <a:xfrm>
            <a:off x="9684753" y="1463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願景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098051" y="2377440"/>
            <a:ext cx="2453564" cy="2240280"/>
          </a:xfrm>
          <a:prstGeom prst="roundRect">
            <a:avLst>
              <a:gd name="adj" fmla="val 367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9098051" y="2377440"/>
            <a:ext cx="2453564" cy="502920"/>
          </a:xfrm>
          <a:prstGeom prst="roundRect">
            <a:avLst>
              <a:gd name="adj" fmla="val 16364"/>
            </a:avLst>
          </a:prstGeom>
          <a:solidFill>
            <a:srgbClr val="F4A72B"/>
          </a:solidFill>
          <a:ln/>
        </p:spPr>
      </p:sp>
      <p:sp>
        <p:nvSpPr>
          <p:cNvPr id="42" name="Shape 39"/>
          <p:cNvSpPr/>
          <p:nvPr/>
        </p:nvSpPr>
        <p:spPr>
          <a:xfrm>
            <a:off x="9098051" y="2606040"/>
            <a:ext cx="2453564" cy="274320"/>
          </a:xfrm>
          <a:prstGeom prst="rect">
            <a:avLst/>
          </a:prstGeom>
          <a:solidFill>
            <a:srgbClr val="F4A72B"/>
          </a:solidFill>
          <a:ln/>
        </p:spPr>
      </p:sp>
      <p:sp>
        <p:nvSpPr>
          <p:cNvPr id="43" name="Text 40"/>
          <p:cNvSpPr/>
          <p:nvPr/>
        </p:nvSpPr>
        <p:spPr>
          <a:xfrm>
            <a:off x="9189491" y="2377440"/>
            <a:ext cx="2270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3 · 即時 + ML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9280931" y="2999232"/>
            <a:ext cx="20878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IoT Core 船端即時遙測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SageMaker 油耗/衰退預測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近即時 Speed Loss 偵測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40080" y="571500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14400" y="571500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落地三扇門　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 系統介接（TMS 推 noon report → 觸發重算）　② 檔案上傳（CSV/xlsx dryRun 預覽再落庫）　③ 後台設定（門檻 / 告警通道 / 燃料對應表 / 資料來源模式）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decision-light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DECISION CASCADE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決策級聯：正常 → 注意 → 行動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63040"/>
            <a:ext cx="10911535" cy="502920"/>
          </a:xfrm>
          <a:prstGeom prst="roundRect">
            <a:avLst>
              <a:gd name="adj" fmla="val 12727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1463040"/>
            <a:ext cx="105091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同一套已上線服務，依 Speed Loss 對可調門檻的位置，把船分成三種決策狀態 — 數字觸發流程，最後一步永遠留給人。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2148840"/>
            <a:ext cx="3332378" cy="3246120"/>
          </a:xfrm>
          <a:prstGeom prst="roundRect">
            <a:avLst>
              <a:gd name="adj" fmla="val 2535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148840"/>
            <a:ext cx="3332378" cy="658368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" y="2487168"/>
            <a:ext cx="3332378" cy="320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214884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　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正常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96112" y="2944368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條件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96112" y="3163824"/>
            <a:ext cx="2820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Speed Loss 低於門檻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品質旗標通過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96112" y="380390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系統動作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14400" y="4023360"/>
            <a:ext cx="28020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看板綠燈、持續監測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無需人工介入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2960" y="4828032"/>
            <a:ext cx="2966618" cy="493776"/>
          </a:xfrm>
          <a:prstGeom prst="roundRect">
            <a:avLst>
              <a:gd name="adj" fmla="val 11111"/>
            </a:avLst>
          </a:prstGeom>
          <a:solidFill>
            <a:srgbClr val="DCEFE9"/>
          </a:solidFill>
          <a:ln/>
        </p:spPr>
      </p:sp>
      <p:sp>
        <p:nvSpPr>
          <p:cNvPr id="23" name="Text 20"/>
          <p:cNvSpPr/>
          <p:nvPr/>
        </p:nvSpPr>
        <p:spPr>
          <a:xfrm>
            <a:off x="932688" y="4828032"/>
            <a:ext cx="27837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　</a:t>
            </a:r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多數船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027322" y="3749040"/>
            <a:ext cx="347472" cy="0"/>
          </a:xfrm>
          <a:prstGeom prst="line">
            <a:avLst/>
          </a:prstGeom>
          <a:noFill/>
          <a:ln w="25400">
            <a:solidFill>
              <a:srgbClr val="8FA8BD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4429658" y="2148840"/>
            <a:ext cx="3332378" cy="3246120"/>
          </a:xfrm>
          <a:prstGeom prst="roundRect">
            <a:avLst>
              <a:gd name="adj" fmla="val 2535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29658" y="2148840"/>
            <a:ext cx="3332378" cy="658368"/>
          </a:xfrm>
          <a:prstGeom prst="roundRect">
            <a:avLst>
              <a:gd name="adj" fmla="val 12500"/>
            </a:avLst>
          </a:prstGeom>
          <a:solidFill>
            <a:srgbClr val="F4A72B"/>
          </a:solidFill>
          <a:ln/>
        </p:spPr>
      </p:sp>
      <p:sp>
        <p:nvSpPr>
          <p:cNvPr id="27" name="Shape 24"/>
          <p:cNvSpPr/>
          <p:nvPr/>
        </p:nvSpPr>
        <p:spPr>
          <a:xfrm>
            <a:off x="4429658" y="2487168"/>
            <a:ext cx="3332378" cy="320040"/>
          </a:xfrm>
          <a:prstGeom prst="rect">
            <a:avLst/>
          </a:prstGeom>
          <a:solidFill>
            <a:srgbClr val="F4A72B"/>
          </a:solidFill>
          <a:ln/>
        </p:spPr>
      </p:sp>
      <p:sp>
        <p:nvSpPr>
          <p:cNvPr id="28" name="Text 25"/>
          <p:cNvSpPr/>
          <p:nvPr/>
        </p:nvSpPr>
        <p:spPr>
          <a:xfrm>
            <a:off x="4612538" y="214884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　</a:t>
            </a:r>
            <a:pPr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注意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4685690" y="2944368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條件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685690" y="3163824"/>
            <a:ext cx="2820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接近 / 跨越門檻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進 review 佇列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685690" y="380390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系統動作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703978" y="4023360"/>
            <a:ext cx="28020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 產證據簡報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看板黃燈、reviewPriority 排序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612538" y="4828032"/>
            <a:ext cx="2966618" cy="493776"/>
          </a:xfrm>
          <a:prstGeom prst="roundRect">
            <a:avLst>
              <a:gd name="adj" fmla="val 11111"/>
            </a:avLst>
          </a:prstGeom>
          <a:solidFill>
            <a:srgbClr val="FBE7C2"/>
          </a:solidFill>
          <a:ln/>
        </p:spPr>
      </p:sp>
      <p:sp>
        <p:nvSpPr>
          <p:cNvPr id="34" name="Text 31"/>
          <p:cNvSpPr/>
          <p:nvPr/>
        </p:nvSpPr>
        <p:spPr>
          <a:xfrm>
            <a:off x="4722266" y="4828032"/>
            <a:ext cx="27837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　</a:t>
            </a:r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S23 · 8.9%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816901" y="3749040"/>
            <a:ext cx="347472" cy="0"/>
          </a:xfrm>
          <a:prstGeom prst="line">
            <a:avLst/>
          </a:prstGeom>
          <a:noFill/>
          <a:ln w="25400">
            <a:solidFill>
              <a:srgbClr val="8FA8BD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8219237" y="2148840"/>
            <a:ext cx="3332378" cy="3246120"/>
          </a:xfrm>
          <a:prstGeom prst="roundRect">
            <a:avLst>
              <a:gd name="adj" fmla="val 2535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219237" y="2148840"/>
            <a:ext cx="3332378" cy="658368"/>
          </a:xfrm>
          <a:prstGeom prst="roundRect">
            <a:avLst>
              <a:gd name="adj" fmla="val 12500"/>
            </a:avLst>
          </a:prstGeom>
          <a:solidFill>
            <a:srgbClr val="E76F51"/>
          </a:solidFill>
          <a:ln/>
        </p:spPr>
      </p:sp>
      <p:sp>
        <p:nvSpPr>
          <p:cNvPr id="38" name="Shape 35"/>
          <p:cNvSpPr/>
          <p:nvPr/>
        </p:nvSpPr>
        <p:spPr>
          <a:xfrm>
            <a:off x="8219237" y="2487168"/>
            <a:ext cx="3332378" cy="3200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9" name="Text 36"/>
          <p:cNvSpPr/>
          <p:nvPr/>
        </p:nvSpPr>
        <p:spPr>
          <a:xfrm>
            <a:off x="8402117" y="214884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　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行動</a:t>
            </a:r>
            <a:endParaRPr lang="en-US" sz="1900" dirty="0"/>
          </a:p>
        </p:txBody>
      </p:sp>
      <p:sp>
        <p:nvSpPr>
          <p:cNvPr id="40" name="Text 37"/>
          <p:cNvSpPr/>
          <p:nvPr/>
        </p:nvSpPr>
        <p:spPr>
          <a:xfrm>
            <a:off x="8475269" y="2944368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條件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8475269" y="3163824"/>
            <a:ext cx="2820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持續跨越 + 高信心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觸發告警扇出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475269" y="380390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系統動作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8493557" y="4023360"/>
            <a:ext cx="28020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/alerts/notify → SNS 告警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人安排水下檢查 / 清洗 / 打磨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8402117" y="4828032"/>
            <a:ext cx="2966618" cy="493776"/>
          </a:xfrm>
          <a:prstGeom prst="roundRect">
            <a:avLst>
              <a:gd name="adj" fmla="val 11111"/>
            </a:avLst>
          </a:prstGeom>
          <a:solidFill>
            <a:srgbClr val="F7DAD1"/>
          </a:solidFill>
          <a:ln/>
        </p:spPr>
      </p:sp>
      <p:sp>
        <p:nvSpPr>
          <p:cNvPr id="45" name="Text 42"/>
          <p:cNvSpPr/>
          <p:nvPr/>
        </p:nvSpPr>
        <p:spPr>
          <a:xfrm>
            <a:off x="8511845" y="4828032"/>
            <a:ext cx="27837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　</a:t>
            </a:r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S11 · 21.8%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22960" y="5358384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常態監測中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612538" y="5358384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n=506 · HIGH · priority 2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8402117" y="5358384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539 有效日 · 691 天未清 · priority 1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40080" y="5806440"/>
            <a:ext cx="10911535" cy="594360"/>
          </a:xfrm>
          <a:prstGeom prst="roundRect">
            <a:avLst>
              <a:gd name="adj" fmla="val 12308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96112" y="580644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人在迴路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門檻可調（/config/threshold）、扇出通道可換（SNS → SES / Slack）。系統只做「更快、可解釋、可行動」的證據，清不清、何時清由海事專家拍板。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port-dus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6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17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509760" y="4206240"/>
            <a:ext cx="2743200" cy="274320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85832" y="4782312"/>
            <a:ext cx="1591056" cy="1591056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07040" y="5303520"/>
            <a:ext cx="548640" cy="548640"/>
          </a:xfrm>
          <a:prstGeom prst="ellipse">
            <a:avLst/>
          </a:prstGeom>
          <a:solidFill>
            <a:srgbClr val="1B4D74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現場導覽：一個穩定 URL，三個入口</a:t>
            </a:r>
            <a:endParaRPr lang="en-US" sz="3600" dirty="0"/>
          </a:p>
        </p:txBody>
      </p:sp>
      <p:sp>
        <p:nvSpPr>
          <p:cNvPr id="15" name="Shape 12"/>
          <p:cNvSpPr/>
          <p:nvPr/>
        </p:nvSpPr>
        <p:spPr>
          <a:xfrm>
            <a:off x="640080" y="1463040"/>
            <a:ext cx="10911535" cy="457200"/>
          </a:xfrm>
          <a:prstGeom prst="roundRect">
            <a:avLst>
              <a:gd name="adj" fmla="val 1400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146304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同一顆 Fargate 容器、同一個 ALB 靜態網域，task 重啟不換位址 — 三個頁面現場可直接打開。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2148840"/>
            <a:ext cx="3362858" cy="2514600"/>
          </a:xfrm>
          <a:prstGeom prst="roundRect">
            <a:avLst>
              <a:gd name="adj" fmla="val 4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5121F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14400" y="2423160"/>
            <a:ext cx="457200" cy="457200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508760" y="2331720"/>
            <a:ext cx="2357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產品首頁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914400" y="3063240"/>
            <a:ext cx="2814218" cy="457200"/>
          </a:xfrm>
          <a:prstGeom prst="roundRect">
            <a:avLst>
              <a:gd name="adj" fmla="val 12000"/>
            </a:avLst>
          </a:prstGeom>
          <a:solidFill>
            <a:srgbClr val="0A2540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30632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14400" y="365760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命題、方法（ISO 19030 · k=FOC/STW³）與價值主張概覽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414418" y="2148840"/>
            <a:ext cx="3362858" cy="2514600"/>
          </a:xfrm>
          <a:prstGeom prst="roundRect">
            <a:avLst>
              <a:gd name="adj" fmla="val 4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5121F">
                <a:alpha val="4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688738" y="2423160"/>
            <a:ext cx="457200" cy="457200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88738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3098" y="2331720"/>
            <a:ext cx="2357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決策看板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4688738" y="3063240"/>
            <a:ext cx="2814218" cy="457200"/>
          </a:xfrm>
          <a:prstGeom prst="roundRect">
            <a:avLst>
              <a:gd name="adj" fmla="val 12000"/>
            </a:avLst>
          </a:prstGeom>
          <a:solidFill>
            <a:srgbClr val="0A2540"/>
          </a:solidFill>
          <a:ln/>
        </p:spPr>
      </p:sp>
      <p:sp>
        <p:nvSpPr>
          <p:cNvPr id="29" name="Text 26"/>
          <p:cNvSpPr/>
          <p:nvPr/>
        </p:nvSpPr>
        <p:spPr>
          <a:xfrm>
            <a:off x="4688738" y="30632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/dashboard.html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688738" y="365760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艘 Speed Loss 排序、證據序列、AI 簡報與可調門檻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188757" y="2148840"/>
            <a:ext cx="3362858" cy="2514600"/>
          </a:xfrm>
          <a:prstGeom prst="roundRect">
            <a:avLst>
              <a:gd name="adj" fmla="val 4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5121F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463077" y="2423160"/>
            <a:ext cx="457200" cy="457200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63077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057437" y="2331720"/>
            <a:ext cx="2357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架構互動圖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8463077" y="3063240"/>
            <a:ext cx="2814218" cy="457200"/>
          </a:xfrm>
          <a:prstGeom prst="roundRect">
            <a:avLst>
              <a:gd name="adj" fmla="val 12000"/>
            </a:avLst>
          </a:prstGeom>
          <a:solidFill>
            <a:srgbClr val="0A2540"/>
          </a:solidFill>
          <a:ln/>
        </p:spPr>
      </p:sp>
      <p:sp>
        <p:nvSpPr>
          <p:cNvPr id="36" name="Text 33"/>
          <p:cNvSpPr/>
          <p:nvPr/>
        </p:nvSpPr>
        <p:spPr>
          <a:xfrm>
            <a:off x="8463077" y="30632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/architecture.html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8463077" y="365760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本簡報架構的網頁版：服務節點、資料流與方案對照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40080" y="4983480"/>
            <a:ext cx="10911535" cy="841248"/>
          </a:xfrm>
          <a:prstGeom prst="roundRect">
            <a:avLst>
              <a:gd name="adj" fmla="val 9783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60120" y="4983480"/>
            <a:ext cx="10271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Base　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http://fleetmind-alb-330672315.us-east-1.elb.amazonaws.com</a:t>
            </a:r>
            <a:endParaRPr lang="en-US" sz="1550" dirty="0"/>
          </a:p>
        </p:txBody>
      </p:sp>
      <p:sp>
        <p:nvSpPr>
          <p:cNvPr id="40" name="Text 37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帳號 516665228894 · us-east-1 · ECS Fargate (ARM64) 常駐 · ALB 靜態 URL 不換位址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horizon-journe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4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A2540">
              <a:alpha val="86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144000" y="1005840"/>
            <a:ext cx="2926080" cy="292608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758477" y="1620317"/>
            <a:ext cx="1697126" cy="1697126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314432" y="2176272"/>
            <a:ext cx="585216" cy="585216"/>
          </a:xfrm>
          <a:prstGeom prst="ellipse">
            <a:avLst/>
          </a:prstGeom>
          <a:solidFill>
            <a:srgbClr val="1B4D74"/>
          </a:solidFill>
          <a:ln/>
        </p:spPr>
      </p:sp>
      <p:sp>
        <p:nvSpPr>
          <p:cNvPr id="8" name="Shape 5"/>
          <p:cNvSpPr/>
          <p:nvPr/>
        </p:nvSpPr>
        <p:spPr>
          <a:xfrm>
            <a:off x="9646920" y="1508760"/>
            <a:ext cx="1920240" cy="192024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0170" y="1912010"/>
            <a:ext cx="1113739" cy="1113739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415016" y="2276856"/>
            <a:ext cx="384048" cy="384048"/>
          </a:xfrm>
          <a:prstGeom prst="ellipse">
            <a:avLst/>
          </a:prstGeom>
          <a:solidFill>
            <a:srgbClr val="1B4D74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097280"/>
            <a:ext cx="8138160" cy="3429000"/>
          </a:xfrm>
          <a:prstGeom prst="roundRect">
            <a:avLst>
              <a:gd name="adj" fmla="val 3200"/>
            </a:avLst>
          </a:prstGeom>
          <a:solidFill>
            <a:srgbClr val="0A2540">
              <a:alpha val="82000"/>
            </a:srgbClr>
          </a:solidFill>
          <a:ln/>
          <a:effectLst>
            <a:outerShdw sx="100000" sy="100000" kx="0" ky="0" algn="bl" rotWithShape="0" blurRad="177800" dist="50800" dir="5400000">
              <a:srgbClr val="04101B">
                <a:alpha val="5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一個命題，五種上雲路徑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182880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穩穩 demo，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也留得住未來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40080" y="3566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以已上線的 Fargate + ALB 為基準線穩定營運，用 EC2 保底、用 Serverless 與資料分析管線描繪從 15 艘到全艦隊的營運藍圖 — 讓數字站得住、決策留給人。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47091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60120" y="470916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Live Demo　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http://fleetmind-alb-330672315.us-east-1.elb.amazonaws.com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帳號 516665228894 · us-east-1 · ECS Fargate (ARM64) + ALB + ECR + Bedrock (Claude Haiku) + SNS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　數字來自計算　語言來自 AI　決策留給人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FleetMind — AWS 架構藍圖與方案比較</dc:title>
  <dc:subject>PptxGenJS Presentation</dc:subject>
  <dc:creator>FleetMind</dc:creator>
  <cp:lastModifiedBy>FleetMind</cp:lastModifiedBy>
  <cp:revision>1</cp:revision>
  <dcterms:created xsi:type="dcterms:W3CDTF">2026-07-15T15:41:12Z</dcterms:created>
  <dcterms:modified xsi:type="dcterms:W3CDTF">2026-07-15T15:41:12Z</dcterms:modified>
</cp:coreProperties>
</file>